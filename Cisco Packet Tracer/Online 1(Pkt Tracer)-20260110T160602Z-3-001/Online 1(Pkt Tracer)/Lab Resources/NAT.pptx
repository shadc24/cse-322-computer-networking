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336">
          <p15:clr>
            <a:srgbClr val="A4A3A4"/>
          </p15:clr>
        </p15:guide>
      </p15:sldGuideLst>
    </p:ext>
    <p:ext uri="GoogleSlidesCustomDataVersion2">
      <go:slidesCustomData xmlns:go="http://customooxmlschemas.google.com/" r:id="rId42" roundtripDataSignature="AMtx7mjbwKvkmx7WYmq6UIgimnROdTVu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0BC76E-671B-4F3C-934D-89C8931EC17E}">
  <a:tblStyle styleId="{370BC76E-671B-4F3C-934D-89C8931EC17E}"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8EA"/>
          </a:solidFill>
        </a:fill>
      </a:tcStyle>
    </a:wholeTbl>
    <a:band1H>
      <a:tcTxStyle/>
      <a:tcStyle>
        <a:fill>
          <a:solidFill>
            <a:srgbClr val="CACED3"/>
          </a:solidFill>
        </a:fill>
      </a:tcStyle>
    </a:band1H>
    <a:band2H>
      <a:tcTxStyle/>
    </a:band2H>
    <a:band1V>
      <a:tcTxStyle/>
      <a:tcStyle>
        <a:fill>
          <a:solidFill>
            <a:srgbClr val="CACED3"/>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33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customschemas.google.com/relationships/presentationmetadata" Target="metadata"/><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 NAT for IPv4</a:t>
            </a:r>
            <a:endParaRPr/>
          </a:p>
          <a:p>
            <a:pPr indent="0" lvl="0" marL="0" rtl="0" algn="l">
              <a:spcBef>
                <a:spcPts val="0"/>
              </a:spcBef>
              <a:spcAft>
                <a:spcPts val="0"/>
              </a:spcAft>
              <a:buNone/>
            </a:pPr>
            <a:r>
              <a:rPr lang="en-US"/>
              <a:t>6.3 – NAT Advantages and Disadvantages</a:t>
            </a:r>
            <a:endParaRPr/>
          </a:p>
          <a:p>
            <a:pPr indent="0" lvl="0" marL="0" rtl="0" algn="l">
              <a:spcBef>
                <a:spcPts val="0"/>
              </a:spcBef>
              <a:spcAft>
                <a:spcPts val="0"/>
              </a:spcAft>
              <a:buNone/>
            </a:pPr>
            <a:r>
              <a:rPr lang="en-US"/>
              <a:t>6.3.1 – Advantages of NAT</a:t>
            </a:r>
            <a:endParaRPr/>
          </a:p>
        </p:txBody>
      </p:sp>
      <p:sp>
        <p:nvSpPr>
          <p:cNvPr id="312" name="Google Shape;312;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 NAT for IPv4</a:t>
            </a:r>
            <a:endParaRPr/>
          </a:p>
          <a:p>
            <a:pPr indent="0" lvl="0" marL="0" rtl="0" algn="l">
              <a:spcBef>
                <a:spcPts val="0"/>
              </a:spcBef>
              <a:spcAft>
                <a:spcPts val="0"/>
              </a:spcAft>
              <a:buNone/>
            </a:pPr>
            <a:r>
              <a:rPr lang="en-US"/>
              <a:t>6.5 – Dynamic NAT</a:t>
            </a:r>
            <a:endParaRPr/>
          </a:p>
          <a:p>
            <a:pPr indent="0" lvl="0" marL="0" rtl="0" algn="l">
              <a:spcBef>
                <a:spcPts val="0"/>
              </a:spcBef>
              <a:spcAft>
                <a:spcPts val="0"/>
              </a:spcAft>
              <a:buNone/>
            </a:pPr>
            <a:r>
              <a:rPr lang="en-US"/>
              <a:t>6.5.2 – Configure Dynamic NAT</a:t>
            </a:r>
            <a:endParaRPr/>
          </a:p>
        </p:txBody>
      </p:sp>
      <p:sp>
        <p:nvSpPr>
          <p:cNvPr id="395" name="Google Shape;395;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 NAT for IPv4</a:t>
            </a:r>
            <a:endParaRPr/>
          </a:p>
          <a:p>
            <a:pPr indent="0" lvl="0" marL="0" rtl="0" algn="l">
              <a:spcBef>
                <a:spcPts val="0"/>
              </a:spcBef>
              <a:spcAft>
                <a:spcPts val="0"/>
              </a:spcAft>
              <a:buNone/>
            </a:pPr>
            <a:r>
              <a:rPr lang="en-US"/>
              <a:t>6.5 – Dynamic NAT</a:t>
            </a:r>
            <a:endParaRPr/>
          </a:p>
          <a:p>
            <a:pPr indent="0" lvl="0" marL="0" rtl="0" algn="l">
              <a:spcBef>
                <a:spcPts val="0"/>
              </a:spcBef>
              <a:spcAft>
                <a:spcPts val="0"/>
              </a:spcAft>
              <a:buNone/>
            </a:pPr>
            <a:r>
              <a:rPr lang="en-US"/>
              <a:t>6.5.2 – Configure Dynamic NAT (Cont.)</a:t>
            </a:r>
            <a:endParaRPr/>
          </a:p>
        </p:txBody>
      </p:sp>
      <p:sp>
        <p:nvSpPr>
          <p:cNvPr id="403" name="Google Shape;403;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 NAT for IPv4</a:t>
            </a:r>
            <a:endParaRPr/>
          </a:p>
          <a:p>
            <a:pPr indent="0" lvl="0" marL="0" rtl="0" algn="l">
              <a:spcBef>
                <a:spcPts val="0"/>
              </a:spcBef>
              <a:spcAft>
                <a:spcPts val="0"/>
              </a:spcAft>
              <a:buNone/>
            </a:pPr>
            <a:r>
              <a:rPr lang="en-US"/>
              <a:t>6.5 – Dynamic NAT</a:t>
            </a:r>
            <a:endParaRPr/>
          </a:p>
          <a:p>
            <a:pPr indent="0" lvl="0" marL="0" rtl="0" algn="l">
              <a:spcBef>
                <a:spcPts val="0"/>
              </a:spcBef>
              <a:spcAft>
                <a:spcPts val="0"/>
              </a:spcAft>
              <a:buNone/>
            </a:pPr>
            <a:r>
              <a:rPr lang="en-US"/>
              <a:t>6.5.4 – Analyze Dynamic NAT – Outside to Inside</a:t>
            </a:r>
            <a:endParaRPr/>
          </a:p>
        </p:txBody>
      </p:sp>
      <p:sp>
        <p:nvSpPr>
          <p:cNvPr id="411" name="Google Shape;411;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 NAT for IPv4</a:t>
            </a:r>
            <a:endParaRPr/>
          </a:p>
          <a:p>
            <a:pPr indent="0" lvl="0" marL="0" rtl="0" algn="l">
              <a:spcBef>
                <a:spcPts val="0"/>
              </a:spcBef>
              <a:spcAft>
                <a:spcPts val="0"/>
              </a:spcAft>
              <a:buNone/>
            </a:pPr>
            <a:r>
              <a:rPr lang="en-US"/>
              <a:t>6.5 – Dynamic NAT</a:t>
            </a:r>
            <a:endParaRPr/>
          </a:p>
          <a:p>
            <a:pPr indent="0" lvl="0" marL="0" rtl="0" algn="l">
              <a:spcBef>
                <a:spcPts val="0"/>
              </a:spcBef>
              <a:spcAft>
                <a:spcPts val="0"/>
              </a:spcAft>
              <a:buNone/>
            </a:pPr>
            <a:r>
              <a:rPr lang="en-US"/>
              <a:t>6.5.5 – Verify Dynamic NAT</a:t>
            </a:r>
            <a:endParaRPr/>
          </a:p>
        </p:txBody>
      </p:sp>
      <p:sp>
        <p:nvSpPr>
          <p:cNvPr id="419" name="Google Shape;419;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 NAT for IPv4</a:t>
            </a:r>
            <a:endParaRPr/>
          </a:p>
          <a:p>
            <a:pPr indent="0" lvl="0" marL="0" rtl="0" algn="l">
              <a:spcBef>
                <a:spcPts val="0"/>
              </a:spcBef>
              <a:spcAft>
                <a:spcPts val="0"/>
              </a:spcAft>
              <a:buNone/>
            </a:pPr>
            <a:r>
              <a:rPr lang="en-US"/>
              <a:t>6.5 – Dynamic NAT</a:t>
            </a:r>
            <a:endParaRPr/>
          </a:p>
          <a:p>
            <a:pPr indent="0" lvl="0" marL="0" rtl="0" algn="l">
              <a:spcBef>
                <a:spcPts val="0"/>
              </a:spcBef>
              <a:spcAft>
                <a:spcPts val="0"/>
              </a:spcAft>
              <a:buNone/>
            </a:pPr>
            <a:r>
              <a:rPr lang="en-US"/>
              <a:t>6.5.5 – Verify Dynamic NAT (Cont.)</a:t>
            </a:r>
            <a:endParaRPr/>
          </a:p>
        </p:txBody>
      </p:sp>
      <p:sp>
        <p:nvSpPr>
          <p:cNvPr id="427" name="Google Shape;427;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 NAT for IPv4</a:t>
            </a:r>
            <a:endParaRPr/>
          </a:p>
          <a:p>
            <a:pPr indent="0" lvl="0" marL="0" rtl="0" algn="l">
              <a:spcBef>
                <a:spcPts val="0"/>
              </a:spcBef>
              <a:spcAft>
                <a:spcPts val="0"/>
              </a:spcAft>
              <a:buNone/>
            </a:pPr>
            <a:r>
              <a:rPr lang="en-US"/>
              <a:t>6.6 – PAT</a:t>
            </a:r>
            <a:endParaRPr/>
          </a:p>
        </p:txBody>
      </p:sp>
      <p:sp>
        <p:nvSpPr>
          <p:cNvPr id="436" name="Google Shape;436;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 NAT for IPv4</a:t>
            </a:r>
            <a:endParaRPr/>
          </a:p>
          <a:p>
            <a:pPr indent="0" lvl="0" marL="0" rtl="0" algn="l">
              <a:spcBef>
                <a:spcPts val="0"/>
              </a:spcBef>
              <a:spcAft>
                <a:spcPts val="0"/>
              </a:spcAft>
              <a:buNone/>
            </a:pPr>
            <a:r>
              <a:rPr lang="en-US"/>
              <a:t>6.6 – PAT</a:t>
            </a:r>
            <a:endParaRPr/>
          </a:p>
          <a:p>
            <a:pPr indent="0" lvl="0" marL="0" rtl="0" algn="l">
              <a:spcBef>
                <a:spcPts val="0"/>
              </a:spcBef>
              <a:spcAft>
                <a:spcPts val="0"/>
              </a:spcAft>
              <a:buNone/>
            </a:pPr>
            <a:r>
              <a:rPr lang="en-US"/>
              <a:t>6.6.2 – Configure PAT to Use a Single IPv4 Address</a:t>
            </a:r>
            <a:endParaRPr/>
          </a:p>
        </p:txBody>
      </p:sp>
      <p:sp>
        <p:nvSpPr>
          <p:cNvPr id="442" name="Google Shape;442;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 NAT for IPv4</a:t>
            </a:r>
            <a:endParaRPr/>
          </a:p>
          <a:p>
            <a:pPr indent="0" lvl="0" marL="0" rtl="0" algn="l">
              <a:spcBef>
                <a:spcPts val="0"/>
              </a:spcBef>
              <a:spcAft>
                <a:spcPts val="0"/>
              </a:spcAft>
              <a:buNone/>
            </a:pPr>
            <a:r>
              <a:rPr lang="en-US"/>
              <a:t>6.6 – PAT</a:t>
            </a:r>
            <a:endParaRPr/>
          </a:p>
          <a:p>
            <a:pPr indent="0" lvl="0" marL="0" rtl="0" algn="l">
              <a:spcBef>
                <a:spcPts val="0"/>
              </a:spcBef>
              <a:spcAft>
                <a:spcPts val="0"/>
              </a:spcAft>
              <a:buNone/>
            </a:pPr>
            <a:r>
              <a:rPr lang="en-US"/>
              <a:t>6.6.5 – Analyze PAT – PC to Server</a:t>
            </a:r>
            <a:endParaRPr/>
          </a:p>
        </p:txBody>
      </p:sp>
      <p:sp>
        <p:nvSpPr>
          <p:cNvPr id="466" name="Google Shape;466;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 NAT for IPv4</a:t>
            </a:r>
            <a:endParaRPr/>
          </a:p>
          <a:p>
            <a:pPr indent="0" lvl="0" marL="0" rtl="0" algn="l">
              <a:spcBef>
                <a:spcPts val="0"/>
              </a:spcBef>
              <a:spcAft>
                <a:spcPts val="0"/>
              </a:spcAft>
              <a:buNone/>
            </a:pPr>
            <a:r>
              <a:rPr lang="en-US"/>
              <a:t>6.6 – PAT</a:t>
            </a:r>
            <a:endParaRPr/>
          </a:p>
          <a:p>
            <a:pPr indent="0" lvl="0" marL="0" rtl="0" algn="l">
              <a:spcBef>
                <a:spcPts val="0"/>
              </a:spcBef>
              <a:spcAft>
                <a:spcPts val="0"/>
              </a:spcAft>
              <a:buNone/>
            </a:pPr>
            <a:r>
              <a:rPr lang="en-US"/>
              <a:t>6.6.5 – Analyze PAT – Server to PC</a:t>
            </a:r>
            <a:endParaRPr/>
          </a:p>
        </p:txBody>
      </p:sp>
      <p:sp>
        <p:nvSpPr>
          <p:cNvPr id="474" name="Google Shape;474;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_Slide">
  <p:cSld name="Multi_Slide">
    <p:spTree>
      <p:nvGrpSpPr>
        <p:cNvPr id="12" name="Shape 12"/>
        <p:cNvGrpSpPr/>
        <p:nvPr/>
      </p:nvGrpSpPr>
      <p:grpSpPr>
        <a:xfrm>
          <a:off x="0" y="0"/>
          <a:ext cx="0" cy="0"/>
          <a:chOff x="0" y="0"/>
          <a:chExt cx="0" cy="0"/>
        </a:xfrm>
      </p:grpSpPr>
      <p:sp>
        <p:nvSpPr>
          <p:cNvPr id="13" name="Google Shape;13;p37"/>
          <p:cNvSpPr txBox="1"/>
          <p:nvPr>
            <p:ph idx="1" type="body"/>
          </p:nvPr>
        </p:nvSpPr>
        <p:spPr>
          <a:xfrm>
            <a:off x="474662" y="1347788"/>
            <a:ext cx="8280057" cy="3073946"/>
          </a:xfrm>
          <a:prstGeom prst="rect">
            <a:avLst/>
          </a:prstGeom>
          <a:noFill/>
          <a:ln>
            <a:noFill/>
          </a:ln>
        </p:spPr>
        <p:txBody>
          <a:bodyPr anchorCtr="0" anchor="t" bIns="45700" lIns="91400" spcFirstLastPara="1" rIns="91400" wrap="square" tIns="45700">
            <a:noAutofit/>
          </a:bodyPr>
          <a:lstStyle>
            <a:lvl1pPr indent="-228600" lvl="0" marL="457200" marR="0" rtl="0" algn="ctr">
              <a:lnSpc>
                <a:spcPct val="100000"/>
              </a:lnSpc>
              <a:spcBef>
                <a:spcPts val="40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5000"/>
              </a:lnSpc>
              <a:spcBef>
                <a:spcPts val="625"/>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 name="Google Shape;14;p37"/>
          <p:cNvSpPr txBox="1"/>
          <p:nvPr>
            <p:ph type="title"/>
          </p:nvPr>
        </p:nvSpPr>
        <p:spPr>
          <a:xfrm>
            <a:off x="437766"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lt1"/>
        </a:solidFill>
      </p:bgPr>
    </p:bg>
    <p:spTree>
      <p:nvGrpSpPr>
        <p:cNvPr id="15" name="Shape 15"/>
        <p:cNvGrpSpPr/>
        <p:nvPr/>
      </p:nvGrpSpPr>
      <p:grpSpPr>
        <a:xfrm>
          <a:off x="0" y="0"/>
          <a:ext cx="0" cy="0"/>
          <a:chOff x="0" y="0"/>
          <a:chExt cx="0" cy="0"/>
        </a:xfrm>
      </p:grpSpPr>
      <p:sp>
        <p:nvSpPr>
          <p:cNvPr id="16" name="Google Shape;16;p38"/>
          <p:cNvSpPr/>
          <p:nvPr/>
        </p:nvSpPr>
        <p:spPr>
          <a:xfrm>
            <a:off x="0" y="0"/>
            <a:ext cx="9144000" cy="5143499"/>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 name="Google Shape;17;p38"/>
          <p:cNvSpPr txBox="1"/>
          <p:nvPr>
            <p:ph type="ctrTitle"/>
          </p:nvPr>
        </p:nvSpPr>
        <p:spPr>
          <a:xfrm>
            <a:off x="416425" y="915409"/>
            <a:ext cx="7598042" cy="2569946"/>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5"/>
              </a:buClr>
              <a:buSzPts val="4600"/>
              <a:buFont typeface="Arial"/>
              <a:buNone/>
              <a:defRPr b="0" i="0" sz="460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8" name="Google Shape;18;p38"/>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spcBef>
                <a:spcPts val="0"/>
              </a:spcBef>
              <a:spcAft>
                <a:spcPts val="0"/>
              </a:spcAft>
              <a:buNone/>
            </a:pPr>
            <a:fld id="{00000000-1234-1234-1234-123412341234}" type="slidenum">
              <a:rPr b="0" i="0" lang="en-US" sz="600" u="none" cap="none" strike="noStrike">
                <a:solidFill>
                  <a:srgbClr val="076D8E"/>
                </a:solidFill>
                <a:latin typeface="Arial"/>
                <a:ea typeface="Arial"/>
                <a:cs typeface="Arial"/>
                <a:sym typeface="Arial"/>
              </a:rPr>
              <a:t>‹#›</a:t>
            </a:fld>
            <a:endParaRPr b="0" i="0" sz="600" u="none" cap="none" strike="noStrike">
              <a:solidFill>
                <a:srgbClr val="076D8E"/>
              </a:solidFill>
              <a:latin typeface="Arial"/>
              <a:ea typeface="Arial"/>
              <a:cs typeface="Arial"/>
              <a:sym typeface="Arial"/>
            </a:endParaRPr>
          </a:p>
        </p:txBody>
      </p:sp>
      <p:sp>
        <p:nvSpPr>
          <p:cNvPr id="19" name="Google Shape;19;p38"/>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spcBef>
                <a:spcPts val="0"/>
              </a:spcBef>
              <a:spcAft>
                <a:spcPts val="0"/>
              </a:spcAft>
              <a:buNone/>
            </a:pPr>
            <a:r>
              <a:rPr b="0" i="0" lang="en-US" sz="600" u="none" cap="none" strike="noStrike">
                <a:solidFill>
                  <a:srgbClr val="076D8E"/>
                </a:solidFill>
                <a:latin typeface="Arial"/>
                <a:ea typeface="Arial"/>
                <a:cs typeface="Arial"/>
                <a:sym typeface="Arial"/>
              </a:rPr>
              <a:t>© 2016  Cisco and/or its affiliates. All rights reserved.   Cisco Confidential</a:t>
            </a:r>
            <a:endParaRPr/>
          </a:p>
        </p:txBody>
      </p:sp>
      <p:grpSp>
        <p:nvGrpSpPr>
          <p:cNvPr id="20" name="Google Shape;20;p38"/>
          <p:cNvGrpSpPr/>
          <p:nvPr/>
        </p:nvGrpSpPr>
        <p:grpSpPr>
          <a:xfrm>
            <a:off x="508039" y="4715197"/>
            <a:ext cx="340257" cy="180974"/>
            <a:chOff x="310" y="249"/>
            <a:chExt cx="502" cy="267"/>
          </a:xfrm>
        </p:grpSpPr>
        <p:sp>
          <p:nvSpPr>
            <p:cNvPr id="21" name="Google Shape;21;p38"/>
            <p:cNvSpPr/>
            <p:nvPr/>
          </p:nvSpPr>
          <p:spPr>
            <a:xfrm>
              <a:off x="452" y="426"/>
              <a:ext cx="22" cy="88"/>
            </a:xfrm>
            <a:prstGeom prst="rect">
              <a:avLst/>
            </a:pr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 name="Google Shape;22;p38"/>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 name="Google Shape;23;p38"/>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 name="Google Shape;24;p38"/>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 name="Google Shape;25;p38"/>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 name="Google Shape;26;p38"/>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 name="Google Shape;27;p38"/>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 name="Google Shape;28;p38"/>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 name="Google Shape;29;p38"/>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 name="Google Shape;30;p38"/>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 name="Google Shape;31;p38"/>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 name="Google Shape;32;p38"/>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 name="Google Shape;33;p38"/>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 name="Google Shape;34;p38"/>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animated gradient" showMasterSp="0">
  <p:cSld name="3_Title Slide-animated gradient">
    <p:bg>
      <p:bgPr>
        <a:solidFill>
          <a:schemeClr val="accent5"/>
        </a:solidFill>
      </p:bgPr>
    </p:bg>
    <p:spTree>
      <p:nvGrpSpPr>
        <p:cNvPr id="35" name="Shape 35"/>
        <p:cNvGrpSpPr/>
        <p:nvPr/>
      </p:nvGrpSpPr>
      <p:grpSpPr>
        <a:xfrm>
          <a:off x="0" y="0"/>
          <a:ext cx="0" cy="0"/>
          <a:chOff x="0" y="0"/>
          <a:chExt cx="0" cy="0"/>
        </a:xfrm>
      </p:grpSpPr>
      <p:pic>
        <p:nvPicPr>
          <p:cNvPr id="36" name="Google Shape;36;p39"/>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7" name="Google Shape;37;p39"/>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38" name="Google Shape;38;p39"/>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9" name="Google Shape;39;p39"/>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40" name="Google Shape;40;p39"/>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41" name="Google Shape;41;p39"/>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grpSp>
        <p:nvGrpSpPr>
          <p:cNvPr id="42" name="Google Shape;42;p39"/>
          <p:cNvGrpSpPr/>
          <p:nvPr/>
        </p:nvGrpSpPr>
        <p:grpSpPr>
          <a:xfrm>
            <a:off x="492125" y="395288"/>
            <a:ext cx="796924" cy="423863"/>
            <a:chOff x="310" y="249"/>
            <a:chExt cx="502" cy="267"/>
          </a:xfrm>
        </p:grpSpPr>
        <p:sp>
          <p:nvSpPr>
            <p:cNvPr id="43" name="Google Shape;43;p39"/>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 name="Google Shape;44;p39"/>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p39"/>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 name="Google Shape;46;p39"/>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 name="Google Shape;47;p39"/>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 name="Google Shape;48;p39"/>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 name="Google Shape;49;p39"/>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 name="Google Shape;50;p39"/>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 name="Google Shape;51;p39"/>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 name="Google Shape;52;p39"/>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 name="Google Shape;53;p39"/>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 name="Google Shape;54;p39"/>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 name="Google Shape;55;p39"/>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6" name="Google Shape;56;p39"/>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animated gradient" showMasterSp="0">
  <p:cSld name="5_Title Slide-animated gradient">
    <p:bg>
      <p:bgPr>
        <a:solidFill>
          <a:schemeClr val="accent5"/>
        </a:solidFill>
      </p:bgPr>
    </p:bg>
    <p:spTree>
      <p:nvGrpSpPr>
        <p:cNvPr id="57" name="Shape 57"/>
        <p:cNvGrpSpPr/>
        <p:nvPr/>
      </p:nvGrpSpPr>
      <p:grpSpPr>
        <a:xfrm>
          <a:off x="0" y="0"/>
          <a:ext cx="0" cy="0"/>
          <a:chOff x="0" y="0"/>
          <a:chExt cx="0" cy="0"/>
        </a:xfrm>
      </p:grpSpPr>
      <p:sp>
        <p:nvSpPr>
          <p:cNvPr id="58" name="Google Shape;58;p40"/>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59" name="Google Shape;59;p40"/>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0" name="Google Shape;60;p40"/>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61" name="Google Shape;61;p40"/>
          <p:cNvGrpSpPr/>
          <p:nvPr/>
        </p:nvGrpSpPr>
        <p:grpSpPr>
          <a:xfrm>
            <a:off x="492125" y="395288"/>
            <a:ext cx="796924" cy="423863"/>
            <a:chOff x="310" y="249"/>
            <a:chExt cx="502" cy="267"/>
          </a:xfrm>
        </p:grpSpPr>
        <p:sp>
          <p:nvSpPr>
            <p:cNvPr id="62" name="Google Shape;62;p40"/>
            <p:cNvSpPr/>
            <p:nvPr/>
          </p:nvSpPr>
          <p:spPr>
            <a:xfrm>
              <a:off x="452" y="426"/>
              <a:ext cx="22" cy="88"/>
            </a:xfrm>
            <a:prstGeom prst="rect">
              <a:avLst/>
            </a:pr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 name="Google Shape;63;p40"/>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 name="Google Shape;64;p40"/>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 name="Google Shape;65;p40"/>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 name="Google Shape;66;p40"/>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 name="Google Shape;67;p40"/>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 name="Google Shape;68;p40"/>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9" name="Google Shape;69;p40"/>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 name="Google Shape;70;p40"/>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 name="Google Shape;71;p40"/>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 name="Google Shape;72;p40"/>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 name="Google Shape;73;p40"/>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4" name="Google Shape;74;p40"/>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5" name="Google Shape;75;p40"/>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76" name="Google Shape;76;p40"/>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77" name="Google Shape;77;p40"/>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1"/>
              </a:buClr>
              <a:buSzPts val="3600"/>
              <a:buFont typeface="Arial"/>
              <a:buNone/>
              <a:defRPr b="0" i="0" sz="360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animated gradient" showMasterSp="0">
  <p:cSld name="6_Title Slide-animated gradient">
    <p:bg>
      <p:bgPr>
        <a:solidFill>
          <a:schemeClr val="accent5"/>
        </a:solidFill>
      </p:bgPr>
    </p:bg>
    <p:spTree>
      <p:nvGrpSpPr>
        <p:cNvPr id="78" name="Shape 78"/>
        <p:cNvGrpSpPr/>
        <p:nvPr/>
      </p:nvGrpSpPr>
      <p:grpSpPr>
        <a:xfrm>
          <a:off x="0" y="0"/>
          <a:ext cx="0" cy="0"/>
          <a:chOff x="0" y="0"/>
          <a:chExt cx="0" cy="0"/>
        </a:xfrm>
      </p:grpSpPr>
      <p:sp>
        <p:nvSpPr>
          <p:cNvPr id="79" name="Google Shape;79;p41"/>
          <p:cNvSpPr/>
          <p:nvPr/>
        </p:nvSpPr>
        <p:spPr>
          <a:xfrm>
            <a:off x="0" y="0"/>
            <a:ext cx="9144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 name="Google Shape;80;p41"/>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81" name="Google Shape;81;p41"/>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82" name="Google Shape;82;p41"/>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83" name="Google Shape;83;p41"/>
          <p:cNvGrpSpPr/>
          <p:nvPr/>
        </p:nvGrpSpPr>
        <p:grpSpPr>
          <a:xfrm>
            <a:off x="492125" y="395288"/>
            <a:ext cx="796924" cy="423863"/>
            <a:chOff x="310" y="249"/>
            <a:chExt cx="502" cy="267"/>
          </a:xfrm>
        </p:grpSpPr>
        <p:sp>
          <p:nvSpPr>
            <p:cNvPr id="84" name="Google Shape;84;p41"/>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5" name="Google Shape;85;p41"/>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6" name="Google Shape;86;p41"/>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 name="Google Shape;87;p41"/>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 name="Google Shape;88;p41"/>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41"/>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 name="Google Shape;90;p41"/>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1" name="Google Shape;91;p41"/>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 name="Google Shape;92;p41"/>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 name="Google Shape;93;p41"/>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4" name="Google Shape;94;p41"/>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5" name="Google Shape;95;p41"/>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6" name="Google Shape;96;p41"/>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7" name="Google Shape;97;p41"/>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98" name="Google Shape;98;p41"/>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9" name="Google Shape;99;p41"/>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100" name="Shape 100"/>
        <p:cNvGrpSpPr/>
        <p:nvPr/>
      </p:nvGrpSpPr>
      <p:grpSpPr>
        <a:xfrm>
          <a:off x="0" y="0"/>
          <a:ext cx="0" cy="0"/>
          <a:chOff x="0" y="0"/>
          <a:chExt cx="0" cy="0"/>
        </a:xfrm>
      </p:grpSpPr>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ircled_Bullets">
  <p:cSld name="2_Circled_Bullets">
    <p:spTree>
      <p:nvGrpSpPr>
        <p:cNvPr id="101" name="Shape 101"/>
        <p:cNvGrpSpPr/>
        <p:nvPr/>
      </p:nvGrpSpPr>
      <p:grpSpPr>
        <a:xfrm>
          <a:off x="0" y="0"/>
          <a:ext cx="0" cy="0"/>
          <a:chOff x="0" y="0"/>
          <a:chExt cx="0" cy="0"/>
        </a:xfrm>
      </p:grpSpPr>
      <p:sp>
        <p:nvSpPr>
          <p:cNvPr id="102" name="Google Shape;102;p43"/>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03" name="Google Shape;103;p43"/>
          <p:cNvSpPr/>
          <p:nvPr/>
        </p:nvSpPr>
        <p:spPr>
          <a:xfrm>
            <a:off x="575610" y="2552550"/>
            <a:ext cx="698624" cy="698624"/>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rgbClr val="FFFFFF"/>
              </a:solidFill>
              <a:latin typeface="Arial"/>
              <a:ea typeface="Arial"/>
              <a:cs typeface="Arial"/>
              <a:sym typeface="Arial"/>
            </a:endParaRPr>
          </a:p>
        </p:txBody>
      </p:sp>
      <p:sp>
        <p:nvSpPr>
          <p:cNvPr id="104" name="Google Shape;104;p43"/>
          <p:cNvSpPr/>
          <p:nvPr/>
        </p:nvSpPr>
        <p:spPr>
          <a:xfrm>
            <a:off x="575610" y="1426607"/>
            <a:ext cx="698624" cy="698624"/>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lt1"/>
              </a:solidFill>
              <a:latin typeface="Arial"/>
              <a:ea typeface="Arial"/>
              <a:cs typeface="Arial"/>
              <a:sym typeface="Arial"/>
            </a:endParaRPr>
          </a:p>
        </p:txBody>
      </p:sp>
      <p:sp>
        <p:nvSpPr>
          <p:cNvPr id="105" name="Google Shape;105;p43"/>
          <p:cNvSpPr/>
          <p:nvPr/>
        </p:nvSpPr>
        <p:spPr>
          <a:xfrm>
            <a:off x="575610" y="3653093"/>
            <a:ext cx="698624" cy="698624"/>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rgbClr val="049FD9"/>
              </a:solidFill>
              <a:latin typeface="Arial"/>
              <a:ea typeface="Arial"/>
              <a:cs typeface="Arial"/>
              <a:sym typeface="Arial"/>
            </a:endParaRPr>
          </a:p>
        </p:txBody>
      </p:sp>
      <p:sp>
        <p:nvSpPr>
          <p:cNvPr id="106" name="Google Shape;106;p43"/>
          <p:cNvSpPr txBox="1"/>
          <p:nvPr>
            <p:ph idx="1" type="body"/>
          </p:nvPr>
        </p:nvSpPr>
        <p:spPr>
          <a:xfrm>
            <a:off x="1365250" y="1432522"/>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07" name="Google Shape;107;p43"/>
          <p:cNvSpPr txBox="1"/>
          <p:nvPr>
            <p:ph idx="2" type="body"/>
          </p:nvPr>
        </p:nvSpPr>
        <p:spPr>
          <a:xfrm>
            <a:off x="1365250" y="25577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08" name="Google Shape;108;p43"/>
          <p:cNvSpPr txBox="1"/>
          <p:nvPr>
            <p:ph idx="3" type="body"/>
          </p:nvPr>
        </p:nvSpPr>
        <p:spPr>
          <a:xfrm>
            <a:off x="1365250" y="36530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09" name="Google Shape;109;p43"/>
          <p:cNvSpPr txBox="1"/>
          <p:nvPr>
            <p:ph idx="4" type="body"/>
          </p:nvPr>
        </p:nvSpPr>
        <p:spPr>
          <a:xfrm>
            <a:off x="575610" y="255255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0" name="Google Shape;110;p43"/>
          <p:cNvSpPr txBox="1"/>
          <p:nvPr>
            <p:ph idx="5" type="body"/>
          </p:nvPr>
        </p:nvSpPr>
        <p:spPr>
          <a:xfrm>
            <a:off x="575611" y="365114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1" name="Google Shape;111;p43"/>
          <p:cNvSpPr txBox="1"/>
          <p:nvPr>
            <p:ph idx="6" type="body"/>
          </p:nvPr>
        </p:nvSpPr>
        <p:spPr>
          <a:xfrm>
            <a:off x="575610" y="1427248"/>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ircled_Bullets">
  <p:cSld name="5_Circled_Bullets">
    <p:spTree>
      <p:nvGrpSpPr>
        <p:cNvPr id="112" name="Shape 112"/>
        <p:cNvGrpSpPr/>
        <p:nvPr/>
      </p:nvGrpSpPr>
      <p:grpSpPr>
        <a:xfrm>
          <a:off x="0" y="0"/>
          <a:ext cx="0" cy="0"/>
          <a:chOff x="0" y="0"/>
          <a:chExt cx="0" cy="0"/>
        </a:xfrm>
      </p:grpSpPr>
      <p:sp>
        <p:nvSpPr>
          <p:cNvPr id="113" name="Google Shape;113;p44"/>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14" name="Google Shape;114;p44"/>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15" name="Google Shape;115;p44"/>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16" name="Google Shape;116;p44"/>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17" name="Google Shape;117;p44"/>
          <p:cNvSpPr txBox="1"/>
          <p:nvPr>
            <p:ph idx="1" type="body"/>
          </p:nvPr>
        </p:nvSpPr>
        <p:spPr>
          <a:xfrm>
            <a:off x="1172384" y="1334842"/>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8" name="Google Shape;118;p44"/>
          <p:cNvSpPr txBox="1"/>
          <p:nvPr>
            <p:ph idx="2" type="body"/>
          </p:nvPr>
        </p:nvSpPr>
        <p:spPr>
          <a:xfrm>
            <a:off x="1172385" y="198456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9" name="Google Shape;119;p44"/>
          <p:cNvSpPr txBox="1"/>
          <p:nvPr>
            <p:ph idx="3" type="body"/>
          </p:nvPr>
        </p:nvSpPr>
        <p:spPr>
          <a:xfrm>
            <a:off x="1172385" y="262744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0" name="Google Shape;120;p44"/>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1" name="Google Shape;121;p44"/>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2" name="Google Shape;122;p44"/>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3" name="Google Shape;123;p44"/>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24" name="Google Shape;124;p44"/>
          <p:cNvSpPr txBox="1"/>
          <p:nvPr>
            <p:ph idx="7" type="body"/>
          </p:nvPr>
        </p:nvSpPr>
        <p:spPr>
          <a:xfrm>
            <a:off x="1172386" y="327458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5" name="Google Shape;125;p44"/>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6" name="Google Shape;126;p44"/>
          <p:cNvSpPr/>
          <p:nvPr/>
        </p:nvSpPr>
        <p:spPr>
          <a:xfrm>
            <a:off x="575613" y="3921716"/>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27" name="Google Shape;127;p44"/>
          <p:cNvSpPr txBox="1"/>
          <p:nvPr>
            <p:ph idx="9" type="body"/>
          </p:nvPr>
        </p:nvSpPr>
        <p:spPr>
          <a:xfrm>
            <a:off x="1172387" y="392171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8" name="Google Shape;128;p44"/>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ircled_Bullets">
  <p:cSld name="6_Circled_Bullets">
    <p:spTree>
      <p:nvGrpSpPr>
        <p:cNvPr id="129" name="Shape 129"/>
        <p:cNvGrpSpPr/>
        <p:nvPr/>
      </p:nvGrpSpPr>
      <p:grpSpPr>
        <a:xfrm>
          <a:off x="0" y="0"/>
          <a:ext cx="0" cy="0"/>
          <a:chOff x="0" y="0"/>
          <a:chExt cx="0" cy="0"/>
        </a:xfrm>
      </p:grpSpPr>
      <p:sp>
        <p:nvSpPr>
          <p:cNvPr id="130" name="Google Shape;130;p45"/>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31" name="Google Shape;131;p45"/>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32" name="Google Shape;132;p45"/>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133" name="Google Shape;133;p45"/>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34" name="Google Shape;134;p45"/>
          <p:cNvSpPr txBox="1"/>
          <p:nvPr>
            <p:ph idx="1" type="body"/>
          </p:nvPr>
        </p:nvSpPr>
        <p:spPr>
          <a:xfrm>
            <a:off x="1172384" y="133484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5" name="Google Shape;135;p45"/>
          <p:cNvSpPr txBox="1"/>
          <p:nvPr>
            <p:ph idx="2" type="body"/>
          </p:nvPr>
        </p:nvSpPr>
        <p:spPr>
          <a:xfrm>
            <a:off x="1172385" y="198456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6" name="Google Shape;136;p45"/>
          <p:cNvSpPr txBox="1"/>
          <p:nvPr>
            <p:ph idx="3" type="body"/>
          </p:nvPr>
        </p:nvSpPr>
        <p:spPr>
          <a:xfrm>
            <a:off x="1172385" y="262744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7" name="Google Shape;137;p45"/>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8" name="Google Shape;138;p45"/>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9" name="Google Shape;139;p45"/>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0" name="Google Shape;140;p45"/>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41" name="Google Shape;141;p45"/>
          <p:cNvSpPr txBox="1"/>
          <p:nvPr>
            <p:ph idx="7" type="body"/>
          </p:nvPr>
        </p:nvSpPr>
        <p:spPr>
          <a:xfrm>
            <a:off x="1172386" y="327458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2" name="Google Shape;142;p45"/>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3" name="Google Shape;143;p45"/>
          <p:cNvSpPr/>
          <p:nvPr/>
        </p:nvSpPr>
        <p:spPr>
          <a:xfrm>
            <a:off x="575613" y="3921716"/>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44" name="Google Shape;144;p45"/>
          <p:cNvSpPr txBox="1"/>
          <p:nvPr>
            <p:ph idx="9" type="body"/>
          </p:nvPr>
        </p:nvSpPr>
        <p:spPr>
          <a:xfrm>
            <a:off x="1172387" y="392171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5" name="Google Shape;145;p45"/>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6" name="Google Shape;146;p45"/>
          <p:cNvSpPr/>
          <p:nvPr/>
        </p:nvSpPr>
        <p:spPr>
          <a:xfrm>
            <a:off x="4414576" y="1983084"/>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47" name="Google Shape;147;p45"/>
          <p:cNvSpPr/>
          <p:nvPr/>
        </p:nvSpPr>
        <p:spPr>
          <a:xfrm>
            <a:off x="4414575" y="1332693"/>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48" name="Google Shape;148;p45"/>
          <p:cNvSpPr/>
          <p:nvPr/>
        </p:nvSpPr>
        <p:spPr>
          <a:xfrm>
            <a:off x="4414576" y="2631212"/>
            <a:ext cx="464815" cy="464815"/>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49" name="Google Shape;149;p45"/>
          <p:cNvSpPr txBox="1"/>
          <p:nvPr>
            <p:ph idx="14" type="body"/>
          </p:nvPr>
        </p:nvSpPr>
        <p:spPr>
          <a:xfrm>
            <a:off x="5011349" y="1338608"/>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0" name="Google Shape;150;p45"/>
          <p:cNvSpPr txBox="1"/>
          <p:nvPr>
            <p:ph idx="15" type="body"/>
          </p:nvPr>
        </p:nvSpPr>
        <p:spPr>
          <a:xfrm>
            <a:off x="5011350" y="198832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1" name="Google Shape;151;p45"/>
          <p:cNvSpPr txBox="1"/>
          <p:nvPr>
            <p:ph idx="16" type="body"/>
          </p:nvPr>
        </p:nvSpPr>
        <p:spPr>
          <a:xfrm>
            <a:off x="5011350" y="263121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2" name="Google Shape;152;p45"/>
          <p:cNvSpPr txBox="1"/>
          <p:nvPr>
            <p:ph idx="17" type="body"/>
          </p:nvPr>
        </p:nvSpPr>
        <p:spPr>
          <a:xfrm>
            <a:off x="4414576" y="1331287"/>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3" name="Google Shape;153;p45"/>
          <p:cNvSpPr txBox="1"/>
          <p:nvPr>
            <p:ph idx="18" type="body"/>
          </p:nvPr>
        </p:nvSpPr>
        <p:spPr>
          <a:xfrm>
            <a:off x="4414576" y="198308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4" name="Google Shape;154;p45"/>
          <p:cNvSpPr txBox="1"/>
          <p:nvPr>
            <p:ph idx="19" type="body"/>
          </p:nvPr>
        </p:nvSpPr>
        <p:spPr>
          <a:xfrm>
            <a:off x="4414577" y="262925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5" name="Google Shape;155;p45"/>
          <p:cNvSpPr/>
          <p:nvPr/>
        </p:nvSpPr>
        <p:spPr>
          <a:xfrm>
            <a:off x="4414577" y="3278347"/>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56" name="Google Shape;156;p45"/>
          <p:cNvSpPr txBox="1"/>
          <p:nvPr>
            <p:ph idx="20" type="body"/>
          </p:nvPr>
        </p:nvSpPr>
        <p:spPr>
          <a:xfrm>
            <a:off x="5011351" y="327834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7" name="Google Shape;157;p45"/>
          <p:cNvSpPr txBox="1"/>
          <p:nvPr>
            <p:ph idx="21" type="body"/>
          </p:nvPr>
        </p:nvSpPr>
        <p:spPr>
          <a:xfrm>
            <a:off x="4414578" y="327639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8" name="Google Shape;158;p45"/>
          <p:cNvSpPr/>
          <p:nvPr/>
        </p:nvSpPr>
        <p:spPr>
          <a:xfrm>
            <a:off x="4414578" y="3925482"/>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59" name="Google Shape;159;p45"/>
          <p:cNvSpPr txBox="1"/>
          <p:nvPr>
            <p:ph idx="22" type="body"/>
          </p:nvPr>
        </p:nvSpPr>
        <p:spPr>
          <a:xfrm>
            <a:off x="5011352" y="392548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0" name="Google Shape;160;p45"/>
          <p:cNvSpPr txBox="1"/>
          <p:nvPr>
            <p:ph idx="23" type="body"/>
          </p:nvPr>
        </p:nvSpPr>
        <p:spPr>
          <a:xfrm>
            <a:off x="4414579" y="392352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showMasterSp="0">
  <p:cSld name="1_Closing Slide">
    <p:bg>
      <p:bgPr>
        <a:solidFill>
          <a:schemeClr val="accent5"/>
        </a:solidFill>
      </p:bgPr>
    </p:bg>
    <p:spTree>
      <p:nvGrpSpPr>
        <p:cNvPr id="161" name="Shape 161"/>
        <p:cNvGrpSpPr/>
        <p:nvPr/>
      </p:nvGrpSpPr>
      <p:grpSpPr>
        <a:xfrm>
          <a:off x="0" y="0"/>
          <a:ext cx="0" cy="0"/>
          <a:chOff x="0" y="0"/>
          <a:chExt cx="0" cy="0"/>
        </a:xfrm>
      </p:grpSpPr>
      <p:pic>
        <p:nvPicPr>
          <p:cNvPr id="162" name="Google Shape;162;p46"/>
          <p:cNvPicPr preferRelativeResize="0"/>
          <p:nvPr/>
        </p:nvPicPr>
        <p:blipFill rotWithShape="1">
          <a:blip r:embed="rId2">
            <a:alphaModFix/>
          </a:blip>
          <a:srcRect b="0" l="0" r="0" t="0"/>
          <a:stretch/>
        </p:blipFill>
        <p:spPr>
          <a:xfrm>
            <a:off x="0" y="1"/>
            <a:ext cx="9143999" cy="5165874"/>
          </a:xfrm>
          <a:prstGeom prst="rect">
            <a:avLst/>
          </a:prstGeom>
          <a:noFill/>
          <a:ln>
            <a:noFill/>
          </a:ln>
        </p:spPr>
      </p:pic>
      <p:grpSp>
        <p:nvGrpSpPr>
          <p:cNvPr id="163" name="Google Shape;163;p46"/>
          <p:cNvGrpSpPr/>
          <p:nvPr/>
        </p:nvGrpSpPr>
        <p:grpSpPr>
          <a:xfrm>
            <a:off x="3746294" y="2129856"/>
            <a:ext cx="1617944" cy="860542"/>
            <a:chOff x="310" y="249"/>
            <a:chExt cx="502" cy="267"/>
          </a:xfrm>
        </p:grpSpPr>
        <p:sp>
          <p:nvSpPr>
            <p:cNvPr id="164" name="Google Shape;164;p46"/>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5" name="Google Shape;165;p46"/>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6" name="Google Shape;166;p46"/>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 name="Google Shape;167;p46"/>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8" name="Google Shape;168;p46"/>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9" name="Google Shape;169;p46"/>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0" name="Google Shape;170;p46"/>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 name="Google Shape;171;p46"/>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2" name="Google Shape;172;p46"/>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3" name="Google Shape;173;p46"/>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 name="Google Shape;174;p46"/>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5" name="Google Shape;175;p46"/>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6" name="Google Shape;176;p46"/>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7" name="Google Shape;177;p46"/>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bg>
      <p:bgPr>
        <a:solidFill>
          <a:schemeClr val="accent5"/>
        </a:solidFill>
      </p:bgPr>
    </p:bg>
    <p:spTree>
      <p:nvGrpSpPr>
        <p:cNvPr id="178" name="Shape 178"/>
        <p:cNvGrpSpPr/>
        <p:nvPr/>
      </p:nvGrpSpPr>
      <p:grpSpPr>
        <a:xfrm>
          <a:off x="0" y="0"/>
          <a:ext cx="0" cy="0"/>
          <a:chOff x="0" y="0"/>
          <a:chExt cx="0" cy="0"/>
        </a:xfrm>
      </p:grpSpPr>
      <p:sp>
        <p:nvSpPr>
          <p:cNvPr id="179" name="Google Shape;179;p47"/>
          <p:cNvSpPr/>
          <p:nvPr/>
        </p:nvSpPr>
        <p:spPr>
          <a:xfrm>
            <a:off x="0" y="0"/>
            <a:ext cx="9144000" cy="5143500"/>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0" name="Google Shape;180;p47"/>
          <p:cNvGrpSpPr/>
          <p:nvPr/>
        </p:nvGrpSpPr>
        <p:grpSpPr>
          <a:xfrm>
            <a:off x="3746294" y="2129856"/>
            <a:ext cx="1617944" cy="860542"/>
            <a:chOff x="310" y="249"/>
            <a:chExt cx="502" cy="267"/>
          </a:xfrm>
        </p:grpSpPr>
        <p:sp>
          <p:nvSpPr>
            <p:cNvPr id="181" name="Google Shape;181;p47"/>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 name="Google Shape;182;p47"/>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 name="Google Shape;183;p47"/>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4" name="Google Shape;184;p47"/>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 name="Google Shape;185;p47"/>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 name="Google Shape;186;p47"/>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7" name="Google Shape;187;p47"/>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 name="Google Shape;188;p47"/>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9" name="Google Shape;189;p47"/>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0" name="Google Shape;190;p47"/>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1" name="Google Shape;191;p47"/>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2" name="Google Shape;192;p47"/>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3" name="Google Shape;193;p47"/>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4" name="Google Shape;194;p47"/>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losing Slide" showMasterSp="0">
  <p:cSld name="3_Closing Slide">
    <p:bg>
      <p:bgPr>
        <a:solidFill>
          <a:schemeClr val="accent5"/>
        </a:solidFill>
      </p:bgPr>
    </p:bg>
    <p:spTree>
      <p:nvGrpSpPr>
        <p:cNvPr id="195" name="Shape 195"/>
        <p:cNvGrpSpPr/>
        <p:nvPr/>
      </p:nvGrpSpPr>
      <p:grpSpPr>
        <a:xfrm>
          <a:off x="0" y="0"/>
          <a:ext cx="0" cy="0"/>
          <a:chOff x="0" y="0"/>
          <a:chExt cx="0" cy="0"/>
        </a:xfrm>
      </p:grpSpPr>
      <p:grpSp>
        <p:nvGrpSpPr>
          <p:cNvPr id="196" name="Google Shape;196;p48"/>
          <p:cNvGrpSpPr/>
          <p:nvPr/>
        </p:nvGrpSpPr>
        <p:grpSpPr>
          <a:xfrm>
            <a:off x="3746294" y="2129856"/>
            <a:ext cx="1617944" cy="860542"/>
            <a:chOff x="310" y="249"/>
            <a:chExt cx="502" cy="267"/>
          </a:xfrm>
        </p:grpSpPr>
        <p:sp>
          <p:nvSpPr>
            <p:cNvPr id="197" name="Google Shape;197;p48"/>
            <p:cNvSpPr/>
            <p:nvPr/>
          </p:nvSpPr>
          <p:spPr>
            <a:xfrm>
              <a:off x="452" y="426"/>
              <a:ext cx="22" cy="88"/>
            </a:xfrm>
            <a:prstGeom prst="rect">
              <a:avLst/>
            </a:pr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8" name="Google Shape;198;p48"/>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9" name="Google Shape;199;p48"/>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0" name="Google Shape;200;p48"/>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 name="Google Shape;201;p48"/>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2" name="Google Shape;202;p48"/>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 name="Google Shape;203;p48"/>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4" name="Google Shape;204;p48"/>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5" name="Google Shape;205;p48"/>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6" name="Google Shape;206;p48"/>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7" name="Google Shape;207;p48"/>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8" name="Google Shape;208;p48"/>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 name="Google Shape;209;p48"/>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 name="Google Shape;210;p48"/>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1" name="Shape 211"/>
        <p:cNvGrpSpPr/>
        <p:nvPr/>
      </p:nvGrpSpPr>
      <p:grpSpPr>
        <a:xfrm>
          <a:off x="0" y="0"/>
          <a:ext cx="0" cy="0"/>
          <a:chOff x="0" y="0"/>
          <a:chExt cx="0" cy="0"/>
        </a:xfrm>
      </p:grpSpPr>
      <p:sp>
        <p:nvSpPr>
          <p:cNvPr id="212" name="Google Shape;212;p49"/>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marR="0" rtl="0" algn="l">
              <a:lnSpc>
                <a:spcPct val="80000"/>
              </a:lnSpc>
              <a:spcBef>
                <a:spcPts val="0"/>
              </a:spcBef>
              <a:spcAft>
                <a:spcPts val="0"/>
              </a:spcAft>
              <a:buSzPts val="1400"/>
              <a:buNone/>
              <a:defRPr b="0" i="0" sz="3200" u="none" cap="none" strike="noStrike">
                <a:solidFill>
                  <a:schemeClr val="accent4"/>
                </a:solidFill>
                <a:latin typeface="Arial"/>
                <a:ea typeface="Arial"/>
                <a:cs typeface="Arial"/>
                <a:sym typeface="Arial"/>
              </a:defRPr>
            </a:lvl1pPr>
            <a:lvl2pPr lvl="1"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2pPr>
            <a:lvl3pPr lvl="2"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3pPr>
            <a:lvl4pPr lvl="3"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4pPr>
            <a:lvl5pPr lvl="4"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5pPr>
            <a:lvl6pPr lvl="5"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6pPr>
            <a:lvl7pPr lvl="6"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7pPr>
            <a:lvl8pPr lvl="7"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8pPr>
            <a:lvl9pPr lvl="8"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9pPr>
          </a:lstStyle>
          <a:p/>
        </p:txBody>
      </p:sp>
      <p:sp>
        <p:nvSpPr>
          <p:cNvPr id="11" name="Google Shape;11;p36"/>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spcBef>
                <a:spcPts val="0"/>
              </a:spcBef>
              <a:spcAft>
                <a:spcPts val="0"/>
              </a:spcAft>
              <a:buNone/>
            </a:pPr>
            <a:fld id="{00000000-1234-1234-1234-123412341234}" type="slidenum">
              <a:rPr b="0" i="0" lang="en-US" sz="600" u="none" cap="none" strike="noStrike">
                <a:solidFill>
                  <a:srgbClr val="D8D8D8"/>
                </a:solidFill>
                <a:latin typeface="Arial"/>
                <a:ea typeface="Arial"/>
                <a:cs typeface="Arial"/>
                <a:sym typeface="Arial"/>
              </a:rPr>
              <a:t>‹#›</a:t>
            </a:fld>
            <a:endParaRPr b="0" i="0" sz="600" u="none" cap="none" strike="noStrike">
              <a:solidFill>
                <a:srgbClr val="D8D8D8"/>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
          <p:cNvSpPr txBox="1"/>
          <p:nvPr>
            <p:ph type="title"/>
          </p:nvPr>
        </p:nvSpPr>
        <p:spPr>
          <a:xfrm>
            <a:off x="1539456" y="1846729"/>
            <a:ext cx="5831228" cy="1209115"/>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a:t>Network Address Translation</a:t>
            </a:r>
            <a:br>
              <a:rPr lang="en-US"/>
            </a:br>
            <a:br>
              <a:rPr lang="en-US"/>
            </a:br>
            <a:br>
              <a:rPr lang="en-US"/>
            </a:br>
            <a:r>
              <a:rPr lang="en-US" sz="2000">
                <a:solidFill>
                  <a:srgbClr val="000000"/>
                </a:solidFill>
              </a:rPr>
              <a:t>Dr. Md. Shohrab Hossain</a:t>
            </a:r>
            <a:br>
              <a:rPr lang="en-US" sz="2000">
                <a:solidFill>
                  <a:srgbClr val="000000"/>
                </a:solidFill>
              </a:rPr>
            </a:br>
            <a:r>
              <a:rPr lang="en-US" sz="2000">
                <a:solidFill>
                  <a:srgbClr val="000000"/>
                </a:solidFill>
              </a:rPr>
              <a:t>Professor, CSE, BUET</a:t>
            </a:r>
            <a:br>
              <a:rPr lang="en-US"/>
            </a:br>
            <a:endParaRPr/>
          </a:p>
        </p:txBody>
      </p:sp>
      <p:sp>
        <p:nvSpPr>
          <p:cNvPr id="218" name="Google Shape;218;p1"/>
          <p:cNvSpPr txBox="1"/>
          <p:nvPr/>
        </p:nvSpPr>
        <p:spPr>
          <a:xfrm>
            <a:off x="4596421" y="4242455"/>
            <a:ext cx="3973838" cy="731837"/>
          </a:xfrm>
          <a:prstGeom prst="rect">
            <a:avLst/>
          </a:prstGeom>
          <a:noFill/>
          <a:ln>
            <a:noFill/>
          </a:ln>
        </p:spPr>
        <p:txBody>
          <a:bodyPr anchorCtr="0" anchor="ctr" bIns="45700" lIns="91400" spcFirstLastPara="1" rIns="91400" wrap="square" tIns="45700">
            <a:noAutofit/>
          </a:bodyPr>
          <a:lstStyle/>
          <a:p>
            <a:pPr indent="0" lvl="0" marL="0" marR="0" rtl="0" algn="l">
              <a:lnSpc>
                <a:spcPct val="80000"/>
              </a:lnSpc>
              <a:spcBef>
                <a:spcPts val="0"/>
              </a:spcBef>
              <a:spcAft>
                <a:spcPts val="0"/>
              </a:spcAft>
              <a:buNone/>
            </a:pPr>
            <a:r>
              <a:rPr b="0" i="0" lang="en-US" sz="2000" u="none" cap="none" strike="noStrike">
                <a:solidFill>
                  <a:srgbClr val="004C69"/>
                </a:solidFill>
                <a:latin typeface="Arial"/>
                <a:ea typeface="Arial"/>
                <a:cs typeface="Arial"/>
                <a:sym typeface="Arial"/>
              </a:rPr>
              <a:t>Source: Cisco Networking</a:t>
            </a:r>
            <a:br>
              <a:rPr b="0" i="0" lang="en-US" sz="3200" u="none" cap="none" strike="noStrike">
                <a:solidFill>
                  <a:srgbClr val="004C69"/>
                </a:solidFill>
                <a:latin typeface="Arial"/>
                <a:ea typeface="Arial"/>
                <a:cs typeface="Arial"/>
                <a:sym typeface="Arial"/>
              </a:rPr>
            </a:br>
            <a:endParaRPr b="0" i="0" sz="3200" u="none" cap="none" strike="noStrike">
              <a:solidFill>
                <a:srgbClr val="004C69"/>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IPv4 Address Space</a:t>
            </a:r>
            <a:endParaRPr/>
          </a:p>
        </p:txBody>
      </p:sp>
      <p:sp>
        <p:nvSpPr>
          <p:cNvPr id="225" name="Google Shape;225;p2"/>
          <p:cNvSpPr txBox="1"/>
          <p:nvPr>
            <p:ph idx="1" type="body"/>
          </p:nvPr>
        </p:nvSpPr>
        <p:spPr>
          <a:xfrm>
            <a:off x="431971" y="855418"/>
            <a:ext cx="4140029" cy="3807197"/>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Networks are commonly implemented using private IPv4 addresses, as defined in RFC 1918.</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Private IPv4 addresses cannot be routed over the internet and are used within an organization or site to allow devices to communicate locally.</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To allow a device with a private IPv4 address to access devices and resources outside of the local network, the private address must first be translated to a public address.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provides the translation of private addresses to public addresses.</a:t>
            </a:r>
            <a:endParaRPr/>
          </a:p>
        </p:txBody>
      </p:sp>
      <p:graphicFrame>
        <p:nvGraphicFramePr>
          <p:cNvPr id="226" name="Google Shape;226;p2"/>
          <p:cNvGraphicFramePr/>
          <p:nvPr/>
        </p:nvGraphicFramePr>
        <p:xfrm>
          <a:off x="5016842" y="1219248"/>
          <a:ext cx="3000000" cy="3000000"/>
        </p:xfrm>
        <a:graphic>
          <a:graphicData uri="http://schemas.openxmlformats.org/drawingml/2006/table">
            <a:tbl>
              <a:tblPr bandRow="1" firstRow="1">
                <a:noFill/>
                <a:tableStyleId>{370BC76E-671B-4F3C-934D-89C8931EC17E}</a:tableStyleId>
              </a:tblPr>
              <a:tblGrid>
                <a:gridCol w="595200"/>
                <a:gridCol w="2100600"/>
                <a:gridCol w="1027725"/>
              </a:tblGrid>
              <a:tr h="301425">
                <a:tc>
                  <a:txBody>
                    <a:bodyPr/>
                    <a:lstStyle/>
                    <a:p>
                      <a:pPr indent="0" lvl="0" marL="0" marR="0" rtl="0" algn="ctr">
                        <a:lnSpc>
                          <a:spcPct val="100000"/>
                        </a:lnSpc>
                        <a:spcBef>
                          <a:spcPts val="0"/>
                        </a:spcBef>
                        <a:spcAft>
                          <a:spcPts val="0"/>
                        </a:spcAft>
                        <a:buClr>
                          <a:schemeClr val="dk1"/>
                        </a:buClr>
                        <a:buSzPts val="1200"/>
                        <a:buFont typeface="Arial"/>
                        <a:buNone/>
                      </a:pPr>
                      <a:r>
                        <a:rPr lang="en-US" sz="1200" u="none" cap="none" strike="noStrike"/>
                        <a:t>Class</a:t>
                      </a:r>
                      <a:endParaRPr/>
                    </a:p>
                  </a:txBody>
                  <a:tcPr marT="34300" marB="34300" marR="68575" marL="68575" anchor="ctr"/>
                </a:tc>
                <a:tc>
                  <a:txBody>
                    <a:bodyPr/>
                    <a:lstStyle/>
                    <a:p>
                      <a:pPr indent="0" lvl="0" marL="0" marR="0" rtl="0" algn="l">
                        <a:lnSpc>
                          <a:spcPct val="100000"/>
                        </a:lnSpc>
                        <a:spcBef>
                          <a:spcPts val="0"/>
                        </a:spcBef>
                        <a:spcAft>
                          <a:spcPts val="0"/>
                        </a:spcAft>
                        <a:buClr>
                          <a:schemeClr val="dk1"/>
                        </a:buClr>
                        <a:buSzPts val="1200"/>
                        <a:buFont typeface="Arial"/>
                        <a:buNone/>
                      </a:pPr>
                      <a:r>
                        <a:rPr lang="en-US" sz="1200" u="none" cap="none" strike="noStrike"/>
                        <a:t>Activity Type</a:t>
                      </a:r>
                      <a:endParaRPr/>
                    </a:p>
                  </a:txBody>
                  <a:tcPr marT="34300" marB="34300" marR="68575" marL="68575" anchor="ctr"/>
                </a:tc>
                <a:tc>
                  <a:txBody>
                    <a:bodyPr/>
                    <a:lstStyle/>
                    <a:p>
                      <a:pPr indent="0" lvl="0" marL="0" marR="0" rtl="0" algn="l">
                        <a:spcBef>
                          <a:spcPts val="0"/>
                        </a:spcBef>
                        <a:spcAft>
                          <a:spcPts val="0"/>
                        </a:spcAft>
                        <a:buNone/>
                      </a:pPr>
                      <a:r>
                        <a:rPr lang="en-US" sz="1200" u="none" cap="none" strike="noStrike"/>
                        <a:t>Activity Name</a:t>
                      </a:r>
                      <a:endParaRPr/>
                    </a:p>
                  </a:txBody>
                  <a:tcPr marT="34300" marB="34300" marR="68575" marL="68575" anchor="ctr"/>
                </a:tc>
              </a:tr>
              <a:tr h="350775">
                <a:tc>
                  <a:txBody>
                    <a:bodyPr/>
                    <a:lstStyle/>
                    <a:p>
                      <a:pPr indent="0" lvl="0" marL="0" marR="0" rtl="0" algn="ctr">
                        <a:spcBef>
                          <a:spcPts val="0"/>
                        </a:spcBef>
                        <a:spcAft>
                          <a:spcPts val="0"/>
                        </a:spcAft>
                        <a:buNone/>
                      </a:pPr>
                      <a:r>
                        <a:rPr lang="en-US" sz="1100"/>
                        <a:t>A</a:t>
                      </a:r>
                      <a:endParaRPr/>
                    </a:p>
                  </a:txBody>
                  <a:tcPr marT="34300" marB="34300" marR="68575" marL="68575" anchor="ctr"/>
                </a:tc>
                <a:tc>
                  <a:txBody>
                    <a:bodyPr/>
                    <a:lstStyle/>
                    <a:p>
                      <a:pPr indent="0" lvl="0" marL="0" marR="0" rtl="0" algn="l">
                        <a:lnSpc>
                          <a:spcPct val="100000"/>
                        </a:lnSpc>
                        <a:spcBef>
                          <a:spcPts val="0"/>
                        </a:spcBef>
                        <a:spcAft>
                          <a:spcPts val="0"/>
                        </a:spcAft>
                        <a:buClr>
                          <a:schemeClr val="dk1"/>
                        </a:buClr>
                        <a:buSzPts val="1100"/>
                        <a:buFont typeface="Arial"/>
                        <a:buNone/>
                      </a:pPr>
                      <a:r>
                        <a:rPr lang="en-US" sz="1100"/>
                        <a:t>10.0.0.0 – 10.255.255.255</a:t>
                      </a:r>
                      <a:endParaRPr/>
                    </a:p>
                  </a:txBody>
                  <a:tcPr marT="34300" marB="34300" marR="68575" marL="68575" anchor="ctr"/>
                </a:tc>
                <a:tc>
                  <a:txBody>
                    <a:bodyPr/>
                    <a:lstStyle/>
                    <a:p>
                      <a:pPr indent="0" lvl="0" marL="0" marR="0" rtl="0" algn="l">
                        <a:spcBef>
                          <a:spcPts val="0"/>
                        </a:spcBef>
                        <a:spcAft>
                          <a:spcPts val="0"/>
                        </a:spcAft>
                        <a:buNone/>
                      </a:pPr>
                      <a:r>
                        <a:rPr lang="en-US" sz="1100"/>
                        <a:t>10.0.0.0/8</a:t>
                      </a:r>
                      <a:endParaRPr/>
                    </a:p>
                  </a:txBody>
                  <a:tcPr marT="34300" marB="34300" marR="68575" marL="68575" anchor="ctr"/>
                </a:tc>
              </a:tr>
              <a:tr h="350775">
                <a:tc>
                  <a:txBody>
                    <a:bodyPr/>
                    <a:lstStyle/>
                    <a:p>
                      <a:pPr indent="0" lvl="0" marL="0" marR="0" rtl="0" algn="ctr">
                        <a:spcBef>
                          <a:spcPts val="0"/>
                        </a:spcBef>
                        <a:spcAft>
                          <a:spcPts val="0"/>
                        </a:spcAft>
                        <a:buNone/>
                      </a:pPr>
                      <a:r>
                        <a:rPr lang="en-US" sz="1100"/>
                        <a:t>B</a:t>
                      </a:r>
                      <a:endParaRPr/>
                    </a:p>
                  </a:txBody>
                  <a:tcPr marT="34300" marB="34300" marR="68575" marL="68575" anchor="ctr"/>
                </a:tc>
                <a:tc>
                  <a:txBody>
                    <a:bodyPr/>
                    <a:lstStyle/>
                    <a:p>
                      <a:pPr indent="0" lvl="0" marL="0" marR="0" rtl="0" algn="l">
                        <a:lnSpc>
                          <a:spcPct val="100000"/>
                        </a:lnSpc>
                        <a:spcBef>
                          <a:spcPts val="0"/>
                        </a:spcBef>
                        <a:spcAft>
                          <a:spcPts val="0"/>
                        </a:spcAft>
                        <a:buClr>
                          <a:schemeClr val="dk1"/>
                        </a:buClr>
                        <a:buSzPts val="1100"/>
                        <a:buFont typeface="Arial"/>
                        <a:buNone/>
                      </a:pPr>
                      <a:r>
                        <a:rPr lang="en-US" sz="1100"/>
                        <a:t>172.16.0.0 – 172.31.255.255</a:t>
                      </a:r>
                      <a:endParaRPr/>
                    </a:p>
                  </a:txBody>
                  <a:tcPr marT="34300" marB="34300" marR="68575" marL="68575" anchor="ctr"/>
                </a:tc>
                <a:tc>
                  <a:txBody>
                    <a:bodyPr/>
                    <a:lstStyle/>
                    <a:p>
                      <a:pPr indent="0" lvl="0" marL="0" marR="0" rtl="0" algn="l">
                        <a:spcBef>
                          <a:spcPts val="0"/>
                        </a:spcBef>
                        <a:spcAft>
                          <a:spcPts val="0"/>
                        </a:spcAft>
                        <a:buNone/>
                      </a:pPr>
                      <a:r>
                        <a:rPr lang="en-US" sz="1100"/>
                        <a:t>172.16.0.0/12</a:t>
                      </a:r>
                      <a:endParaRPr/>
                    </a:p>
                  </a:txBody>
                  <a:tcPr marT="34300" marB="34300" marR="68575" marL="68575" anchor="ctr"/>
                </a:tc>
              </a:tr>
              <a:tr h="350775">
                <a:tc>
                  <a:txBody>
                    <a:bodyPr/>
                    <a:lstStyle/>
                    <a:p>
                      <a:pPr indent="0" lvl="0" marL="0" marR="0" rtl="0" algn="ctr">
                        <a:spcBef>
                          <a:spcPts val="0"/>
                        </a:spcBef>
                        <a:spcAft>
                          <a:spcPts val="0"/>
                        </a:spcAft>
                        <a:buNone/>
                      </a:pPr>
                      <a:r>
                        <a:rPr lang="en-US" sz="1100"/>
                        <a:t>C</a:t>
                      </a:r>
                      <a:endParaRPr/>
                    </a:p>
                  </a:txBody>
                  <a:tcPr marT="34300" marB="34300" marR="68575" marL="68575" anchor="ctr"/>
                </a:tc>
                <a:tc>
                  <a:txBody>
                    <a:bodyPr/>
                    <a:lstStyle/>
                    <a:p>
                      <a:pPr indent="0" lvl="0" marL="0" marR="0" rtl="0" algn="l">
                        <a:lnSpc>
                          <a:spcPct val="100000"/>
                        </a:lnSpc>
                        <a:spcBef>
                          <a:spcPts val="0"/>
                        </a:spcBef>
                        <a:spcAft>
                          <a:spcPts val="0"/>
                        </a:spcAft>
                        <a:buClr>
                          <a:schemeClr val="dk1"/>
                        </a:buClr>
                        <a:buSzPts val="1100"/>
                        <a:buFont typeface="Arial"/>
                        <a:buNone/>
                      </a:pPr>
                      <a:r>
                        <a:rPr lang="en-US" sz="1100"/>
                        <a:t>192.168.0.0 – 192.168.255.255</a:t>
                      </a:r>
                      <a:endParaRPr/>
                    </a:p>
                  </a:txBody>
                  <a:tcPr marT="34300" marB="34300" marR="68575" marL="68575" anchor="ctr"/>
                </a:tc>
                <a:tc>
                  <a:txBody>
                    <a:bodyPr/>
                    <a:lstStyle/>
                    <a:p>
                      <a:pPr indent="0" lvl="0" marL="0" marR="0" rtl="0" algn="l">
                        <a:lnSpc>
                          <a:spcPct val="100000"/>
                        </a:lnSpc>
                        <a:spcBef>
                          <a:spcPts val="0"/>
                        </a:spcBef>
                        <a:spcAft>
                          <a:spcPts val="0"/>
                        </a:spcAft>
                        <a:buClr>
                          <a:schemeClr val="dk1"/>
                        </a:buClr>
                        <a:buSzPts val="1100"/>
                        <a:buFont typeface="Arial"/>
                        <a:buNone/>
                      </a:pPr>
                      <a:r>
                        <a:rPr lang="en-US" sz="1100"/>
                        <a:t>192.168.0.0/16</a:t>
                      </a:r>
                      <a:endParaRPr/>
                    </a:p>
                  </a:txBody>
                  <a:tcPr marT="34300" marB="34300" marR="68575" marL="68575" anchor="ctr"/>
                </a:tc>
              </a:tr>
            </a:tbl>
          </a:graphicData>
        </a:graphic>
      </p:graphicFrame>
      <p:pic>
        <p:nvPicPr>
          <p:cNvPr id="227" name="Google Shape;227;p2"/>
          <p:cNvPicPr preferRelativeResize="0"/>
          <p:nvPr/>
        </p:nvPicPr>
        <p:blipFill rotWithShape="1">
          <a:blip r:embed="rId3">
            <a:alphaModFix/>
          </a:blip>
          <a:srcRect b="0" l="0" r="0" t="0"/>
          <a:stretch/>
        </p:blipFill>
        <p:spPr>
          <a:xfrm>
            <a:off x="5016842" y="3079599"/>
            <a:ext cx="3621817" cy="130511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What is NAT</a:t>
            </a:r>
            <a:endParaRPr/>
          </a:p>
        </p:txBody>
      </p:sp>
      <p:sp>
        <p:nvSpPr>
          <p:cNvPr id="234" name="Google Shape;234;p3"/>
          <p:cNvSpPr txBox="1"/>
          <p:nvPr>
            <p:ph idx="1" type="body"/>
          </p:nvPr>
        </p:nvSpPr>
        <p:spPr>
          <a:xfrm>
            <a:off x="431971" y="855418"/>
            <a:ext cx="4140029" cy="3807197"/>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The primary use of NAT is to conserve public IPv4 addresses.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allows networks to use private IPv4 addresses internally and translates them to a public address when needed.</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 NAT router typically operates at the border of a stub network.</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When a device inside the stub network wants to communicate with a device outside of its network, the packet is forwarded to the border router which performs the NAT process, translating the internal private address of the device to a public, outside, routable address.</a:t>
            </a:r>
            <a:endParaRPr/>
          </a:p>
          <a:p>
            <a:pPr indent="0" lvl="0" marL="0" rtl="0" algn="l">
              <a:lnSpc>
                <a:spcPct val="100000"/>
              </a:lnSpc>
              <a:spcBef>
                <a:spcPts val="280"/>
              </a:spcBef>
              <a:spcAft>
                <a:spcPts val="0"/>
              </a:spcAft>
              <a:buSzPts val="1400"/>
              <a:buNone/>
            </a:pPr>
            <a:r>
              <a:t/>
            </a:r>
            <a:endParaRPr sz="1400">
              <a:solidFill>
                <a:srgbClr val="000000"/>
              </a:solidFill>
            </a:endParaRPr>
          </a:p>
        </p:txBody>
      </p:sp>
      <p:pic>
        <p:nvPicPr>
          <p:cNvPr id="235" name="Google Shape;235;p3"/>
          <p:cNvPicPr preferRelativeResize="0"/>
          <p:nvPr/>
        </p:nvPicPr>
        <p:blipFill rotWithShape="1">
          <a:blip r:embed="rId3">
            <a:alphaModFix/>
          </a:blip>
          <a:srcRect b="0" l="0" r="0" t="0"/>
          <a:stretch/>
        </p:blipFill>
        <p:spPr>
          <a:xfrm>
            <a:off x="4572000" y="1219522"/>
            <a:ext cx="4230047" cy="270445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NAT Characteristics</a:t>
            </a:r>
            <a:br>
              <a:rPr lang="en-US"/>
            </a:br>
            <a:r>
              <a:rPr lang="en-US" sz="2400"/>
              <a:t>How NAT Works</a:t>
            </a:r>
            <a:endParaRPr/>
          </a:p>
        </p:txBody>
      </p:sp>
      <p:sp>
        <p:nvSpPr>
          <p:cNvPr id="242" name="Google Shape;242;p4"/>
          <p:cNvSpPr txBox="1"/>
          <p:nvPr>
            <p:ph idx="1" type="body"/>
          </p:nvPr>
        </p:nvSpPr>
        <p:spPr>
          <a:xfrm>
            <a:off x="113123" y="731837"/>
            <a:ext cx="5045329" cy="411586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PC1 wants to communicate with an outside web server with public address 209.165.201.1.</a:t>
            </a:r>
            <a:endParaRPr/>
          </a:p>
          <a:p>
            <a:pPr indent="-228600" lvl="0" marL="228600" rtl="0" algn="l">
              <a:lnSpc>
                <a:spcPct val="100000"/>
              </a:lnSpc>
              <a:spcBef>
                <a:spcPts val="280"/>
              </a:spcBef>
              <a:spcAft>
                <a:spcPts val="0"/>
              </a:spcAft>
              <a:buSzPts val="1400"/>
              <a:buFont typeface="Arial"/>
              <a:buAutoNum type="arabicPeriod"/>
            </a:pPr>
            <a:r>
              <a:rPr lang="en-US" sz="1400">
                <a:solidFill>
                  <a:srgbClr val="000000"/>
                </a:solidFill>
              </a:rPr>
              <a:t>PC1 sends a packet addressed to the web server. </a:t>
            </a:r>
            <a:endParaRPr/>
          </a:p>
          <a:p>
            <a:pPr indent="-228600" lvl="0" marL="228600" rtl="0" algn="l">
              <a:lnSpc>
                <a:spcPct val="100000"/>
              </a:lnSpc>
              <a:spcBef>
                <a:spcPts val="280"/>
              </a:spcBef>
              <a:spcAft>
                <a:spcPts val="0"/>
              </a:spcAft>
              <a:buSzPts val="1400"/>
              <a:buFont typeface="Arial"/>
              <a:buAutoNum type="arabicPeriod"/>
            </a:pPr>
            <a:r>
              <a:rPr lang="en-US" sz="1400">
                <a:solidFill>
                  <a:srgbClr val="000000"/>
                </a:solidFill>
              </a:rPr>
              <a:t>R2 receives the packet and reads the source IPv4 address to determine if it needs translation.</a:t>
            </a:r>
            <a:endParaRPr/>
          </a:p>
          <a:p>
            <a:pPr indent="-228600" lvl="0" marL="228600" rtl="0" algn="l">
              <a:lnSpc>
                <a:spcPct val="100000"/>
              </a:lnSpc>
              <a:spcBef>
                <a:spcPts val="280"/>
              </a:spcBef>
              <a:spcAft>
                <a:spcPts val="0"/>
              </a:spcAft>
              <a:buSzPts val="1400"/>
              <a:buFont typeface="Arial"/>
              <a:buAutoNum type="arabicPeriod"/>
            </a:pPr>
            <a:r>
              <a:rPr lang="en-US" sz="1400">
                <a:solidFill>
                  <a:srgbClr val="000000"/>
                </a:solidFill>
              </a:rPr>
              <a:t>R2 adds mapping of the local to global address to the NAT table.</a:t>
            </a:r>
            <a:endParaRPr/>
          </a:p>
          <a:p>
            <a:pPr indent="-228600" lvl="0" marL="228600" rtl="0" algn="l">
              <a:lnSpc>
                <a:spcPct val="100000"/>
              </a:lnSpc>
              <a:spcBef>
                <a:spcPts val="280"/>
              </a:spcBef>
              <a:spcAft>
                <a:spcPts val="0"/>
              </a:spcAft>
              <a:buSzPts val="1400"/>
              <a:buFont typeface="Arial"/>
              <a:buAutoNum type="arabicPeriod"/>
            </a:pPr>
            <a:r>
              <a:rPr lang="en-US" sz="1400">
                <a:solidFill>
                  <a:srgbClr val="000000"/>
                </a:solidFill>
              </a:rPr>
              <a:t>R2 sends the packet with the translated source address toward the destination.</a:t>
            </a:r>
            <a:endParaRPr/>
          </a:p>
          <a:p>
            <a:pPr indent="-228600" lvl="0" marL="228600" rtl="0" algn="l">
              <a:lnSpc>
                <a:spcPct val="100000"/>
              </a:lnSpc>
              <a:spcBef>
                <a:spcPts val="280"/>
              </a:spcBef>
              <a:spcAft>
                <a:spcPts val="0"/>
              </a:spcAft>
              <a:buSzPts val="1400"/>
              <a:buFont typeface="Arial"/>
              <a:buAutoNum type="arabicPeriod"/>
            </a:pPr>
            <a:r>
              <a:rPr lang="en-US" sz="1400">
                <a:solidFill>
                  <a:srgbClr val="000000"/>
                </a:solidFill>
              </a:rPr>
              <a:t>The web server responds with a packet addressed to the inside global address of PC1 (209.165.200.226).</a:t>
            </a:r>
            <a:endParaRPr/>
          </a:p>
          <a:p>
            <a:pPr indent="-228600" lvl="0" marL="228600" rtl="0" algn="l">
              <a:lnSpc>
                <a:spcPct val="100000"/>
              </a:lnSpc>
              <a:spcBef>
                <a:spcPts val="280"/>
              </a:spcBef>
              <a:spcAft>
                <a:spcPts val="0"/>
              </a:spcAft>
              <a:buSzPts val="1400"/>
              <a:buFont typeface="Arial"/>
              <a:buAutoNum type="arabicPeriod"/>
            </a:pPr>
            <a:r>
              <a:rPr lang="en-US" sz="1400">
                <a:solidFill>
                  <a:srgbClr val="000000"/>
                </a:solidFill>
              </a:rPr>
              <a:t>R2 receives the packet with destination address 209.165.200.226. R2 checks the NAT table and finds an entry for this mapping. R2 uses this information and translates the inside global address (209.165.200.226) to the inside local address (192.168.10.10), and the packet is forwarded toward PC1.</a:t>
            </a:r>
            <a:endParaRPr/>
          </a:p>
          <a:p>
            <a:pPr indent="-152400" lvl="0" marL="228600" rtl="0" algn="l">
              <a:lnSpc>
                <a:spcPct val="100000"/>
              </a:lnSpc>
              <a:spcBef>
                <a:spcPts val="240"/>
              </a:spcBef>
              <a:spcAft>
                <a:spcPts val="0"/>
              </a:spcAft>
              <a:buSzPts val="1200"/>
              <a:buFont typeface="Arial"/>
              <a:buNone/>
            </a:pPr>
            <a:r>
              <a:t/>
            </a:r>
            <a:endParaRPr sz="1200">
              <a:solidFill>
                <a:srgbClr val="000000"/>
              </a:solidFill>
            </a:endParaRPr>
          </a:p>
        </p:txBody>
      </p:sp>
      <p:pic>
        <p:nvPicPr>
          <p:cNvPr id="243" name="Google Shape;243;p4"/>
          <p:cNvPicPr preferRelativeResize="0"/>
          <p:nvPr/>
        </p:nvPicPr>
        <p:blipFill rotWithShape="1">
          <a:blip r:embed="rId3">
            <a:alphaModFix/>
          </a:blip>
          <a:srcRect b="0" l="0" r="0" t="0"/>
          <a:stretch/>
        </p:blipFill>
        <p:spPr>
          <a:xfrm>
            <a:off x="5158452" y="1541376"/>
            <a:ext cx="3712798" cy="206074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NAT Terminology</a:t>
            </a:r>
            <a:endParaRPr/>
          </a:p>
        </p:txBody>
      </p:sp>
      <p:sp>
        <p:nvSpPr>
          <p:cNvPr id="250" name="Google Shape;250;p5"/>
          <p:cNvSpPr txBox="1"/>
          <p:nvPr>
            <p:ph idx="1" type="body"/>
          </p:nvPr>
        </p:nvSpPr>
        <p:spPr>
          <a:xfrm>
            <a:off x="431971" y="855418"/>
            <a:ext cx="7913517" cy="38071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NAT includes four types of addresses:</a:t>
            </a:r>
            <a:endParaRPr/>
          </a:p>
          <a:p>
            <a:pPr indent="-285690" lvl="0" marL="285690" rtl="0" algn="l">
              <a:lnSpc>
                <a:spcPct val="100000"/>
              </a:lnSpc>
              <a:spcBef>
                <a:spcPts val="320"/>
              </a:spcBef>
              <a:spcAft>
                <a:spcPts val="0"/>
              </a:spcAft>
              <a:buSzPts val="1600"/>
              <a:buFont typeface="Arial"/>
              <a:buChar char="•"/>
            </a:pPr>
            <a:r>
              <a:rPr lang="en-US" sz="1600">
                <a:solidFill>
                  <a:srgbClr val="000000"/>
                </a:solidFill>
              </a:rPr>
              <a:t>Inside local address</a:t>
            </a:r>
            <a:endParaRPr/>
          </a:p>
          <a:p>
            <a:pPr indent="-285690" lvl="0" marL="285690" rtl="0" algn="l">
              <a:lnSpc>
                <a:spcPct val="100000"/>
              </a:lnSpc>
              <a:spcBef>
                <a:spcPts val="320"/>
              </a:spcBef>
              <a:spcAft>
                <a:spcPts val="0"/>
              </a:spcAft>
              <a:buSzPts val="1600"/>
              <a:buFont typeface="Arial"/>
              <a:buChar char="•"/>
            </a:pPr>
            <a:r>
              <a:rPr lang="en-US" sz="1600">
                <a:solidFill>
                  <a:srgbClr val="000000"/>
                </a:solidFill>
              </a:rPr>
              <a:t>Inside global address</a:t>
            </a:r>
            <a:endParaRPr/>
          </a:p>
          <a:p>
            <a:pPr indent="-285690" lvl="0" marL="285690" rtl="0" algn="l">
              <a:lnSpc>
                <a:spcPct val="100000"/>
              </a:lnSpc>
              <a:spcBef>
                <a:spcPts val="320"/>
              </a:spcBef>
              <a:spcAft>
                <a:spcPts val="0"/>
              </a:spcAft>
              <a:buSzPts val="1600"/>
              <a:buFont typeface="Arial"/>
              <a:buChar char="•"/>
            </a:pPr>
            <a:r>
              <a:rPr lang="en-US" sz="1600">
                <a:solidFill>
                  <a:srgbClr val="000000"/>
                </a:solidFill>
              </a:rPr>
              <a:t>Outside local address</a:t>
            </a:r>
            <a:endParaRPr/>
          </a:p>
          <a:p>
            <a:pPr indent="-285690" lvl="0" marL="285690" rtl="0" algn="l">
              <a:lnSpc>
                <a:spcPct val="100000"/>
              </a:lnSpc>
              <a:spcBef>
                <a:spcPts val="320"/>
              </a:spcBef>
              <a:spcAft>
                <a:spcPts val="0"/>
              </a:spcAft>
              <a:buSzPts val="1600"/>
              <a:buFont typeface="Arial"/>
              <a:buChar char="•"/>
            </a:pPr>
            <a:r>
              <a:rPr lang="en-US" sz="1600">
                <a:solidFill>
                  <a:srgbClr val="000000"/>
                </a:solidFill>
              </a:rPr>
              <a:t>Outside global address</a:t>
            </a:r>
            <a:endParaRPr/>
          </a:p>
          <a:p>
            <a:pPr indent="0" lvl="0" marL="0" rtl="0" algn="l">
              <a:lnSpc>
                <a:spcPct val="100000"/>
              </a:lnSpc>
              <a:spcBef>
                <a:spcPts val="320"/>
              </a:spcBef>
              <a:spcAft>
                <a:spcPts val="0"/>
              </a:spcAft>
              <a:buSzPts val="1600"/>
              <a:buNone/>
            </a:pPr>
            <a:r>
              <a:rPr lang="en-US" sz="1600">
                <a:solidFill>
                  <a:srgbClr val="000000"/>
                </a:solidFill>
              </a:rPr>
              <a:t>NAT terminology is always applied from the perspective of the device with the translated address:</a:t>
            </a:r>
            <a:endParaRPr b="1" sz="1600">
              <a:solidFill>
                <a:srgbClr val="000000"/>
              </a:solidFill>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Inside address</a:t>
            </a:r>
            <a:r>
              <a:rPr lang="en-US" sz="1600">
                <a:solidFill>
                  <a:srgbClr val="000000"/>
                </a:solidFill>
              </a:rPr>
              <a:t> - The address of the device which is being translated by NAT.</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Outside address</a:t>
            </a:r>
            <a:r>
              <a:rPr lang="en-US" sz="1600">
                <a:solidFill>
                  <a:srgbClr val="000000"/>
                </a:solidFill>
              </a:rPr>
              <a:t> - The address of the destination device.</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Local address</a:t>
            </a:r>
            <a:r>
              <a:rPr lang="en-US" sz="1600">
                <a:solidFill>
                  <a:srgbClr val="000000"/>
                </a:solidFill>
              </a:rPr>
              <a:t> - A local address is any address that appears on the inside portion of the network.</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Global address</a:t>
            </a:r>
            <a:r>
              <a:rPr lang="en-US" sz="1600">
                <a:solidFill>
                  <a:srgbClr val="000000"/>
                </a:solidFill>
              </a:rPr>
              <a:t> - A global address is any address that appears on the outside portion of the network.</a:t>
            </a:r>
            <a:endParaRPr/>
          </a:p>
          <a:p>
            <a:pPr indent="0" lvl="0" marL="0" rtl="0" algn="l">
              <a:lnSpc>
                <a:spcPct val="100000"/>
              </a:lnSpc>
              <a:spcBef>
                <a:spcPts val="240"/>
              </a:spcBef>
              <a:spcAft>
                <a:spcPts val="0"/>
              </a:spcAft>
              <a:buSzPts val="1200"/>
              <a:buNone/>
            </a:pPr>
            <a:r>
              <a:t/>
            </a:r>
            <a:endParaRPr sz="1200">
              <a:solidFill>
                <a:srgbClr val="000000"/>
              </a:solidFill>
            </a:endParaRPr>
          </a:p>
          <a:p>
            <a:pPr indent="0" lvl="0" marL="0" rtl="0" algn="l">
              <a:lnSpc>
                <a:spcPct val="100000"/>
              </a:lnSpc>
              <a:spcBef>
                <a:spcPts val="240"/>
              </a:spcBef>
              <a:spcAft>
                <a:spcPts val="0"/>
              </a:spcAft>
              <a:buSzPts val="1200"/>
              <a:buNone/>
            </a:pPr>
            <a:r>
              <a:t/>
            </a:r>
            <a:endParaRPr sz="12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NAT Characteristics</a:t>
            </a:r>
            <a:br>
              <a:rPr lang="en-US"/>
            </a:br>
            <a:r>
              <a:rPr lang="en-US" sz="2400"/>
              <a:t>NAT Terminology (Cont.)</a:t>
            </a:r>
            <a:endParaRPr/>
          </a:p>
        </p:txBody>
      </p:sp>
      <p:sp>
        <p:nvSpPr>
          <p:cNvPr id="257" name="Google Shape;257;p6"/>
          <p:cNvSpPr txBox="1"/>
          <p:nvPr>
            <p:ph idx="1" type="body"/>
          </p:nvPr>
        </p:nvSpPr>
        <p:spPr>
          <a:xfrm>
            <a:off x="237063" y="668151"/>
            <a:ext cx="5023094" cy="38071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b="1" lang="en-US" sz="1400">
                <a:solidFill>
                  <a:srgbClr val="000000"/>
                </a:solidFill>
              </a:rPr>
              <a:t>Inside local address</a:t>
            </a:r>
            <a:endParaRPr/>
          </a:p>
          <a:p>
            <a:pPr indent="0" lvl="0" marL="0" rtl="0" algn="l">
              <a:lnSpc>
                <a:spcPct val="100000"/>
              </a:lnSpc>
              <a:spcBef>
                <a:spcPts val="280"/>
              </a:spcBef>
              <a:spcAft>
                <a:spcPts val="0"/>
              </a:spcAft>
              <a:buSzPts val="1400"/>
              <a:buNone/>
            </a:pPr>
            <a:r>
              <a:rPr lang="en-US" sz="1400">
                <a:solidFill>
                  <a:srgbClr val="000000"/>
                </a:solidFill>
              </a:rPr>
              <a:t>The address of the source as seen from inside the network. This is typically a private IPv4 address. The inside local address of PC1 is 192.168.10.10.</a:t>
            </a:r>
            <a:endParaRPr/>
          </a:p>
          <a:p>
            <a:pPr indent="0" lvl="0" marL="0" rtl="0" algn="l">
              <a:lnSpc>
                <a:spcPct val="100000"/>
              </a:lnSpc>
              <a:spcBef>
                <a:spcPts val="280"/>
              </a:spcBef>
              <a:spcAft>
                <a:spcPts val="0"/>
              </a:spcAft>
              <a:buSzPts val="1400"/>
              <a:buNone/>
            </a:pPr>
            <a:r>
              <a:rPr b="1" lang="en-US" sz="1400">
                <a:solidFill>
                  <a:srgbClr val="000000"/>
                </a:solidFill>
              </a:rPr>
              <a:t>Inside global addresses</a:t>
            </a:r>
            <a:endParaRPr/>
          </a:p>
          <a:p>
            <a:pPr indent="0" lvl="0" marL="0" rtl="0" algn="l">
              <a:lnSpc>
                <a:spcPct val="100000"/>
              </a:lnSpc>
              <a:spcBef>
                <a:spcPts val="280"/>
              </a:spcBef>
              <a:spcAft>
                <a:spcPts val="0"/>
              </a:spcAft>
              <a:buSzPts val="1400"/>
              <a:buNone/>
            </a:pPr>
            <a:r>
              <a:rPr lang="en-US" sz="1400">
                <a:solidFill>
                  <a:srgbClr val="000000"/>
                </a:solidFill>
              </a:rPr>
              <a:t>The address of source as seen from the outside network. The inside global address of PC1 is 209.165.200.226</a:t>
            </a:r>
            <a:endParaRPr/>
          </a:p>
          <a:p>
            <a:pPr indent="0" lvl="0" marL="0" rtl="0" algn="l">
              <a:lnSpc>
                <a:spcPct val="100000"/>
              </a:lnSpc>
              <a:spcBef>
                <a:spcPts val="280"/>
              </a:spcBef>
              <a:spcAft>
                <a:spcPts val="0"/>
              </a:spcAft>
              <a:buSzPts val="1400"/>
              <a:buNone/>
            </a:pPr>
            <a:r>
              <a:rPr b="1" lang="en-US" sz="1400">
                <a:solidFill>
                  <a:srgbClr val="000000"/>
                </a:solidFill>
              </a:rPr>
              <a:t>Outside global address</a:t>
            </a:r>
            <a:endParaRPr/>
          </a:p>
          <a:p>
            <a:pPr indent="0" lvl="0" marL="0" rtl="0" algn="l">
              <a:lnSpc>
                <a:spcPct val="100000"/>
              </a:lnSpc>
              <a:spcBef>
                <a:spcPts val="280"/>
              </a:spcBef>
              <a:spcAft>
                <a:spcPts val="0"/>
              </a:spcAft>
              <a:buSzPts val="1400"/>
              <a:buNone/>
            </a:pPr>
            <a:r>
              <a:rPr lang="en-US" sz="1400">
                <a:solidFill>
                  <a:srgbClr val="000000"/>
                </a:solidFill>
              </a:rPr>
              <a:t>The address of the destination as seen from the outside network. The outside global address of the web server is 209.165.201.1</a:t>
            </a:r>
            <a:endParaRPr/>
          </a:p>
          <a:p>
            <a:pPr indent="0" lvl="0" marL="0" rtl="0" algn="l">
              <a:lnSpc>
                <a:spcPct val="100000"/>
              </a:lnSpc>
              <a:spcBef>
                <a:spcPts val="280"/>
              </a:spcBef>
              <a:spcAft>
                <a:spcPts val="0"/>
              </a:spcAft>
              <a:buSzPts val="1400"/>
              <a:buNone/>
            </a:pPr>
            <a:r>
              <a:rPr b="1" lang="en-US" sz="1400">
                <a:solidFill>
                  <a:srgbClr val="000000"/>
                </a:solidFill>
              </a:rPr>
              <a:t>Outside local address</a:t>
            </a:r>
            <a:endParaRPr/>
          </a:p>
          <a:p>
            <a:pPr indent="0" lvl="0" marL="0" rtl="0" algn="l">
              <a:lnSpc>
                <a:spcPct val="100000"/>
              </a:lnSpc>
              <a:spcBef>
                <a:spcPts val="280"/>
              </a:spcBef>
              <a:spcAft>
                <a:spcPts val="0"/>
              </a:spcAft>
              <a:buSzPts val="1400"/>
              <a:buNone/>
            </a:pPr>
            <a:r>
              <a:rPr lang="en-US" sz="1400">
                <a:solidFill>
                  <a:srgbClr val="000000"/>
                </a:solidFill>
              </a:rPr>
              <a:t>The address of the destination as seen from the inside network. PC1 sends traffic to the web server at the IPv4 address 209.165.201.1. While uncommon, this address could be different than the globally routable address of the destination.</a:t>
            </a:r>
            <a:endParaRPr/>
          </a:p>
        </p:txBody>
      </p:sp>
      <p:pic>
        <p:nvPicPr>
          <p:cNvPr id="258" name="Google Shape;258;p6"/>
          <p:cNvPicPr preferRelativeResize="0"/>
          <p:nvPr/>
        </p:nvPicPr>
        <p:blipFill rotWithShape="1">
          <a:blip r:embed="rId3">
            <a:alphaModFix/>
          </a:blip>
          <a:srcRect b="0" l="0" r="0" t="0"/>
          <a:stretch/>
        </p:blipFill>
        <p:spPr>
          <a:xfrm>
            <a:off x="5439275" y="1327452"/>
            <a:ext cx="3467662" cy="249091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7"/>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            Types of NAT</a:t>
            </a:r>
            <a:endParaRPr/>
          </a:p>
        </p:txBody>
      </p:sp>
    </p:spTree>
  </p:cSld>
  <p:clrMapOvr>
    <a:masterClrMapping/>
  </p:clrMapOvr>
  <p:transition spd="slow">
    <p:wipe dir="l"/>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Static NAT</a:t>
            </a:r>
            <a:endParaRPr/>
          </a:p>
        </p:txBody>
      </p:sp>
      <p:sp>
        <p:nvSpPr>
          <p:cNvPr id="271" name="Google Shape;271;p8"/>
          <p:cNvSpPr txBox="1"/>
          <p:nvPr>
            <p:ph idx="1" type="body"/>
          </p:nvPr>
        </p:nvSpPr>
        <p:spPr>
          <a:xfrm>
            <a:off x="431971" y="855418"/>
            <a:ext cx="4140029" cy="38071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Static NAT uses a one-to-one mapping of local and global addresses configured by the network administrator that remain constant.</a:t>
            </a:r>
            <a:endParaRPr/>
          </a:p>
          <a:p>
            <a:pPr indent="-171450" lvl="0" marL="171450" rtl="0" algn="l">
              <a:lnSpc>
                <a:spcPct val="100000"/>
              </a:lnSpc>
              <a:spcBef>
                <a:spcPts val="320"/>
              </a:spcBef>
              <a:spcAft>
                <a:spcPts val="0"/>
              </a:spcAft>
              <a:buSzPts val="1600"/>
              <a:buFont typeface="Arial"/>
              <a:buChar char="•"/>
            </a:pPr>
            <a:r>
              <a:rPr lang="en-US" sz="1600">
                <a:solidFill>
                  <a:srgbClr val="000000"/>
                </a:solidFill>
              </a:rPr>
              <a:t>Static NAT is useful for web servers or devices that must have a consistent address that is accessible from the internet, such as a company web server. </a:t>
            </a:r>
            <a:endParaRPr/>
          </a:p>
          <a:p>
            <a:pPr indent="-171450" lvl="0" marL="171450" rtl="0" algn="l">
              <a:lnSpc>
                <a:spcPct val="100000"/>
              </a:lnSpc>
              <a:spcBef>
                <a:spcPts val="320"/>
              </a:spcBef>
              <a:spcAft>
                <a:spcPts val="0"/>
              </a:spcAft>
              <a:buSzPts val="1600"/>
              <a:buFont typeface="Arial"/>
              <a:buChar char="•"/>
            </a:pPr>
            <a:r>
              <a:rPr lang="en-US" sz="1600">
                <a:solidFill>
                  <a:srgbClr val="000000"/>
                </a:solidFill>
              </a:rPr>
              <a:t>It is also useful for devices that must be accessible by authorized personnel when offsite, but not by the general public on the internet.</a:t>
            </a:r>
            <a:endParaRPr/>
          </a:p>
        </p:txBody>
      </p:sp>
      <p:sp>
        <p:nvSpPr>
          <p:cNvPr id="272" name="Google Shape;272;p8"/>
          <p:cNvSpPr/>
          <p:nvPr/>
        </p:nvSpPr>
        <p:spPr>
          <a:xfrm>
            <a:off x="4910208" y="3980776"/>
            <a:ext cx="3705891"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Note</a:t>
            </a:r>
            <a:r>
              <a:rPr lang="en-US" sz="1400">
                <a:solidFill>
                  <a:schemeClr val="dk1"/>
                </a:solidFill>
                <a:latin typeface="Arial"/>
                <a:ea typeface="Arial"/>
                <a:cs typeface="Arial"/>
                <a:sym typeface="Arial"/>
              </a:rPr>
              <a:t>: Static NAT requires that enough public addresses are available to satisfy the total number of simultaneous user sessions.</a:t>
            </a:r>
            <a:endParaRPr/>
          </a:p>
        </p:txBody>
      </p:sp>
      <p:pic>
        <p:nvPicPr>
          <p:cNvPr id="273" name="Google Shape;273;p8"/>
          <p:cNvPicPr preferRelativeResize="0"/>
          <p:nvPr/>
        </p:nvPicPr>
        <p:blipFill rotWithShape="1">
          <a:blip r:embed="rId3">
            <a:alphaModFix/>
          </a:blip>
          <a:srcRect b="0" l="0" r="0" t="0"/>
          <a:stretch/>
        </p:blipFill>
        <p:spPr>
          <a:xfrm>
            <a:off x="4910209" y="731837"/>
            <a:ext cx="3801820" cy="309169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Dynamic NAT</a:t>
            </a:r>
            <a:endParaRPr/>
          </a:p>
        </p:txBody>
      </p:sp>
      <p:sp>
        <p:nvSpPr>
          <p:cNvPr id="280" name="Google Shape;280;p9"/>
          <p:cNvSpPr txBox="1"/>
          <p:nvPr>
            <p:ph idx="1" type="body"/>
          </p:nvPr>
        </p:nvSpPr>
        <p:spPr>
          <a:xfrm>
            <a:off x="431971" y="855418"/>
            <a:ext cx="4140029" cy="2293135"/>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Dynamic NAT uses a pool of public addresses and assigns them on a first-come, first-served basis.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When an inside device requests access to an outside network, dynamic NAT assigns an available public IPv4 address from the pool.</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other addresses in the pool are still available for use. </a:t>
            </a:r>
            <a:endParaRPr/>
          </a:p>
        </p:txBody>
      </p:sp>
      <p:sp>
        <p:nvSpPr>
          <p:cNvPr id="281" name="Google Shape;281;p9"/>
          <p:cNvSpPr/>
          <p:nvPr/>
        </p:nvSpPr>
        <p:spPr>
          <a:xfrm>
            <a:off x="337703" y="3268379"/>
            <a:ext cx="4234297"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Note</a:t>
            </a:r>
            <a:r>
              <a:rPr lang="en-US" sz="1600">
                <a:solidFill>
                  <a:schemeClr val="dk1"/>
                </a:solidFill>
                <a:latin typeface="Arial"/>
                <a:ea typeface="Arial"/>
                <a:cs typeface="Arial"/>
                <a:sym typeface="Arial"/>
              </a:rPr>
              <a:t>: Dynamic NAT requires that enough public addresses are available to satisfy the total number of simultaneous user sessions.</a:t>
            </a:r>
            <a:endParaRPr/>
          </a:p>
        </p:txBody>
      </p:sp>
      <p:pic>
        <p:nvPicPr>
          <p:cNvPr id="282" name="Google Shape;282;p9"/>
          <p:cNvPicPr preferRelativeResize="0"/>
          <p:nvPr/>
        </p:nvPicPr>
        <p:blipFill rotWithShape="1">
          <a:blip r:embed="rId3">
            <a:alphaModFix/>
          </a:blip>
          <a:srcRect b="0" l="0" r="0" t="0"/>
          <a:stretch/>
        </p:blipFill>
        <p:spPr>
          <a:xfrm>
            <a:off x="4936604" y="967651"/>
            <a:ext cx="3775425" cy="290089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Port Address Translation</a:t>
            </a:r>
            <a:endParaRPr/>
          </a:p>
        </p:txBody>
      </p:sp>
      <p:sp>
        <p:nvSpPr>
          <p:cNvPr id="289" name="Google Shape;289;p10"/>
          <p:cNvSpPr txBox="1"/>
          <p:nvPr>
            <p:ph idx="1" type="body"/>
          </p:nvPr>
        </p:nvSpPr>
        <p:spPr>
          <a:xfrm>
            <a:off x="431971" y="855418"/>
            <a:ext cx="4140029" cy="38071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Port Address Translation (PAT), also known as NAT overload, maps multiple private IPv4 addresses to a single public IPv4 address or a few addresses.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With PAT, when the NAT router receives a packet from the client, it uses the source port number to uniquely identify the specific NAT translation.</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PAT ensures that devices use a different TCP port number for each session with a server on the internet.</a:t>
            </a:r>
            <a:endParaRPr/>
          </a:p>
        </p:txBody>
      </p:sp>
      <p:pic>
        <p:nvPicPr>
          <p:cNvPr id="290" name="Google Shape;290;p10"/>
          <p:cNvPicPr preferRelativeResize="0"/>
          <p:nvPr/>
        </p:nvPicPr>
        <p:blipFill rotWithShape="1">
          <a:blip r:embed="rId3">
            <a:alphaModFix/>
          </a:blip>
          <a:srcRect b="0" l="0" r="0" t="0"/>
          <a:stretch/>
        </p:blipFill>
        <p:spPr>
          <a:xfrm>
            <a:off x="4819910" y="1136822"/>
            <a:ext cx="3785284" cy="242787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Next Available Port</a:t>
            </a:r>
            <a:endParaRPr/>
          </a:p>
        </p:txBody>
      </p:sp>
      <p:sp>
        <p:nvSpPr>
          <p:cNvPr id="297" name="Google Shape;297;p11"/>
          <p:cNvSpPr txBox="1"/>
          <p:nvPr>
            <p:ph idx="1" type="body"/>
          </p:nvPr>
        </p:nvSpPr>
        <p:spPr>
          <a:xfrm>
            <a:off x="431971" y="855418"/>
            <a:ext cx="4140029" cy="38071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PAT attempts to preserve the original source port. If the original source port is already used, PAT assigns the first available port number starting from the beginning of the appropriate port group 0-511, 512-1,023, or 1,024-65,535.</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When there are no more ports available and there is more than one external address in the address pool, PAT moves to the next address to try to allocate the original source port.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process continues until there are no more available ports or external IPv4 addresses in the address pool.</a:t>
            </a:r>
            <a:endParaRPr/>
          </a:p>
        </p:txBody>
      </p:sp>
      <p:pic>
        <p:nvPicPr>
          <p:cNvPr id="298" name="Google Shape;298;p11"/>
          <p:cNvPicPr preferRelativeResize="0"/>
          <p:nvPr/>
        </p:nvPicPr>
        <p:blipFill rotWithShape="1">
          <a:blip r:embed="rId3">
            <a:alphaModFix/>
          </a:blip>
          <a:srcRect b="0" l="0" r="0" t="0"/>
          <a:stretch/>
        </p:blipFill>
        <p:spPr>
          <a:xfrm>
            <a:off x="4766953" y="1467858"/>
            <a:ext cx="4061689" cy="220778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Types of NAT</a:t>
            </a:r>
            <a:br>
              <a:rPr lang="en-US"/>
            </a:br>
            <a:r>
              <a:rPr lang="en-US" sz="2400"/>
              <a:t>NAT and PAT Comparison</a:t>
            </a:r>
            <a:endParaRPr/>
          </a:p>
        </p:txBody>
      </p:sp>
      <p:sp>
        <p:nvSpPr>
          <p:cNvPr id="305" name="Google Shape;305;p12"/>
          <p:cNvSpPr txBox="1"/>
          <p:nvPr>
            <p:ph idx="1" type="body"/>
          </p:nvPr>
        </p:nvSpPr>
        <p:spPr>
          <a:xfrm>
            <a:off x="431971" y="855418"/>
            <a:ext cx="4140029" cy="84140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Summary of the differences between NAT and PAT.</a:t>
            </a:r>
            <a:endParaRPr/>
          </a:p>
          <a:p>
            <a:pPr indent="0" lvl="0" marL="0" rtl="0" algn="l">
              <a:lnSpc>
                <a:spcPct val="100000"/>
              </a:lnSpc>
              <a:spcBef>
                <a:spcPts val="280"/>
              </a:spcBef>
              <a:spcAft>
                <a:spcPts val="0"/>
              </a:spcAft>
              <a:buSzPts val="1400"/>
              <a:buNone/>
            </a:pPr>
            <a:r>
              <a:rPr b="1" lang="en-US" sz="1400">
                <a:solidFill>
                  <a:srgbClr val="000000"/>
                </a:solidFill>
              </a:rPr>
              <a:t>NAT</a:t>
            </a:r>
            <a:r>
              <a:rPr lang="en-US" sz="1400">
                <a:solidFill>
                  <a:srgbClr val="000000"/>
                </a:solidFill>
              </a:rPr>
              <a:t> - Only modifies the IPv4 addresses</a:t>
            </a:r>
            <a:endParaRPr/>
          </a:p>
          <a:p>
            <a:pPr indent="0" lvl="0" marL="0" rtl="0" algn="l">
              <a:lnSpc>
                <a:spcPct val="100000"/>
              </a:lnSpc>
              <a:spcBef>
                <a:spcPts val="280"/>
              </a:spcBef>
              <a:spcAft>
                <a:spcPts val="0"/>
              </a:spcAft>
              <a:buSzPts val="1400"/>
              <a:buNone/>
            </a:pPr>
            <a:r>
              <a:t/>
            </a:r>
            <a:endParaRPr sz="1400">
              <a:solidFill>
                <a:srgbClr val="000000"/>
              </a:solidFill>
            </a:endParaRPr>
          </a:p>
          <a:p>
            <a:pPr indent="0" lvl="0" marL="0" rtl="0" algn="l">
              <a:lnSpc>
                <a:spcPct val="100000"/>
              </a:lnSpc>
              <a:spcBef>
                <a:spcPts val="280"/>
              </a:spcBef>
              <a:spcAft>
                <a:spcPts val="0"/>
              </a:spcAft>
              <a:buSzPts val="1400"/>
              <a:buNone/>
            </a:pPr>
            <a:r>
              <a:t/>
            </a:r>
            <a:endParaRPr sz="1400">
              <a:solidFill>
                <a:srgbClr val="000000"/>
              </a:solidFill>
            </a:endParaRPr>
          </a:p>
          <a:p>
            <a:pPr indent="0" lvl="0" marL="0" rtl="0" algn="l">
              <a:lnSpc>
                <a:spcPct val="100000"/>
              </a:lnSpc>
              <a:spcBef>
                <a:spcPts val="280"/>
              </a:spcBef>
              <a:spcAft>
                <a:spcPts val="0"/>
              </a:spcAft>
              <a:buSzPts val="1400"/>
              <a:buNone/>
            </a:pPr>
            <a:r>
              <a:t/>
            </a:r>
            <a:endParaRPr sz="1400">
              <a:solidFill>
                <a:srgbClr val="000000"/>
              </a:solidFill>
            </a:endParaRPr>
          </a:p>
          <a:p>
            <a:pPr indent="0" lvl="0" marL="0" rtl="0" algn="l">
              <a:lnSpc>
                <a:spcPct val="100000"/>
              </a:lnSpc>
              <a:spcBef>
                <a:spcPts val="280"/>
              </a:spcBef>
              <a:spcAft>
                <a:spcPts val="0"/>
              </a:spcAft>
              <a:buSzPts val="1400"/>
              <a:buNone/>
            </a:pPr>
            <a:r>
              <a:t/>
            </a:r>
            <a:endParaRPr sz="1400">
              <a:solidFill>
                <a:srgbClr val="000000"/>
              </a:solidFill>
            </a:endParaRPr>
          </a:p>
          <a:p>
            <a:pPr indent="0" lvl="0" marL="0" rtl="0" algn="l">
              <a:lnSpc>
                <a:spcPct val="100000"/>
              </a:lnSpc>
              <a:spcBef>
                <a:spcPts val="280"/>
              </a:spcBef>
              <a:spcAft>
                <a:spcPts val="0"/>
              </a:spcAft>
              <a:buSzPts val="1400"/>
              <a:buNone/>
            </a:pPr>
            <a:r>
              <a:rPr b="1" lang="en-US" sz="1400">
                <a:solidFill>
                  <a:srgbClr val="000000"/>
                </a:solidFill>
              </a:rPr>
              <a:t>PAT</a:t>
            </a:r>
            <a:r>
              <a:rPr lang="en-US" sz="1400">
                <a:solidFill>
                  <a:srgbClr val="000000"/>
                </a:solidFill>
              </a:rPr>
              <a:t> - PAT modifies both the IPv4 address and the port number.</a:t>
            </a:r>
            <a:endParaRPr/>
          </a:p>
        </p:txBody>
      </p:sp>
      <p:graphicFrame>
        <p:nvGraphicFramePr>
          <p:cNvPr id="306" name="Google Shape;306;p12"/>
          <p:cNvGraphicFramePr/>
          <p:nvPr/>
        </p:nvGraphicFramePr>
        <p:xfrm>
          <a:off x="477557" y="1811596"/>
          <a:ext cx="3000000" cy="3000000"/>
        </p:xfrm>
        <a:graphic>
          <a:graphicData uri="http://schemas.openxmlformats.org/drawingml/2006/table">
            <a:tbl>
              <a:tblPr bandRow="1" firstRow="1">
                <a:noFill/>
                <a:tableStyleId>{370BC76E-671B-4F3C-934D-89C8931EC17E}</a:tableStyleId>
              </a:tblPr>
              <a:tblGrid>
                <a:gridCol w="1849025"/>
                <a:gridCol w="1846175"/>
              </a:tblGrid>
              <a:tr h="301425">
                <a:tc>
                  <a:txBody>
                    <a:bodyPr/>
                    <a:lstStyle/>
                    <a:p>
                      <a:pPr indent="0" lvl="0" marL="0" marR="0" rtl="0" algn="l">
                        <a:lnSpc>
                          <a:spcPct val="100000"/>
                        </a:lnSpc>
                        <a:spcBef>
                          <a:spcPts val="0"/>
                        </a:spcBef>
                        <a:spcAft>
                          <a:spcPts val="0"/>
                        </a:spcAft>
                        <a:buClr>
                          <a:schemeClr val="dk1"/>
                        </a:buClr>
                        <a:buSzPts val="1100"/>
                        <a:buFont typeface="Arial"/>
                        <a:buNone/>
                      </a:pPr>
                      <a:r>
                        <a:rPr lang="en-US" sz="1100"/>
                        <a:t>Inside Global Address</a:t>
                      </a:r>
                      <a:endParaRPr/>
                    </a:p>
                  </a:txBody>
                  <a:tcPr marT="34300" marB="34300" marR="68575" marL="68575" anchor="ctr"/>
                </a:tc>
                <a:tc>
                  <a:txBody>
                    <a:bodyPr/>
                    <a:lstStyle/>
                    <a:p>
                      <a:pPr indent="0" lvl="0" marL="0" marR="0" rtl="0" algn="l">
                        <a:spcBef>
                          <a:spcPts val="0"/>
                        </a:spcBef>
                        <a:spcAft>
                          <a:spcPts val="0"/>
                        </a:spcAft>
                        <a:buNone/>
                      </a:pPr>
                      <a:r>
                        <a:rPr lang="en-US" sz="1100"/>
                        <a:t>Inside Local Address</a:t>
                      </a:r>
                      <a:endParaRPr/>
                    </a:p>
                  </a:txBody>
                  <a:tcPr marT="34300" marB="34300" marR="68575" marL="68575" anchor="ctr"/>
                </a:tc>
              </a:tr>
              <a:tr h="350775">
                <a:tc>
                  <a:txBody>
                    <a:bodyPr/>
                    <a:lstStyle/>
                    <a:p>
                      <a:pPr indent="0" lvl="0" marL="0" marR="0" rtl="0" algn="l">
                        <a:lnSpc>
                          <a:spcPct val="100000"/>
                        </a:lnSpc>
                        <a:spcBef>
                          <a:spcPts val="0"/>
                        </a:spcBef>
                        <a:spcAft>
                          <a:spcPts val="0"/>
                        </a:spcAft>
                        <a:buClr>
                          <a:schemeClr val="dk1"/>
                        </a:buClr>
                        <a:buSzPts val="1100"/>
                        <a:buFont typeface="Arial"/>
                        <a:buNone/>
                      </a:pPr>
                      <a:r>
                        <a:rPr lang="en-US" sz="1100"/>
                        <a:t>209.165.200.226</a:t>
                      </a:r>
                      <a:endParaRPr/>
                    </a:p>
                  </a:txBody>
                  <a:tcPr marT="34300" marB="34300" marR="68575" marL="68575" anchor="ctr"/>
                </a:tc>
                <a:tc>
                  <a:txBody>
                    <a:bodyPr/>
                    <a:lstStyle/>
                    <a:p>
                      <a:pPr indent="0" lvl="0" marL="0" marR="0" rtl="0" algn="l">
                        <a:spcBef>
                          <a:spcPts val="0"/>
                        </a:spcBef>
                        <a:spcAft>
                          <a:spcPts val="0"/>
                        </a:spcAft>
                        <a:buNone/>
                      </a:pPr>
                      <a:r>
                        <a:rPr lang="en-US" sz="1100"/>
                        <a:t>192.168.10.10</a:t>
                      </a:r>
                      <a:endParaRPr/>
                    </a:p>
                  </a:txBody>
                  <a:tcPr marT="34300" marB="34300" marR="68575" marL="68575" anchor="ctr"/>
                </a:tc>
              </a:tr>
            </a:tbl>
          </a:graphicData>
        </a:graphic>
      </p:graphicFrame>
      <p:graphicFrame>
        <p:nvGraphicFramePr>
          <p:cNvPr id="307" name="Google Shape;307;p12"/>
          <p:cNvGraphicFramePr/>
          <p:nvPr/>
        </p:nvGraphicFramePr>
        <p:xfrm>
          <a:off x="477557" y="3254870"/>
          <a:ext cx="3000000" cy="3000000"/>
        </p:xfrm>
        <a:graphic>
          <a:graphicData uri="http://schemas.openxmlformats.org/drawingml/2006/table">
            <a:tbl>
              <a:tblPr bandRow="1" firstRow="1">
                <a:noFill/>
                <a:tableStyleId>{370BC76E-671B-4F3C-934D-89C8931EC17E}</a:tableStyleId>
              </a:tblPr>
              <a:tblGrid>
                <a:gridCol w="1849025"/>
                <a:gridCol w="1846175"/>
              </a:tblGrid>
              <a:tr h="301425">
                <a:tc>
                  <a:txBody>
                    <a:bodyPr/>
                    <a:lstStyle/>
                    <a:p>
                      <a:pPr indent="0" lvl="0" marL="0" marR="0" rtl="0" algn="l">
                        <a:lnSpc>
                          <a:spcPct val="100000"/>
                        </a:lnSpc>
                        <a:spcBef>
                          <a:spcPts val="0"/>
                        </a:spcBef>
                        <a:spcAft>
                          <a:spcPts val="0"/>
                        </a:spcAft>
                        <a:buClr>
                          <a:schemeClr val="dk1"/>
                        </a:buClr>
                        <a:buSzPts val="1100"/>
                        <a:buFont typeface="Arial"/>
                        <a:buNone/>
                      </a:pPr>
                      <a:r>
                        <a:rPr lang="en-US" sz="1100"/>
                        <a:t>Inside Global Address</a:t>
                      </a:r>
                      <a:endParaRPr/>
                    </a:p>
                  </a:txBody>
                  <a:tcPr marT="34300" marB="34300" marR="68575" marL="68575" anchor="ctr"/>
                </a:tc>
                <a:tc>
                  <a:txBody>
                    <a:bodyPr/>
                    <a:lstStyle/>
                    <a:p>
                      <a:pPr indent="0" lvl="0" marL="0" marR="0" rtl="0" algn="l">
                        <a:spcBef>
                          <a:spcPts val="0"/>
                        </a:spcBef>
                        <a:spcAft>
                          <a:spcPts val="0"/>
                        </a:spcAft>
                        <a:buNone/>
                      </a:pPr>
                      <a:r>
                        <a:rPr lang="en-US" sz="1100"/>
                        <a:t>Inside Local Address</a:t>
                      </a:r>
                      <a:endParaRPr/>
                    </a:p>
                  </a:txBody>
                  <a:tcPr marT="34300" marB="34300" marR="68575" marL="68575" anchor="ctr"/>
                </a:tc>
              </a:tr>
              <a:tr h="350775">
                <a:tc>
                  <a:txBody>
                    <a:bodyPr/>
                    <a:lstStyle/>
                    <a:p>
                      <a:pPr indent="0" lvl="0" marL="0" marR="0" rtl="0" algn="l">
                        <a:lnSpc>
                          <a:spcPct val="100000"/>
                        </a:lnSpc>
                        <a:spcBef>
                          <a:spcPts val="0"/>
                        </a:spcBef>
                        <a:spcAft>
                          <a:spcPts val="0"/>
                        </a:spcAft>
                        <a:buClr>
                          <a:schemeClr val="dk1"/>
                        </a:buClr>
                        <a:buSzPts val="1100"/>
                        <a:buFont typeface="Arial"/>
                        <a:buNone/>
                      </a:pPr>
                      <a:r>
                        <a:rPr lang="en-US" sz="1100"/>
                        <a:t>209.165.200.226:2031</a:t>
                      </a:r>
                      <a:endParaRPr/>
                    </a:p>
                  </a:txBody>
                  <a:tcPr marT="34300" marB="34300" marR="68575" marL="68575" anchor="ctr"/>
                </a:tc>
                <a:tc>
                  <a:txBody>
                    <a:bodyPr/>
                    <a:lstStyle/>
                    <a:p>
                      <a:pPr indent="0" lvl="0" marL="0" marR="0" rtl="0" algn="l">
                        <a:spcBef>
                          <a:spcPts val="0"/>
                        </a:spcBef>
                        <a:spcAft>
                          <a:spcPts val="0"/>
                        </a:spcAft>
                        <a:buNone/>
                      </a:pPr>
                      <a:r>
                        <a:rPr lang="en-US" sz="1100"/>
                        <a:t>192.168.10.10:2031</a:t>
                      </a:r>
                      <a:endParaRPr/>
                    </a:p>
                  </a:txBody>
                  <a:tcPr marT="34300" marB="34300" marR="68575" marL="68575" anchor="ctr"/>
                </a:tc>
              </a:tr>
            </a:tbl>
          </a:graphicData>
        </a:graphic>
      </p:graphicFrame>
      <p:graphicFrame>
        <p:nvGraphicFramePr>
          <p:cNvPr id="308" name="Google Shape;308;p12"/>
          <p:cNvGraphicFramePr/>
          <p:nvPr/>
        </p:nvGraphicFramePr>
        <p:xfrm>
          <a:off x="5016842" y="855418"/>
          <a:ext cx="3000000" cy="3000000"/>
        </p:xfrm>
        <a:graphic>
          <a:graphicData uri="http://schemas.openxmlformats.org/drawingml/2006/table">
            <a:tbl>
              <a:tblPr bandRow="1" firstRow="1">
                <a:noFill/>
                <a:tableStyleId>{370BC76E-671B-4F3C-934D-89C8931EC17E}</a:tableStyleId>
              </a:tblPr>
              <a:tblGrid>
                <a:gridCol w="1849025"/>
                <a:gridCol w="1846175"/>
              </a:tblGrid>
              <a:tr h="301425">
                <a:tc>
                  <a:txBody>
                    <a:bodyPr/>
                    <a:lstStyle/>
                    <a:p>
                      <a:pPr indent="0" lvl="0" marL="0" marR="0" rtl="0" algn="l">
                        <a:lnSpc>
                          <a:spcPct val="100000"/>
                        </a:lnSpc>
                        <a:spcBef>
                          <a:spcPts val="0"/>
                        </a:spcBef>
                        <a:spcAft>
                          <a:spcPts val="0"/>
                        </a:spcAft>
                        <a:buClr>
                          <a:schemeClr val="dk1"/>
                        </a:buClr>
                        <a:buSzPts val="1100"/>
                        <a:buFont typeface="Arial"/>
                        <a:buNone/>
                      </a:pPr>
                      <a:r>
                        <a:rPr lang="en-US" sz="1100"/>
                        <a:t>NAT</a:t>
                      </a:r>
                      <a:endParaRPr/>
                    </a:p>
                  </a:txBody>
                  <a:tcPr marT="34300" marB="34300" marR="68575" marL="68575" anchor="ctr"/>
                </a:tc>
                <a:tc>
                  <a:txBody>
                    <a:bodyPr/>
                    <a:lstStyle/>
                    <a:p>
                      <a:pPr indent="0" lvl="0" marL="0" marR="0" rtl="0" algn="l">
                        <a:spcBef>
                          <a:spcPts val="0"/>
                        </a:spcBef>
                        <a:spcAft>
                          <a:spcPts val="0"/>
                        </a:spcAft>
                        <a:buNone/>
                      </a:pPr>
                      <a:r>
                        <a:rPr lang="en-US" sz="1100"/>
                        <a:t>PAT</a:t>
                      </a:r>
                      <a:endParaRPr/>
                    </a:p>
                  </a:txBody>
                  <a:tcPr marT="34300" marB="34300" marR="68575" marL="68575" anchor="ctr"/>
                </a:tc>
              </a:tr>
              <a:tr h="350775">
                <a:tc>
                  <a:txBody>
                    <a:bodyPr/>
                    <a:lstStyle/>
                    <a:p>
                      <a:pPr indent="0" lvl="0" marL="0" marR="0" rtl="0" algn="l">
                        <a:lnSpc>
                          <a:spcPct val="100000"/>
                        </a:lnSpc>
                        <a:spcBef>
                          <a:spcPts val="0"/>
                        </a:spcBef>
                        <a:spcAft>
                          <a:spcPts val="0"/>
                        </a:spcAft>
                        <a:buClr>
                          <a:schemeClr val="dk1"/>
                        </a:buClr>
                        <a:buSzPts val="1100"/>
                        <a:buFont typeface="Arial"/>
                        <a:buNone/>
                      </a:pPr>
                      <a:r>
                        <a:rPr lang="en-US" sz="1100"/>
                        <a:t>One-to-one mapping between Inside Local and Inside Global addresses.</a:t>
                      </a:r>
                      <a:endParaRPr/>
                    </a:p>
                  </a:txBody>
                  <a:tcPr marT="34300" marB="34300" marR="68575" marL="68575" anchor="ctr"/>
                </a:tc>
                <a:tc>
                  <a:txBody>
                    <a:bodyPr/>
                    <a:lstStyle/>
                    <a:p>
                      <a:pPr indent="0" lvl="0" marL="0" marR="0" rtl="0" algn="l">
                        <a:spcBef>
                          <a:spcPts val="0"/>
                        </a:spcBef>
                        <a:spcAft>
                          <a:spcPts val="0"/>
                        </a:spcAft>
                        <a:buNone/>
                      </a:pPr>
                      <a:r>
                        <a:rPr lang="en-US" sz="1100"/>
                        <a:t>One Inside Global address can be mapped to many Inside Local addresses.</a:t>
                      </a:r>
                      <a:endParaRPr/>
                    </a:p>
                  </a:txBody>
                  <a:tcPr marT="34300" marB="34300" marR="68575" marL="68575" anchor="ctr"/>
                </a:tc>
              </a:tr>
              <a:tr h="350775">
                <a:tc>
                  <a:txBody>
                    <a:bodyPr/>
                    <a:lstStyle/>
                    <a:p>
                      <a:pPr indent="0" lvl="0" marL="0" marR="0" rtl="0" algn="l">
                        <a:spcBef>
                          <a:spcPts val="0"/>
                        </a:spcBef>
                        <a:spcAft>
                          <a:spcPts val="0"/>
                        </a:spcAft>
                        <a:buNone/>
                      </a:pPr>
                      <a:r>
                        <a:rPr lang="en-US" sz="1100"/>
                        <a:t>Uses only IPv4 addresses in translation process.</a:t>
                      </a:r>
                      <a:endParaRPr/>
                    </a:p>
                  </a:txBody>
                  <a:tcPr marT="45725" marB="45725" marR="91450" marL="91450" anchor="ctr"/>
                </a:tc>
                <a:tc>
                  <a:txBody>
                    <a:bodyPr/>
                    <a:lstStyle/>
                    <a:p>
                      <a:pPr indent="0" lvl="0" marL="0" marR="0" rtl="0" algn="l">
                        <a:spcBef>
                          <a:spcPts val="0"/>
                        </a:spcBef>
                        <a:spcAft>
                          <a:spcPts val="0"/>
                        </a:spcAft>
                        <a:buNone/>
                      </a:pPr>
                      <a:r>
                        <a:rPr lang="en-US" sz="1100"/>
                        <a:t>Uses IPv4 addresses and TCP or UDP source port numbers in translation process.</a:t>
                      </a:r>
                      <a:endParaRPr/>
                    </a:p>
                  </a:txBody>
                  <a:tcPr marT="45725" marB="45725" marR="91450" marL="91450" anchor="ctr"/>
                </a:tc>
              </a:tr>
              <a:tr h="350775">
                <a:tc>
                  <a:txBody>
                    <a:bodyPr/>
                    <a:lstStyle/>
                    <a:p>
                      <a:pPr indent="0" lvl="0" marL="0" marR="0" rtl="0" algn="l">
                        <a:spcBef>
                          <a:spcPts val="0"/>
                        </a:spcBef>
                        <a:spcAft>
                          <a:spcPts val="0"/>
                        </a:spcAft>
                        <a:buNone/>
                      </a:pPr>
                      <a:r>
                        <a:rPr lang="en-US" sz="1100"/>
                        <a:t>A unique Inside Global address is required for each inside host accessing the outside network.</a:t>
                      </a:r>
                      <a:endParaRPr/>
                    </a:p>
                  </a:txBody>
                  <a:tcPr marT="45725" marB="45725" marR="91450" marL="91450" anchor="ctr"/>
                </a:tc>
                <a:tc>
                  <a:txBody>
                    <a:bodyPr/>
                    <a:lstStyle/>
                    <a:p>
                      <a:pPr indent="0" lvl="0" marL="0" marR="0" rtl="0" algn="l">
                        <a:spcBef>
                          <a:spcPts val="0"/>
                        </a:spcBef>
                        <a:spcAft>
                          <a:spcPts val="0"/>
                        </a:spcAft>
                        <a:buNone/>
                      </a:pPr>
                      <a:r>
                        <a:rPr lang="en-US" sz="1100"/>
                        <a:t>A single unique Inside Global address can be shared by many inside hosts accessing the outside network.</a:t>
                      </a:r>
                      <a:endParaRPr/>
                    </a:p>
                  </a:txBody>
                  <a:tcPr marT="45725" marB="45725" marR="91450" marL="91450"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Advantages of NAT</a:t>
            </a:r>
            <a:endParaRPr/>
          </a:p>
        </p:txBody>
      </p:sp>
      <p:sp>
        <p:nvSpPr>
          <p:cNvPr id="315" name="Google Shape;315;p13"/>
          <p:cNvSpPr txBox="1"/>
          <p:nvPr>
            <p:ph idx="1" type="body"/>
          </p:nvPr>
        </p:nvSpPr>
        <p:spPr>
          <a:xfrm>
            <a:off x="431971" y="855419"/>
            <a:ext cx="8020051" cy="257976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NAT provides many benefits: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conserves the legally registered addressing scheme by allowing the privatization of intranets.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conserves addresses through application port-level multiplexing.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increases the flexibility of connections to the public network.</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provides consistency for internal network addressing schemes.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allows the existing private IPv4 address scheme to remain while allowing for easy change to a new public addressing scheme.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hides the IPv4 addresses of users and other devices. </a:t>
            </a:r>
            <a:endParaRPr sz="14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Disadvantages of NAT</a:t>
            </a:r>
            <a:endParaRPr/>
          </a:p>
        </p:txBody>
      </p:sp>
      <p:sp>
        <p:nvSpPr>
          <p:cNvPr id="322" name="Google Shape;322;p14"/>
          <p:cNvSpPr txBox="1"/>
          <p:nvPr>
            <p:ph idx="1" type="body"/>
          </p:nvPr>
        </p:nvSpPr>
        <p:spPr>
          <a:xfrm>
            <a:off x="431971" y="855419"/>
            <a:ext cx="8020051" cy="257976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NAT does have drawbacks: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increases forwarding delays.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End-to-end addressing is lost.</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End-to-end IPv4 traceability is lost.</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NAT complicates the use of tunneling protocols, such as IPsec.</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Services that require the initiation of TCP connections from the outside network, or stateless protocols, such as those using UDP, can be disrupted. </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a:p>
            <a:pPr indent="-196850" lvl="0" marL="285750" rtl="0" algn="l">
              <a:lnSpc>
                <a:spcPct val="100000"/>
              </a:lnSpc>
              <a:spcBef>
                <a:spcPts val="280"/>
              </a:spcBef>
              <a:spcAft>
                <a:spcPts val="0"/>
              </a:spcAft>
              <a:buSzPts val="1400"/>
              <a:buFont typeface="Arial"/>
              <a:buNone/>
            </a:pPr>
            <a:r>
              <a:t/>
            </a:r>
            <a:endParaRPr sz="14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5"/>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    Static NAT</a:t>
            </a:r>
            <a:endParaRPr/>
          </a:p>
        </p:txBody>
      </p:sp>
    </p:spTree>
  </p:cSld>
  <p:clrMapOvr>
    <a:masterClrMapping/>
  </p:clrMapOvr>
  <p:transition spd="slow">
    <p:wipe dir="l"/>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1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Static NAT Scenario</a:t>
            </a:r>
            <a:endParaRPr/>
          </a:p>
        </p:txBody>
      </p:sp>
      <p:sp>
        <p:nvSpPr>
          <p:cNvPr id="335" name="Google Shape;335;p16"/>
          <p:cNvSpPr txBox="1"/>
          <p:nvPr>
            <p:ph idx="1" type="body"/>
          </p:nvPr>
        </p:nvSpPr>
        <p:spPr>
          <a:xfrm>
            <a:off x="431971" y="855418"/>
            <a:ext cx="4140029" cy="3510635"/>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800"/>
              <a:buFont typeface="Arial"/>
              <a:buChar char="•"/>
            </a:pPr>
            <a:r>
              <a:rPr lang="en-US" sz="1800">
                <a:solidFill>
                  <a:srgbClr val="000000"/>
                </a:solidFill>
              </a:rPr>
              <a:t>Static NAT is a one-to-one mapping between an inside address and an outside address. </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Static NAT allows external devices to initiate connections to internal devices using the statically assigned public address. </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For instance, an internal web server may be mapped to a specific inside global address so that it is accessible from outside networks.</a:t>
            </a:r>
            <a:endParaRPr sz="1600">
              <a:solidFill>
                <a:srgbClr val="000000"/>
              </a:solidFill>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a:p>
            <a:pPr indent="-196850" lvl="0" marL="285750" rtl="0" algn="l">
              <a:lnSpc>
                <a:spcPct val="100000"/>
              </a:lnSpc>
              <a:spcBef>
                <a:spcPts val="280"/>
              </a:spcBef>
              <a:spcAft>
                <a:spcPts val="0"/>
              </a:spcAft>
              <a:buSzPts val="1400"/>
              <a:buFont typeface="Arial"/>
              <a:buNone/>
            </a:pPr>
            <a:r>
              <a:t/>
            </a:r>
            <a:endParaRPr sz="1400">
              <a:solidFill>
                <a:srgbClr val="000000"/>
              </a:solidFill>
            </a:endParaRPr>
          </a:p>
        </p:txBody>
      </p:sp>
      <p:pic>
        <p:nvPicPr>
          <p:cNvPr id="336" name="Google Shape;336;p16"/>
          <p:cNvPicPr preferRelativeResize="0"/>
          <p:nvPr/>
        </p:nvPicPr>
        <p:blipFill rotWithShape="1">
          <a:blip r:embed="rId3">
            <a:alphaModFix/>
          </a:blip>
          <a:srcRect b="0" l="0" r="0" t="0"/>
          <a:stretch/>
        </p:blipFill>
        <p:spPr>
          <a:xfrm>
            <a:off x="4741003" y="1694420"/>
            <a:ext cx="4002202" cy="175466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Configure Static NAT</a:t>
            </a:r>
            <a:endParaRPr/>
          </a:p>
        </p:txBody>
      </p:sp>
      <p:sp>
        <p:nvSpPr>
          <p:cNvPr id="343" name="Google Shape;343;p17"/>
          <p:cNvSpPr txBox="1"/>
          <p:nvPr>
            <p:ph idx="1" type="body"/>
          </p:nvPr>
        </p:nvSpPr>
        <p:spPr>
          <a:xfrm>
            <a:off x="431971" y="855418"/>
            <a:ext cx="7913517" cy="1614405"/>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2000"/>
              <a:buNone/>
            </a:pPr>
            <a:r>
              <a:rPr lang="en-US">
                <a:solidFill>
                  <a:srgbClr val="000000"/>
                </a:solidFill>
              </a:rPr>
              <a:t>There are two basic tasks when configuring static NAT translations:</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Step 1 </a:t>
            </a:r>
            <a:r>
              <a:rPr lang="en-US" sz="1600">
                <a:solidFill>
                  <a:srgbClr val="000000"/>
                </a:solidFill>
              </a:rPr>
              <a:t>- Create a mapping between the inside local address and the inside global addresses using the </a:t>
            </a:r>
            <a:r>
              <a:rPr b="1" lang="en-US" sz="1600">
                <a:solidFill>
                  <a:srgbClr val="000000"/>
                </a:solidFill>
              </a:rPr>
              <a:t>ip nat inside source static </a:t>
            </a:r>
            <a:r>
              <a:rPr lang="en-US" sz="1600">
                <a:solidFill>
                  <a:srgbClr val="000000"/>
                </a:solidFill>
              </a:rPr>
              <a:t>command.</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Step 2</a:t>
            </a:r>
            <a:r>
              <a:rPr lang="en-US" sz="1600">
                <a:solidFill>
                  <a:srgbClr val="000000"/>
                </a:solidFill>
              </a:rPr>
              <a:t> - The interfaces participating in the translation are configured as inside or outside relative to NAT with the </a:t>
            </a:r>
            <a:r>
              <a:rPr b="1" lang="en-US" sz="1600">
                <a:solidFill>
                  <a:srgbClr val="000000"/>
                </a:solidFill>
              </a:rPr>
              <a:t>ip nat inside </a:t>
            </a:r>
            <a:r>
              <a:rPr lang="en-US" sz="1600">
                <a:solidFill>
                  <a:srgbClr val="000000"/>
                </a:solidFill>
              </a:rPr>
              <a:t>and </a:t>
            </a:r>
            <a:r>
              <a:rPr b="1" lang="en-US" sz="1600">
                <a:solidFill>
                  <a:srgbClr val="000000"/>
                </a:solidFill>
              </a:rPr>
              <a:t>ip nat outside </a:t>
            </a:r>
            <a:r>
              <a:rPr lang="en-US" sz="1600">
                <a:solidFill>
                  <a:srgbClr val="000000"/>
                </a:solidFill>
              </a:rPr>
              <a:t>commands.</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
        <p:nvSpPr>
          <p:cNvPr id="344" name="Google Shape;344;p17"/>
          <p:cNvSpPr txBox="1"/>
          <p:nvPr/>
        </p:nvSpPr>
        <p:spPr>
          <a:xfrm>
            <a:off x="1056803" y="2741505"/>
            <a:ext cx="5634876" cy="1546577"/>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 </a:t>
            </a:r>
            <a:r>
              <a:rPr b="1" lang="en-US" sz="1050">
                <a:solidFill>
                  <a:srgbClr val="CA8403"/>
                </a:solidFill>
                <a:latin typeface="Courier New"/>
                <a:ea typeface="Courier New"/>
                <a:cs typeface="Courier New"/>
                <a:sym typeface="Courier New"/>
              </a:rPr>
              <a:t>ip nat inside source static 192.168.10.254 209.165.201.5</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 </a:t>
            </a:r>
            <a:r>
              <a:rPr b="1" lang="en-US" sz="1050">
                <a:solidFill>
                  <a:schemeClr val="lt1"/>
                </a:solidFill>
                <a:latin typeface="Courier New"/>
                <a:ea typeface="Courier New"/>
                <a:cs typeface="Courier New"/>
                <a:sym typeface="Courier New"/>
              </a:rPr>
              <a:t>interface serial 0/1/0</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R2(config-if)# </a:t>
            </a:r>
            <a:r>
              <a:rPr b="1" lang="en-US" sz="1050">
                <a:solidFill>
                  <a:schemeClr val="lt1"/>
                </a:solidFill>
                <a:latin typeface="Courier New"/>
                <a:ea typeface="Courier New"/>
                <a:cs typeface="Courier New"/>
                <a:sym typeface="Courier New"/>
              </a:rPr>
              <a:t>ip address 192.168.1.2 255.255.255.252</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R2(config-if)# </a:t>
            </a:r>
            <a:r>
              <a:rPr b="1" lang="en-US" sz="1050">
                <a:solidFill>
                  <a:srgbClr val="CA8403"/>
                </a:solidFill>
                <a:latin typeface="Courier New"/>
                <a:ea typeface="Courier New"/>
                <a:cs typeface="Courier New"/>
                <a:sym typeface="Courier New"/>
              </a:rPr>
              <a:t>ip nat inside</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R2(config-if)# </a:t>
            </a:r>
            <a:r>
              <a:rPr b="1" lang="en-US" sz="1050">
                <a:solidFill>
                  <a:schemeClr val="lt1"/>
                </a:solidFill>
                <a:latin typeface="Courier New"/>
                <a:ea typeface="Courier New"/>
                <a:cs typeface="Courier New"/>
                <a:sym typeface="Courier New"/>
              </a:rPr>
              <a:t>exit</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 </a:t>
            </a:r>
            <a:r>
              <a:rPr b="1" lang="en-US" sz="1050">
                <a:solidFill>
                  <a:schemeClr val="lt1"/>
                </a:solidFill>
                <a:latin typeface="Courier New"/>
                <a:ea typeface="Courier New"/>
                <a:cs typeface="Courier New"/>
                <a:sym typeface="Courier New"/>
              </a:rPr>
              <a:t>interface serial 0/1/1</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R2(config-if)# </a:t>
            </a:r>
            <a:r>
              <a:rPr b="1" lang="en-US" sz="1050">
                <a:solidFill>
                  <a:schemeClr val="lt1"/>
                </a:solidFill>
                <a:latin typeface="Courier New"/>
                <a:ea typeface="Courier New"/>
                <a:cs typeface="Courier New"/>
                <a:sym typeface="Courier New"/>
              </a:rPr>
              <a:t>ip address 209.165.200.1 255.255.255.252</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R2(config-if)# </a:t>
            </a:r>
            <a:r>
              <a:rPr b="1" lang="en-US" sz="1050">
                <a:solidFill>
                  <a:srgbClr val="CA8403"/>
                </a:solidFill>
                <a:latin typeface="Courier New"/>
                <a:ea typeface="Courier New"/>
                <a:cs typeface="Courier New"/>
                <a:sym typeface="Courier New"/>
              </a:rPr>
              <a:t>ip nat outside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1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Analyze Static NAT</a:t>
            </a:r>
            <a:endParaRPr/>
          </a:p>
        </p:txBody>
      </p:sp>
      <p:sp>
        <p:nvSpPr>
          <p:cNvPr id="351" name="Google Shape;351;p18"/>
          <p:cNvSpPr txBox="1"/>
          <p:nvPr>
            <p:ph idx="1" type="body"/>
          </p:nvPr>
        </p:nvSpPr>
        <p:spPr>
          <a:xfrm>
            <a:off x="104396" y="613610"/>
            <a:ext cx="4920091" cy="3916279"/>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static NAT translation process between the client and the web server:</a:t>
            </a:r>
            <a:endParaRPr/>
          </a:p>
          <a:p>
            <a:pPr indent="-228600" lvl="0" marL="228600" rtl="0" algn="l">
              <a:lnSpc>
                <a:spcPct val="100000"/>
              </a:lnSpc>
              <a:spcBef>
                <a:spcPts val="320"/>
              </a:spcBef>
              <a:spcAft>
                <a:spcPts val="0"/>
              </a:spcAft>
              <a:buSzPts val="1600"/>
              <a:buFont typeface="Arial"/>
              <a:buAutoNum type="arabicPeriod"/>
            </a:pPr>
            <a:r>
              <a:rPr lang="en-US" sz="1600">
                <a:solidFill>
                  <a:srgbClr val="000000"/>
                </a:solidFill>
              </a:rPr>
              <a:t>The client sends a packet to the web server.</a:t>
            </a:r>
            <a:endParaRPr/>
          </a:p>
          <a:p>
            <a:pPr indent="-228600" lvl="0" marL="228600" rtl="0" algn="l">
              <a:lnSpc>
                <a:spcPct val="100000"/>
              </a:lnSpc>
              <a:spcBef>
                <a:spcPts val="320"/>
              </a:spcBef>
              <a:spcAft>
                <a:spcPts val="0"/>
              </a:spcAft>
              <a:buSzPts val="1600"/>
              <a:buFont typeface="Arial"/>
              <a:buAutoNum type="arabicPeriod"/>
            </a:pPr>
            <a:r>
              <a:rPr lang="en-US" sz="1600">
                <a:solidFill>
                  <a:srgbClr val="000000"/>
                </a:solidFill>
              </a:rPr>
              <a:t>R2 receives packets from the client on its NAT outside interface and checks its NAT table. </a:t>
            </a:r>
            <a:endParaRPr/>
          </a:p>
          <a:p>
            <a:pPr indent="-228600" lvl="0" marL="228600" rtl="0" algn="l">
              <a:lnSpc>
                <a:spcPct val="100000"/>
              </a:lnSpc>
              <a:spcBef>
                <a:spcPts val="320"/>
              </a:spcBef>
              <a:spcAft>
                <a:spcPts val="0"/>
              </a:spcAft>
              <a:buSzPts val="1600"/>
              <a:buFont typeface="Arial"/>
              <a:buAutoNum type="arabicPeriod"/>
            </a:pPr>
            <a:r>
              <a:rPr lang="en-US" sz="1600">
                <a:solidFill>
                  <a:srgbClr val="000000"/>
                </a:solidFill>
              </a:rPr>
              <a:t>R2 translates the inside global address of to the inside local address and forwards the packet towards the web server.</a:t>
            </a:r>
            <a:endParaRPr/>
          </a:p>
          <a:p>
            <a:pPr indent="-228600" lvl="0" marL="228600" rtl="0" algn="l">
              <a:lnSpc>
                <a:spcPct val="100000"/>
              </a:lnSpc>
              <a:spcBef>
                <a:spcPts val="320"/>
              </a:spcBef>
              <a:spcAft>
                <a:spcPts val="0"/>
              </a:spcAft>
              <a:buSzPts val="1600"/>
              <a:buFont typeface="Arial"/>
              <a:buAutoNum type="arabicPeriod"/>
            </a:pPr>
            <a:r>
              <a:rPr lang="en-US" sz="1600">
                <a:solidFill>
                  <a:srgbClr val="000000"/>
                </a:solidFill>
              </a:rPr>
              <a:t>The web server receives the packet and responds to the client using its inside local address.</a:t>
            </a:r>
            <a:endParaRPr/>
          </a:p>
          <a:p>
            <a:pPr indent="-228600" lvl="0" marL="228600" rtl="0" algn="l">
              <a:lnSpc>
                <a:spcPct val="100000"/>
              </a:lnSpc>
              <a:spcBef>
                <a:spcPts val="320"/>
              </a:spcBef>
              <a:spcAft>
                <a:spcPts val="0"/>
              </a:spcAft>
              <a:buSzPts val="1600"/>
              <a:buFont typeface="Arial"/>
              <a:buAutoNum type="arabicPeriod"/>
            </a:pPr>
            <a:r>
              <a:rPr lang="en-US" sz="1600">
                <a:solidFill>
                  <a:srgbClr val="000000"/>
                </a:solidFill>
              </a:rPr>
              <a:t>(a) R2 receives the packet from the web server on its NAT inside interface with source address of the inside local address of the web server and (b) translates the source address to the inside global address. </a:t>
            </a:r>
            <a:endParaRPr/>
          </a:p>
        </p:txBody>
      </p:sp>
      <p:pic>
        <p:nvPicPr>
          <p:cNvPr id="352" name="Google Shape;352;p18"/>
          <p:cNvPicPr preferRelativeResize="0"/>
          <p:nvPr/>
        </p:nvPicPr>
        <p:blipFill rotWithShape="1">
          <a:blip r:embed="rId3">
            <a:alphaModFix/>
          </a:blip>
          <a:srcRect b="0" l="0" r="0" t="0"/>
          <a:stretch/>
        </p:blipFill>
        <p:spPr>
          <a:xfrm>
            <a:off x="5024487" y="1243862"/>
            <a:ext cx="4093595" cy="242953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Verify Static NAT</a:t>
            </a:r>
            <a:endParaRPr/>
          </a:p>
        </p:txBody>
      </p:sp>
      <p:sp>
        <p:nvSpPr>
          <p:cNvPr id="359" name="Google Shape;359;p19"/>
          <p:cNvSpPr txBox="1"/>
          <p:nvPr>
            <p:ph idx="1" type="body"/>
          </p:nvPr>
        </p:nvSpPr>
        <p:spPr>
          <a:xfrm>
            <a:off x="278922" y="731837"/>
            <a:ext cx="8345488" cy="146736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To verify NAT operation, issue the </a:t>
            </a:r>
            <a:r>
              <a:rPr b="1" lang="en-US" sz="1600">
                <a:solidFill>
                  <a:srgbClr val="000000"/>
                </a:solidFill>
              </a:rPr>
              <a:t>show ip nat translations</a:t>
            </a:r>
            <a:r>
              <a:rPr lang="en-US" sz="1600">
                <a:solidFill>
                  <a:srgbClr val="000000"/>
                </a:solidFill>
              </a:rPr>
              <a:t> command.</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This command shows active NAT translations.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Because the example is a static NAT configuration, the translation is always present in the NAT table regardless of any active communications.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If the command is issued during an active session, the output also indicates the address of the outside device.</a:t>
            </a:r>
            <a:endParaRPr/>
          </a:p>
        </p:txBody>
      </p:sp>
      <p:sp>
        <p:nvSpPr>
          <p:cNvPr id="360" name="Google Shape;360;p19"/>
          <p:cNvSpPr txBox="1"/>
          <p:nvPr/>
        </p:nvSpPr>
        <p:spPr>
          <a:xfrm>
            <a:off x="547392" y="2571750"/>
            <a:ext cx="7808548" cy="738664"/>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 </a:t>
            </a:r>
            <a:r>
              <a:rPr b="1" lang="en-US" sz="1050">
                <a:solidFill>
                  <a:schemeClr val="lt1"/>
                </a:solidFill>
                <a:latin typeface="Courier New"/>
                <a:ea typeface="Courier New"/>
                <a:cs typeface="Courier New"/>
                <a:sym typeface="Courier New"/>
              </a:rPr>
              <a:t>show ip nat translations</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Pro  Inside global       Inside local       Outside local     Outside global</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  209.165.201.5       192.168.10.254     ---               ---</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Total number of translations: 1</a:t>
            </a:r>
            <a:endParaRPr b="1" sz="1050">
              <a:solidFill>
                <a:srgbClr val="CA8403"/>
              </a:solidFill>
              <a:latin typeface="Courier New"/>
              <a:ea typeface="Courier New"/>
              <a:cs typeface="Courier New"/>
              <a:sym typeface="Courier New"/>
            </a:endParaRPr>
          </a:p>
        </p:txBody>
      </p:sp>
      <p:sp>
        <p:nvSpPr>
          <p:cNvPr id="361" name="Google Shape;361;p19"/>
          <p:cNvSpPr txBox="1"/>
          <p:nvPr/>
        </p:nvSpPr>
        <p:spPr>
          <a:xfrm>
            <a:off x="547392" y="3623619"/>
            <a:ext cx="6756978" cy="900246"/>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 </a:t>
            </a:r>
            <a:r>
              <a:rPr b="1" lang="en-US" sz="1050">
                <a:solidFill>
                  <a:schemeClr val="lt1"/>
                </a:solidFill>
                <a:latin typeface="Courier New"/>
                <a:ea typeface="Courier New"/>
                <a:cs typeface="Courier New"/>
                <a:sym typeface="Courier New"/>
              </a:rPr>
              <a:t>show ip nat translations</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Pro  Inside global       Inside local        Outside local         Outside global</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tcp  209.165.201.5       192.168.10.254      209.165.200.254       209.165.200.254</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  209.165.201.5       192.168.10.254        ---                   ---</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Total number of translations: 2</a:t>
            </a:r>
            <a:endParaRPr b="1" sz="1050">
              <a:solidFill>
                <a:srgbClr val="CA8403"/>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Static NAT</a:t>
            </a:r>
            <a:br>
              <a:rPr lang="en-US"/>
            </a:br>
            <a:r>
              <a:rPr lang="en-US" sz="2400"/>
              <a:t>Verify Static NAT (Cont.)</a:t>
            </a:r>
            <a:endParaRPr/>
          </a:p>
        </p:txBody>
      </p:sp>
      <p:sp>
        <p:nvSpPr>
          <p:cNvPr id="368" name="Google Shape;368;p20"/>
          <p:cNvSpPr txBox="1"/>
          <p:nvPr>
            <p:ph idx="1" type="body"/>
          </p:nvPr>
        </p:nvSpPr>
        <p:spPr>
          <a:xfrm>
            <a:off x="431971" y="855419"/>
            <a:ext cx="7913517" cy="146736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Another useful command is </a:t>
            </a:r>
            <a:r>
              <a:rPr b="1" lang="en-US" sz="1600">
                <a:solidFill>
                  <a:srgbClr val="000000"/>
                </a:solidFill>
              </a:rPr>
              <a:t>show ip nat statistics.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It displays information about the total number of active translations, NAT configuration parameters, the number of addresses in the pool, and the number of addresses that have been allocated.</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To verify that the NAT translation is working, it is best to clear statistics from any past translations using the </a:t>
            </a:r>
            <a:r>
              <a:rPr b="1" lang="en-US" sz="1600">
                <a:solidFill>
                  <a:srgbClr val="000000"/>
                </a:solidFill>
              </a:rPr>
              <a:t>clear ip nat statistics</a:t>
            </a:r>
            <a:r>
              <a:rPr lang="en-US" sz="1600">
                <a:solidFill>
                  <a:srgbClr val="000000"/>
                </a:solidFill>
              </a:rPr>
              <a:t> command before testing.</a:t>
            </a:r>
            <a:endParaRPr/>
          </a:p>
        </p:txBody>
      </p:sp>
      <p:sp>
        <p:nvSpPr>
          <p:cNvPr id="369" name="Google Shape;369;p20"/>
          <p:cNvSpPr txBox="1"/>
          <p:nvPr/>
        </p:nvSpPr>
        <p:spPr>
          <a:xfrm>
            <a:off x="536940" y="2897732"/>
            <a:ext cx="7808548" cy="1569660"/>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Courier New"/>
                <a:ea typeface="Courier New"/>
                <a:cs typeface="Courier New"/>
                <a:sym typeface="Courier New"/>
              </a:rPr>
              <a:t>R2# </a:t>
            </a:r>
            <a:r>
              <a:rPr b="1" lang="en-US" sz="1200">
                <a:solidFill>
                  <a:schemeClr val="lt1"/>
                </a:solidFill>
                <a:latin typeface="Courier New"/>
                <a:ea typeface="Courier New"/>
                <a:cs typeface="Courier New"/>
                <a:sym typeface="Courier New"/>
              </a:rPr>
              <a:t>show ip nat statistics</a:t>
            </a:r>
            <a:endParaRPr/>
          </a:p>
          <a:p>
            <a:pPr indent="0" lvl="0" marL="0" marR="0" rtl="0" algn="l">
              <a:spcBef>
                <a:spcPts val="0"/>
              </a:spcBef>
              <a:spcAft>
                <a:spcPts val="0"/>
              </a:spcAft>
              <a:buNone/>
            </a:pPr>
            <a:r>
              <a:rPr lang="en-US" sz="1200">
                <a:solidFill>
                  <a:schemeClr val="lt1"/>
                </a:solidFill>
                <a:latin typeface="Courier New"/>
                <a:ea typeface="Courier New"/>
                <a:cs typeface="Courier New"/>
                <a:sym typeface="Courier New"/>
              </a:rPr>
              <a:t>Total active translations: 1 (1 static, 0 dynamic; 0 extended)</a:t>
            </a:r>
            <a:endParaRPr/>
          </a:p>
          <a:p>
            <a:pPr indent="0" lvl="0" marL="0" marR="0" rtl="0" algn="l">
              <a:spcBef>
                <a:spcPts val="0"/>
              </a:spcBef>
              <a:spcAft>
                <a:spcPts val="0"/>
              </a:spcAft>
              <a:buNone/>
            </a:pPr>
            <a:r>
              <a:rPr lang="en-US" sz="1200">
                <a:solidFill>
                  <a:schemeClr val="lt1"/>
                </a:solidFill>
                <a:latin typeface="Courier New"/>
                <a:ea typeface="Courier New"/>
                <a:cs typeface="Courier New"/>
                <a:sym typeface="Courier New"/>
              </a:rPr>
              <a:t>Outside interfaces:</a:t>
            </a:r>
            <a:endParaRPr/>
          </a:p>
          <a:p>
            <a:pPr indent="0" lvl="0" marL="0" marR="0" rtl="0" algn="l">
              <a:spcBef>
                <a:spcPts val="0"/>
              </a:spcBef>
              <a:spcAft>
                <a:spcPts val="0"/>
              </a:spcAft>
              <a:buNone/>
            </a:pPr>
            <a:r>
              <a:rPr lang="en-US" sz="1200">
                <a:solidFill>
                  <a:schemeClr val="lt1"/>
                </a:solidFill>
                <a:latin typeface="Courier New"/>
                <a:ea typeface="Courier New"/>
                <a:cs typeface="Courier New"/>
                <a:sym typeface="Courier New"/>
              </a:rPr>
              <a:t>  Serial0/1/1</a:t>
            </a:r>
            <a:endParaRPr/>
          </a:p>
          <a:p>
            <a:pPr indent="0" lvl="0" marL="0" marR="0" rtl="0" algn="l">
              <a:spcBef>
                <a:spcPts val="0"/>
              </a:spcBef>
              <a:spcAft>
                <a:spcPts val="0"/>
              </a:spcAft>
              <a:buNone/>
            </a:pPr>
            <a:r>
              <a:rPr lang="en-US" sz="1200">
                <a:solidFill>
                  <a:schemeClr val="lt1"/>
                </a:solidFill>
                <a:latin typeface="Courier New"/>
                <a:ea typeface="Courier New"/>
                <a:cs typeface="Courier New"/>
                <a:sym typeface="Courier New"/>
              </a:rPr>
              <a:t>Inside interfaces:</a:t>
            </a:r>
            <a:endParaRPr/>
          </a:p>
          <a:p>
            <a:pPr indent="0" lvl="0" marL="0" marR="0" rtl="0" algn="l">
              <a:spcBef>
                <a:spcPts val="0"/>
              </a:spcBef>
              <a:spcAft>
                <a:spcPts val="0"/>
              </a:spcAft>
              <a:buNone/>
            </a:pPr>
            <a:r>
              <a:rPr lang="en-US" sz="1200">
                <a:solidFill>
                  <a:schemeClr val="lt1"/>
                </a:solidFill>
                <a:latin typeface="Courier New"/>
                <a:ea typeface="Courier New"/>
                <a:cs typeface="Courier New"/>
                <a:sym typeface="Courier New"/>
              </a:rPr>
              <a:t>  Serial0/1/0</a:t>
            </a:r>
            <a:endParaRPr/>
          </a:p>
          <a:p>
            <a:pPr indent="0" lvl="0" marL="0" marR="0" rtl="0" algn="l">
              <a:spcBef>
                <a:spcPts val="0"/>
              </a:spcBef>
              <a:spcAft>
                <a:spcPts val="0"/>
              </a:spcAft>
              <a:buNone/>
            </a:pPr>
            <a:r>
              <a:rPr lang="en-US" sz="1200">
                <a:solidFill>
                  <a:srgbClr val="CA8403"/>
                </a:solidFill>
                <a:latin typeface="Courier New"/>
                <a:ea typeface="Courier New"/>
                <a:cs typeface="Courier New"/>
                <a:sym typeface="Courier New"/>
              </a:rPr>
              <a:t>Hits: 4  Misses: 1</a:t>
            </a:r>
            <a:endParaRPr/>
          </a:p>
          <a:p>
            <a:pPr indent="0" lvl="0" marL="0" marR="0" rtl="0" algn="l">
              <a:spcBef>
                <a:spcPts val="0"/>
              </a:spcBef>
              <a:spcAft>
                <a:spcPts val="0"/>
              </a:spcAft>
              <a:buNone/>
            </a:pPr>
            <a:r>
              <a:rPr lang="en-US" sz="1200">
                <a:solidFill>
                  <a:schemeClr val="lt1"/>
                </a:solidFill>
                <a:latin typeface="Courier New"/>
                <a:ea typeface="Courier New"/>
                <a:cs typeface="Courier New"/>
                <a:sym typeface="Courier New"/>
              </a:rPr>
              <a:t>(output omitted)</a:t>
            </a:r>
            <a:endParaRPr b="1" sz="1200">
              <a:solidFill>
                <a:srgbClr val="CA8403"/>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1"/>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        Dynamic NAT</a:t>
            </a:r>
            <a:endParaRPr/>
          </a:p>
        </p:txBody>
      </p:sp>
    </p:spTree>
  </p:cSld>
  <p:clrMapOvr>
    <a:masterClrMapping/>
  </p:clrMapOvr>
  <p:transition spd="slow">
    <p:wipe dir="l"/>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Dynamic NAT Scenario</a:t>
            </a:r>
            <a:endParaRPr/>
          </a:p>
        </p:txBody>
      </p:sp>
      <p:sp>
        <p:nvSpPr>
          <p:cNvPr id="382" name="Google Shape;382;p22"/>
          <p:cNvSpPr txBox="1"/>
          <p:nvPr>
            <p:ph idx="1" type="body"/>
          </p:nvPr>
        </p:nvSpPr>
        <p:spPr>
          <a:xfrm>
            <a:off x="431971" y="855418"/>
            <a:ext cx="4140029" cy="3510635"/>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800"/>
              <a:buFont typeface="Arial"/>
              <a:buChar char="•"/>
            </a:pPr>
            <a:r>
              <a:rPr lang="en-US" sz="1800">
                <a:solidFill>
                  <a:srgbClr val="000000"/>
                </a:solidFill>
              </a:rPr>
              <a:t>Dynamic NAT automatically maps inside local addresses to inside global addresses.</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Dynamic NAT uses a pool of inside global addresses.</a:t>
            </a:r>
            <a:endParaRPr sz="1600">
              <a:solidFill>
                <a:srgbClr val="000000"/>
              </a:solidFill>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The pool of inside global addresses is available to any device on the inside network on a first-come first-served basis.</a:t>
            </a:r>
            <a:endParaRPr/>
          </a:p>
          <a:p>
            <a:pPr indent="-285750" lvl="0" marL="285750" rtl="0" algn="l">
              <a:lnSpc>
                <a:spcPct val="100000"/>
              </a:lnSpc>
              <a:spcBef>
                <a:spcPts val="360"/>
              </a:spcBef>
              <a:spcAft>
                <a:spcPts val="0"/>
              </a:spcAft>
              <a:buSzPts val="1800"/>
              <a:buFont typeface="Arial"/>
              <a:buChar char="•"/>
            </a:pPr>
            <a:r>
              <a:rPr lang="en-US" sz="1800">
                <a:solidFill>
                  <a:srgbClr val="000000"/>
                </a:solidFill>
              </a:rPr>
              <a:t>If all addresses in the pool are in use, a device must wait for an available address before it can access the outside network.</a:t>
            </a:r>
            <a:endParaRPr/>
          </a:p>
          <a:p>
            <a:pPr indent="-196850" lvl="0" marL="285750" rtl="0" algn="l">
              <a:lnSpc>
                <a:spcPct val="100000"/>
              </a:lnSpc>
              <a:spcBef>
                <a:spcPts val="280"/>
              </a:spcBef>
              <a:spcAft>
                <a:spcPts val="0"/>
              </a:spcAft>
              <a:buSzPts val="1400"/>
              <a:buFont typeface="Arial"/>
              <a:buNone/>
            </a:pPr>
            <a:r>
              <a:t/>
            </a:r>
            <a:endParaRPr sz="1400">
              <a:solidFill>
                <a:srgbClr val="000000"/>
              </a:solidFill>
            </a:endParaRPr>
          </a:p>
        </p:txBody>
      </p:sp>
      <p:pic>
        <p:nvPicPr>
          <p:cNvPr id="383" name="Google Shape;383;p22"/>
          <p:cNvPicPr preferRelativeResize="0"/>
          <p:nvPr/>
        </p:nvPicPr>
        <p:blipFill rotWithShape="1">
          <a:blip r:embed="rId3">
            <a:alphaModFix/>
          </a:blip>
          <a:srcRect b="0" l="0" r="0" t="0"/>
          <a:stretch/>
        </p:blipFill>
        <p:spPr>
          <a:xfrm>
            <a:off x="4653079" y="1708570"/>
            <a:ext cx="4350016" cy="180433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Static NAT</a:t>
            </a:r>
            <a:br>
              <a:rPr lang="en-US"/>
            </a:br>
            <a:r>
              <a:rPr lang="en-US" sz="2400"/>
              <a:t>Analyze Dynamic NAT – Inside to Outside</a:t>
            </a:r>
            <a:endParaRPr/>
          </a:p>
        </p:txBody>
      </p:sp>
      <p:sp>
        <p:nvSpPr>
          <p:cNvPr id="390" name="Google Shape;390;p23"/>
          <p:cNvSpPr txBox="1"/>
          <p:nvPr>
            <p:ph idx="1" type="body"/>
          </p:nvPr>
        </p:nvSpPr>
        <p:spPr>
          <a:xfrm>
            <a:off x="1" y="855418"/>
            <a:ext cx="4572000" cy="413699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Dynamic NAT translation process:</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PC1 and PC2 send packets requesting a connection to the server.</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R2 receives the first packet from PC1, checks the ALC to determine if the packet should be translated, selects an available global address, and creates a translation entry in the NAT table.</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R2 replaces the inside local source address of PC1, 192.168.10.10, with the translated inside global address of 209.165.200.226 and forwards the packet. (The same process occurs for the packet from PC2 using the translated address of 209.165.200.227.)</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a:p>
            <a:pPr indent="0" lvl="0" marL="0" rtl="0" algn="l">
              <a:lnSpc>
                <a:spcPct val="100000"/>
              </a:lnSpc>
              <a:spcBef>
                <a:spcPts val="240"/>
              </a:spcBef>
              <a:spcAft>
                <a:spcPts val="0"/>
              </a:spcAft>
              <a:buSzPts val="1200"/>
              <a:buNone/>
            </a:pPr>
            <a:r>
              <a:t/>
            </a:r>
            <a:endParaRPr sz="1200">
              <a:solidFill>
                <a:srgbClr val="000000"/>
              </a:solidFill>
            </a:endParaRPr>
          </a:p>
        </p:txBody>
      </p:sp>
      <p:pic>
        <p:nvPicPr>
          <p:cNvPr id="391" name="Google Shape;391;p23"/>
          <p:cNvPicPr preferRelativeResize="0"/>
          <p:nvPr/>
        </p:nvPicPr>
        <p:blipFill rotWithShape="1">
          <a:blip r:embed="rId3">
            <a:alphaModFix/>
          </a:blip>
          <a:srcRect b="0" l="0" r="0" t="0"/>
          <a:stretch/>
        </p:blipFill>
        <p:spPr>
          <a:xfrm>
            <a:off x="4572000" y="1110016"/>
            <a:ext cx="4241113" cy="317806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2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2400"/>
              <a:t>Configure Dynamic NAT</a:t>
            </a:r>
            <a:endParaRPr/>
          </a:p>
        </p:txBody>
      </p:sp>
      <p:sp>
        <p:nvSpPr>
          <p:cNvPr id="398" name="Google Shape;398;p24"/>
          <p:cNvSpPr txBox="1"/>
          <p:nvPr>
            <p:ph idx="1" type="body"/>
          </p:nvPr>
        </p:nvSpPr>
        <p:spPr>
          <a:xfrm>
            <a:off x="431971" y="855418"/>
            <a:ext cx="7913517" cy="1908803"/>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There are five tasks when configuring dynamic NAT translations:</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Step 1 </a:t>
            </a:r>
            <a:r>
              <a:rPr lang="en-US" sz="1600">
                <a:solidFill>
                  <a:srgbClr val="000000"/>
                </a:solidFill>
              </a:rPr>
              <a:t>- Define the pool of addresses that will be used for translation using the </a:t>
            </a:r>
            <a:r>
              <a:rPr b="1" lang="en-US" sz="1600">
                <a:solidFill>
                  <a:srgbClr val="000000"/>
                </a:solidFill>
              </a:rPr>
              <a:t>ip nat pool</a:t>
            </a:r>
            <a:r>
              <a:rPr lang="en-US" sz="1600">
                <a:solidFill>
                  <a:srgbClr val="000000"/>
                </a:solidFill>
              </a:rPr>
              <a:t> command. </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Step 2</a:t>
            </a:r>
            <a:r>
              <a:rPr lang="en-US" sz="1600">
                <a:solidFill>
                  <a:srgbClr val="000000"/>
                </a:solidFill>
              </a:rPr>
              <a:t> - Configure a standard ACL to identify (permit) only those addresses that are to be translated.</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Step 3 </a:t>
            </a:r>
            <a:r>
              <a:rPr lang="en-US" sz="1600">
                <a:solidFill>
                  <a:srgbClr val="000000"/>
                </a:solidFill>
              </a:rPr>
              <a:t>-</a:t>
            </a:r>
            <a:r>
              <a:rPr b="1" lang="en-US" sz="1600">
                <a:solidFill>
                  <a:srgbClr val="000000"/>
                </a:solidFill>
              </a:rPr>
              <a:t> </a:t>
            </a:r>
            <a:r>
              <a:rPr lang="en-US" sz="1600">
                <a:solidFill>
                  <a:srgbClr val="000000"/>
                </a:solidFill>
              </a:rPr>
              <a:t>Bind the ACL to the pool, using the </a:t>
            </a:r>
            <a:r>
              <a:rPr b="1" lang="en-US" sz="1600">
                <a:solidFill>
                  <a:srgbClr val="000000"/>
                </a:solidFill>
              </a:rPr>
              <a:t>ip nat inside source list</a:t>
            </a:r>
            <a:r>
              <a:rPr lang="en-US" sz="1600">
                <a:solidFill>
                  <a:srgbClr val="000000"/>
                </a:solidFill>
              </a:rPr>
              <a:t> command.</a:t>
            </a:r>
            <a:endParaRPr/>
          </a:p>
          <a:p>
            <a:pPr indent="-209550" lvl="0" marL="285750" rtl="0" algn="l">
              <a:lnSpc>
                <a:spcPct val="100000"/>
              </a:lnSpc>
              <a:spcBef>
                <a:spcPts val="240"/>
              </a:spcBef>
              <a:spcAft>
                <a:spcPts val="0"/>
              </a:spcAft>
              <a:buSzPts val="1200"/>
              <a:buFont typeface="Arial"/>
              <a:buNone/>
            </a:pPr>
            <a:r>
              <a:t/>
            </a:r>
            <a:endParaRPr sz="1200">
              <a:solidFill>
                <a:srgbClr val="000000"/>
              </a:solidFill>
            </a:endParaRPr>
          </a:p>
        </p:txBody>
      </p:sp>
      <p:sp>
        <p:nvSpPr>
          <p:cNvPr id="399" name="Google Shape;399;p24"/>
          <p:cNvSpPr txBox="1"/>
          <p:nvPr/>
        </p:nvSpPr>
        <p:spPr>
          <a:xfrm>
            <a:off x="342316" y="3024299"/>
            <a:ext cx="8459367" cy="646331"/>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Courier New"/>
                <a:ea typeface="Courier New"/>
                <a:cs typeface="Courier New"/>
                <a:sym typeface="Courier New"/>
              </a:rPr>
              <a:t>R2(config)# </a:t>
            </a:r>
            <a:r>
              <a:rPr b="1" lang="en-US" sz="1200">
                <a:solidFill>
                  <a:schemeClr val="lt1"/>
                </a:solidFill>
                <a:latin typeface="Courier New"/>
                <a:ea typeface="Courier New"/>
                <a:cs typeface="Courier New"/>
                <a:sym typeface="Courier New"/>
              </a:rPr>
              <a:t>ip nat pool NAT-POOL1 209.165.200.226 209.165.200.240 netmask 255.255.255.224</a:t>
            </a:r>
            <a:endParaRPr/>
          </a:p>
          <a:p>
            <a:pPr indent="0" lvl="0" marL="0" marR="0" rtl="0" algn="l">
              <a:spcBef>
                <a:spcPts val="0"/>
              </a:spcBef>
              <a:spcAft>
                <a:spcPts val="0"/>
              </a:spcAft>
              <a:buNone/>
            </a:pPr>
            <a:r>
              <a:rPr lang="en-US" sz="1200">
                <a:solidFill>
                  <a:schemeClr val="lt1"/>
                </a:solidFill>
                <a:latin typeface="Courier New"/>
                <a:ea typeface="Courier New"/>
                <a:cs typeface="Courier New"/>
                <a:sym typeface="Courier New"/>
              </a:rPr>
              <a:t>R2(config)# </a:t>
            </a:r>
            <a:r>
              <a:rPr b="1" lang="en-US" sz="1200">
                <a:solidFill>
                  <a:schemeClr val="lt1"/>
                </a:solidFill>
                <a:latin typeface="Courier New"/>
                <a:ea typeface="Courier New"/>
                <a:cs typeface="Courier New"/>
                <a:sym typeface="Courier New"/>
              </a:rPr>
              <a:t>access-list 1 permit 192.168.0.0 0.0.255.255</a:t>
            </a:r>
            <a:endParaRPr/>
          </a:p>
          <a:p>
            <a:pPr indent="0" lvl="0" marL="0" marR="0" rtl="0" algn="l">
              <a:spcBef>
                <a:spcPts val="0"/>
              </a:spcBef>
              <a:spcAft>
                <a:spcPts val="0"/>
              </a:spcAft>
              <a:buNone/>
            </a:pPr>
            <a:r>
              <a:rPr lang="en-US" sz="1200">
                <a:solidFill>
                  <a:schemeClr val="lt1"/>
                </a:solidFill>
                <a:latin typeface="Courier New"/>
                <a:ea typeface="Courier New"/>
                <a:cs typeface="Courier New"/>
                <a:sym typeface="Courier New"/>
              </a:rPr>
              <a:t>R2(config)# </a:t>
            </a:r>
            <a:r>
              <a:rPr b="1" lang="en-US" sz="1200">
                <a:solidFill>
                  <a:schemeClr val="lt1"/>
                </a:solidFill>
                <a:latin typeface="Courier New"/>
                <a:ea typeface="Courier New"/>
                <a:cs typeface="Courier New"/>
                <a:sym typeface="Courier New"/>
              </a:rPr>
              <a:t>ip nat inside source list 1 pool NAT-POOL1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Static NAT</a:t>
            </a:r>
            <a:br>
              <a:rPr lang="en-US"/>
            </a:br>
            <a:r>
              <a:rPr lang="en-US" sz="2400"/>
              <a:t>Configure Dynamic NAT (Cont.)</a:t>
            </a:r>
            <a:endParaRPr/>
          </a:p>
        </p:txBody>
      </p:sp>
      <p:sp>
        <p:nvSpPr>
          <p:cNvPr id="406" name="Google Shape;406;p25"/>
          <p:cNvSpPr txBox="1"/>
          <p:nvPr>
            <p:ph idx="1" type="body"/>
          </p:nvPr>
        </p:nvSpPr>
        <p:spPr>
          <a:xfrm>
            <a:off x="431971" y="855418"/>
            <a:ext cx="7913517" cy="1908803"/>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There are five tasks when configuring dynamic NAT translations:</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Step 4 </a:t>
            </a:r>
            <a:r>
              <a:rPr lang="en-US" sz="1600">
                <a:solidFill>
                  <a:srgbClr val="000000"/>
                </a:solidFill>
              </a:rPr>
              <a:t>- Identify which interfaces are inside. </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Step 5</a:t>
            </a:r>
            <a:r>
              <a:rPr lang="en-US" sz="1600">
                <a:solidFill>
                  <a:srgbClr val="000000"/>
                </a:solidFill>
              </a:rPr>
              <a:t> - Identify which interfaces are outside. </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a:p>
            <a:pPr indent="0" lvl="0" marL="0" rtl="0" algn="l">
              <a:lnSpc>
                <a:spcPct val="100000"/>
              </a:lnSpc>
              <a:spcBef>
                <a:spcPts val="240"/>
              </a:spcBef>
              <a:spcAft>
                <a:spcPts val="0"/>
              </a:spcAft>
              <a:buSzPts val="1200"/>
              <a:buNone/>
            </a:pPr>
            <a:r>
              <a:t/>
            </a:r>
            <a:endParaRPr sz="1200">
              <a:solidFill>
                <a:srgbClr val="000000"/>
              </a:solidFill>
            </a:endParaRPr>
          </a:p>
        </p:txBody>
      </p:sp>
      <p:sp>
        <p:nvSpPr>
          <p:cNvPr id="407" name="Google Shape;407;p25"/>
          <p:cNvSpPr txBox="1"/>
          <p:nvPr/>
        </p:nvSpPr>
        <p:spPr>
          <a:xfrm>
            <a:off x="307621" y="2571750"/>
            <a:ext cx="8528758" cy="1223412"/>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 </a:t>
            </a:r>
            <a:r>
              <a:rPr b="1" lang="en-US" sz="1050">
                <a:solidFill>
                  <a:schemeClr val="lt1"/>
                </a:solidFill>
                <a:latin typeface="Courier New"/>
                <a:ea typeface="Courier New"/>
                <a:cs typeface="Courier New"/>
                <a:sym typeface="Courier New"/>
              </a:rPr>
              <a:t>ip nat pool NAT-POOL1 209.165.200.226 209.165.200.240 netmask 255.255.255.224</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 </a:t>
            </a:r>
            <a:r>
              <a:rPr b="1" lang="en-US" sz="1050">
                <a:solidFill>
                  <a:schemeClr val="lt1"/>
                </a:solidFill>
                <a:latin typeface="Courier New"/>
                <a:ea typeface="Courier New"/>
                <a:cs typeface="Courier New"/>
                <a:sym typeface="Courier New"/>
              </a:rPr>
              <a:t>access-list 1 permit 192.168.0.0 0.0.255.255</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 </a:t>
            </a:r>
            <a:r>
              <a:rPr b="1" lang="en-US" sz="1050">
                <a:solidFill>
                  <a:schemeClr val="lt1"/>
                </a:solidFill>
                <a:latin typeface="Courier New"/>
                <a:ea typeface="Courier New"/>
                <a:cs typeface="Courier New"/>
                <a:sym typeface="Courier New"/>
              </a:rPr>
              <a:t>ip nat inside source list 1 pool NAT-POOL1</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 </a:t>
            </a:r>
            <a:r>
              <a:rPr b="1" lang="en-US" sz="1050">
                <a:solidFill>
                  <a:schemeClr val="lt1"/>
                </a:solidFill>
                <a:latin typeface="Courier New"/>
                <a:ea typeface="Courier New"/>
                <a:cs typeface="Courier New"/>
                <a:sym typeface="Courier New"/>
              </a:rPr>
              <a:t>interface serial 0/1/0</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R2(config-if)# </a:t>
            </a:r>
            <a:r>
              <a:rPr b="1" lang="en-US" sz="1050">
                <a:solidFill>
                  <a:srgbClr val="FFC000"/>
                </a:solidFill>
                <a:latin typeface="Courier New"/>
                <a:ea typeface="Courier New"/>
                <a:cs typeface="Courier New"/>
                <a:sym typeface="Courier New"/>
              </a:rPr>
              <a:t>ip nat inside</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R2(config-if)# </a:t>
            </a:r>
            <a:r>
              <a:rPr b="1" lang="en-US" sz="1050">
                <a:solidFill>
                  <a:schemeClr val="lt1"/>
                </a:solidFill>
                <a:latin typeface="Courier New"/>
                <a:ea typeface="Courier New"/>
                <a:cs typeface="Courier New"/>
                <a:sym typeface="Courier New"/>
              </a:rPr>
              <a:t>interface serial 0/1/1</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R2(config-if)# </a:t>
            </a:r>
            <a:r>
              <a:rPr b="1" lang="en-US" sz="1050">
                <a:solidFill>
                  <a:srgbClr val="FFC000"/>
                </a:solidFill>
                <a:latin typeface="Courier New"/>
                <a:ea typeface="Courier New"/>
                <a:cs typeface="Courier New"/>
                <a:sym typeface="Courier New"/>
              </a:rPr>
              <a:t>ip nat outside</a:t>
            </a:r>
            <a:endParaRPr b="1" sz="1050">
              <a:solidFill>
                <a:srgbClr val="FFC000"/>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Static NAT</a:t>
            </a:r>
            <a:br>
              <a:rPr lang="en-US"/>
            </a:br>
            <a:r>
              <a:rPr lang="en-US" sz="2400"/>
              <a:t>Analyze Dynamic NAT – Outside to Inside</a:t>
            </a:r>
            <a:endParaRPr/>
          </a:p>
        </p:txBody>
      </p:sp>
      <p:sp>
        <p:nvSpPr>
          <p:cNvPr id="414" name="Google Shape;414;p26"/>
          <p:cNvSpPr txBox="1"/>
          <p:nvPr>
            <p:ph idx="1" type="body"/>
          </p:nvPr>
        </p:nvSpPr>
        <p:spPr>
          <a:xfrm>
            <a:off x="75415" y="855418"/>
            <a:ext cx="4496586" cy="413699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Dynamic NAT translation process:</a:t>
            </a:r>
            <a:endParaRPr/>
          </a:p>
          <a:p>
            <a:pPr indent="-342900" lvl="0" marL="342900" rtl="0" algn="l">
              <a:lnSpc>
                <a:spcPct val="100000"/>
              </a:lnSpc>
              <a:spcBef>
                <a:spcPts val="280"/>
              </a:spcBef>
              <a:spcAft>
                <a:spcPts val="0"/>
              </a:spcAft>
              <a:buSzPts val="1400"/>
              <a:buFont typeface="Arial"/>
              <a:buAutoNum type="arabicPeriod" startAt="4"/>
            </a:pPr>
            <a:r>
              <a:rPr lang="en-US" sz="1400">
                <a:solidFill>
                  <a:srgbClr val="000000"/>
                </a:solidFill>
              </a:rPr>
              <a:t>The server receives the packet from PC1 and responds using the destination address of 209.165.200.226. The server receives the packet from PC2, it responds to using the destination address of 209.165.200.227.</a:t>
            </a:r>
            <a:endParaRPr/>
          </a:p>
          <a:p>
            <a:pPr indent="-342900" lvl="0" marL="342900" rtl="0" algn="l">
              <a:lnSpc>
                <a:spcPct val="100000"/>
              </a:lnSpc>
              <a:spcBef>
                <a:spcPts val="280"/>
              </a:spcBef>
              <a:spcAft>
                <a:spcPts val="0"/>
              </a:spcAft>
              <a:buSzPts val="1400"/>
              <a:buFont typeface="Arial"/>
              <a:buAutoNum type="arabicPeriod" startAt="4"/>
            </a:pPr>
            <a:r>
              <a:rPr lang="en-US" sz="1400">
                <a:solidFill>
                  <a:srgbClr val="000000"/>
                </a:solidFill>
              </a:rPr>
              <a:t>(a) When R2 receives the packet with the destination address of 209.165.200.226; it performs a NAT table lookup and translates the address back to the inside local address and forwards the packet toward PC1.</a:t>
            </a:r>
            <a:br>
              <a:rPr lang="en-US" sz="1400">
                <a:solidFill>
                  <a:srgbClr val="000000"/>
                </a:solidFill>
              </a:rPr>
            </a:br>
            <a:r>
              <a:rPr lang="en-US" sz="1400">
                <a:solidFill>
                  <a:srgbClr val="000000"/>
                </a:solidFill>
              </a:rPr>
              <a:t>(b) When R2 receives the packet with the destination address of 209.165.200.227; it performs a NAT table lookup and translates the address back to the inside local address 192.168.11.10 and forwards the packet toward PC2.</a:t>
            </a:r>
            <a:endParaRPr/>
          </a:p>
          <a:p>
            <a:pPr indent="0" lvl="0" marL="0" rtl="0" algn="l">
              <a:lnSpc>
                <a:spcPct val="100000"/>
              </a:lnSpc>
              <a:spcBef>
                <a:spcPts val="240"/>
              </a:spcBef>
              <a:spcAft>
                <a:spcPts val="0"/>
              </a:spcAft>
              <a:buSzPts val="1200"/>
              <a:buNone/>
            </a:pPr>
            <a:r>
              <a:t/>
            </a:r>
            <a:endParaRPr sz="1200">
              <a:solidFill>
                <a:srgbClr val="000000"/>
              </a:solidFill>
            </a:endParaRPr>
          </a:p>
        </p:txBody>
      </p:sp>
      <p:pic>
        <p:nvPicPr>
          <p:cNvPr id="415" name="Google Shape;415;p26"/>
          <p:cNvPicPr preferRelativeResize="0"/>
          <p:nvPr/>
        </p:nvPicPr>
        <p:blipFill rotWithShape="1">
          <a:blip r:embed="rId3">
            <a:alphaModFix/>
          </a:blip>
          <a:srcRect b="0" l="0" r="0" t="0"/>
          <a:stretch/>
        </p:blipFill>
        <p:spPr>
          <a:xfrm>
            <a:off x="4810639" y="1366414"/>
            <a:ext cx="3995330" cy="311500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2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Static NAT</a:t>
            </a:r>
            <a:br>
              <a:rPr lang="en-US"/>
            </a:br>
            <a:r>
              <a:rPr lang="en-US" sz="2400"/>
              <a:t>Verify Dynamic NAT</a:t>
            </a:r>
            <a:endParaRPr/>
          </a:p>
        </p:txBody>
      </p:sp>
      <p:sp>
        <p:nvSpPr>
          <p:cNvPr id="422" name="Google Shape;422;p27"/>
          <p:cNvSpPr txBox="1"/>
          <p:nvPr>
            <p:ph idx="1" type="body"/>
          </p:nvPr>
        </p:nvSpPr>
        <p:spPr>
          <a:xfrm>
            <a:off x="431971" y="855419"/>
            <a:ext cx="7913517" cy="90024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The output of the </a:t>
            </a:r>
            <a:r>
              <a:rPr b="1" lang="en-US" sz="1800">
                <a:solidFill>
                  <a:srgbClr val="000000"/>
                </a:solidFill>
              </a:rPr>
              <a:t>show ip nat translations</a:t>
            </a:r>
            <a:r>
              <a:rPr lang="en-US" sz="1800">
                <a:solidFill>
                  <a:srgbClr val="000000"/>
                </a:solidFill>
              </a:rPr>
              <a:t> command displays all static translations that have been configured and any dynamic translations that have been created by traffic.</a:t>
            </a:r>
            <a:endParaRPr sz="1200">
              <a:solidFill>
                <a:srgbClr val="000000"/>
              </a:solidFill>
            </a:endParaRPr>
          </a:p>
        </p:txBody>
      </p:sp>
      <p:sp>
        <p:nvSpPr>
          <p:cNvPr id="423" name="Google Shape;423;p27"/>
          <p:cNvSpPr txBox="1"/>
          <p:nvPr/>
        </p:nvSpPr>
        <p:spPr>
          <a:xfrm>
            <a:off x="307621" y="2063918"/>
            <a:ext cx="8528758" cy="900246"/>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 </a:t>
            </a:r>
            <a:r>
              <a:rPr b="1" lang="en-US" sz="1050">
                <a:solidFill>
                  <a:schemeClr val="lt1"/>
                </a:solidFill>
                <a:latin typeface="Courier New"/>
                <a:ea typeface="Courier New"/>
                <a:cs typeface="Courier New"/>
                <a:sym typeface="Courier New"/>
              </a:rPr>
              <a:t>show ip nat translations</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Pro Inside global      Inside local       Outside local      Outside global</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--- 209.165.200.228    192.168.10.10      ---                ---</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--- 209.165.200.229    192.168.11.10      ---                ---</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a:t>
            </a:r>
            <a:endParaRPr b="1" sz="1050">
              <a:solidFill>
                <a:srgbClr val="FFC000"/>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2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Static NAT</a:t>
            </a:r>
            <a:br>
              <a:rPr lang="en-US"/>
            </a:br>
            <a:r>
              <a:rPr lang="en-US" sz="2400"/>
              <a:t>Verify Dynamic NAT (Cont.)</a:t>
            </a:r>
            <a:endParaRPr/>
          </a:p>
        </p:txBody>
      </p:sp>
      <p:sp>
        <p:nvSpPr>
          <p:cNvPr id="430" name="Google Shape;430;p28"/>
          <p:cNvSpPr txBox="1"/>
          <p:nvPr>
            <p:ph idx="1" type="body"/>
          </p:nvPr>
        </p:nvSpPr>
        <p:spPr>
          <a:xfrm>
            <a:off x="431971" y="855418"/>
            <a:ext cx="7913517" cy="128446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By default, translation entries time out after 24 hours, unless the timers have been reconfigured with the </a:t>
            </a:r>
            <a:r>
              <a:rPr b="1" lang="en-US" sz="1600">
                <a:solidFill>
                  <a:srgbClr val="000000"/>
                </a:solidFill>
              </a:rPr>
              <a:t>ip nat translation timeout</a:t>
            </a:r>
            <a:r>
              <a:rPr lang="en-US" sz="1600">
                <a:solidFill>
                  <a:srgbClr val="000000"/>
                </a:solidFill>
              </a:rPr>
              <a:t> </a:t>
            </a:r>
            <a:r>
              <a:rPr i="1" lang="en-US" sz="1600">
                <a:solidFill>
                  <a:srgbClr val="000000"/>
                </a:solidFill>
              </a:rPr>
              <a:t>timeout-seconds</a:t>
            </a:r>
            <a:r>
              <a:rPr lang="en-US" sz="1600">
                <a:solidFill>
                  <a:srgbClr val="000000"/>
                </a:solidFill>
              </a:rPr>
              <a:t> command in global configuration mode. To clear dynamic entries before the timeout has expired, use the </a:t>
            </a:r>
            <a:r>
              <a:rPr b="1" lang="en-US" sz="1600">
                <a:solidFill>
                  <a:srgbClr val="000000"/>
                </a:solidFill>
              </a:rPr>
              <a:t>clear ip nat translation</a:t>
            </a:r>
            <a:r>
              <a:rPr lang="en-US" sz="1600">
                <a:solidFill>
                  <a:srgbClr val="000000"/>
                </a:solidFill>
              </a:rPr>
              <a:t> privileged EXEC mode command.</a:t>
            </a:r>
            <a:endParaRPr/>
          </a:p>
        </p:txBody>
      </p:sp>
      <p:sp>
        <p:nvSpPr>
          <p:cNvPr id="431" name="Google Shape;431;p28"/>
          <p:cNvSpPr txBox="1"/>
          <p:nvPr/>
        </p:nvSpPr>
        <p:spPr>
          <a:xfrm>
            <a:off x="307621" y="2263793"/>
            <a:ext cx="8528758" cy="430887"/>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 </a:t>
            </a:r>
            <a:r>
              <a:rPr b="1" lang="en-US" sz="1050">
                <a:solidFill>
                  <a:schemeClr val="lt1"/>
                </a:solidFill>
                <a:latin typeface="Courier New"/>
                <a:ea typeface="Courier New"/>
                <a:cs typeface="Courier New"/>
                <a:sym typeface="Courier New"/>
              </a:rPr>
              <a:t>clear ip nat translation *</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 </a:t>
            </a:r>
            <a:r>
              <a:rPr b="1" lang="en-US" sz="1050">
                <a:solidFill>
                  <a:schemeClr val="lt1"/>
                </a:solidFill>
                <a:latin typeface="Courier New"/>
                <a:ea typeface="Courier New"/>
                <a:cs typeface="Courier New"/>
                <a:sym typeface="Courier New"/>
              </a:rPr>
              <a:t>show ip nat translation</a:t>
            </a:r>
            <a:endParaRPr b="1" sz="1050">
              <a:solidFill>
                <a:srgbClr val="FFC000"/>
              </a:solidFill>
              <a:latin typeface="Courier New"/>
              <a:ea typeface="Courier New"/>
              <a:cs typeface="Courier New"/>
              <a:sym typeface="Courier New"/>
            </a:endParaRPr>
          </a:p>
        </p:txBody>
      </p:sp>
      <p:graphicFrame>
        <p:nvGraphicFramePr>
          <p:cNvPr id="432" name="Google Shape;432;p28"/>
          <p:cNvGraphicFramePr/>
          <p:nvPr/>
        </p:nvGraphicFramePr>
        <p:xfrm>
          <a:off x="715887" y="2911367"/>
          <a:ext cx="3000000" cy="3000000"/>
        </p:xfrm>
        <a:graphic>
          <a:graphicData uri="http://schemas.openxmlformats.org/drawingml/2006/table">
            <a:tbl>
              <a:tblPr bandRow="1" firstRow="1">
                <a:noFill/>
                <a:tableStyleId>{370BC76E-671B-4F3C-934D-89C8931EC17E}</a:tableStyleId>
              </a:tblPr>
              <a:tblGrid>
                <a:gridCol w="3675675"/>
                <a:gridCol w="3670000"/>
              </a:tblGrid>
              <a:tr h="281850">
                <a:tc>
                  <a:txBody>
                    <a:bodyPr/>
                    <a:lstStyle/>
                    <a:p>
                      <a:pPr indent="0" lvl="0" marL="0" marR="0" rtl="0" algn="l">
                        <a:lnSpc>
                          <a:spcPct val="100000"/>
                        </a:lnSpc>
                        <a:spcBef>
                          <a:spcPts val="0"/>
                        </a:spcBef>
                        <a:spcAft>
                          <a:spcPts val="0"/>
                        </a:spcAft>
                        <a:buClr>
                          <a:schemeClr val="dk1"/>
                        </a:buClr>
                        <a:buSzPts val="1100"/>
                        <a:buFont typeface="Arial"/>
                        <a:buNone/>
                      </a:pPr>
                      <a:r>
                        <a:rPr lang="en-US" sz="1100"/>
                        <a:t>Command</a:t>
                      </a:r>
                      <a:endParaRPr/>
                    </a:p>
                  </a:txBody>
                  <a:tcPr marT="34300" marB="34300" marR="68575" marL="68575" anchor="ctr"/>
                </a:tc>
                <a:tc>
                  <a:txBody>
                    <a:bodyPr/>
                    <a:lstStyle/>
                    <a:p>
                      <a:pPr indent="0" lvl="0" marL="0" marR="0" rtl="0" algn="l">
                        <a:spcBef>
                          <a:spcPts val="0"/>
                        </a:spcBef>
                        <a:spcAft>
                          <a:spcPts val="0"/>
                        </a:spcAft>
                        <a:buNone/>
                      </a:pPr>
                      <a:r>
                        <a:rPr lang="en-US" sz="1100"/>
                        <a:t>Description</a:t>
                      </a:r>
                      <a:endParaRPr/>
                    </a:p>
                  </a:txBody>
                  <a:tcPr marT="34300" marB="34300" marR="68575" marL="68575" anchor="ctr"/>
                </a:tc>
              </a:tr>
              <a:tr h="347625">
                <a:tc>
                  <a:txBody>
                    <a:bodyPr/>
                    <a:lstStyle/>
                    <a:p>
                      <a:pPr indent="0" lvl="0" marL="0" marR="0" rtl="0" algn="l">
                        <a:lnSpc>
                          <a:spcPct val="100000"/>
                        </a:lnSpc>
                        <a:spcBef>
                          <a:spcPts val="0"/>
                        </a:spcBef>
                        <a:spcAft>
                          <a:spcPts val="0"/>
                        </a:spcAft>
                        <a:buClr>
                          <a:schemeClr val="dk1"/>
                        </a:buClr>
                        <a:buSzPts val="1000"/>
                        <a:buFont typeface="Courier New"/>
                        <a:buNone/>
                      </a:pPr>
                      <a:r>
                        <a:rPr b="1" lang="en-US" sz="1000">
                          <a:solidFill>
                            <a:schemeClr val="dk1"/>
                          </a:solidFill>
                          <a:latin typeface="Courier New"/>
                          <a:ea typeface="Courier New"/>
                          <a:cs typeface="Courier New"/>
                          <a:sym typeface="Courier New"/>
                        </a:rPr>
                        <a:t>clear ip nat translation *</a:t>
                      </a:r>
                      <a:endParaRPr sz="1000">
                        <a:latin typeface="Courier New"/>
                        <a:ea typeface="Courier New"/>
                        <a:cs typeface="Courier New"/>
                        <a:sym typeface="Courier New"/>
                      </a:endParaRPr>
                    </a:p>
                  </a:txBody>
                  <a:tcPr marT="34300" marB="34300" marR="68575" marL="68575" anchor="ctr"/>
                </a:tc>
                <a:tc>
                  <a:txBody>
                    <a:bodyPr/>
                    <a:lstStyle/>
                    <a:p>
                      <a:pPr indent="0" lvl="0" marL="0" marR="0" rtl="0" algn="l">
                        <a:spcBef>
                          <a:spcPts val="0"/>
                        </a:spcBef>
                        <a:spcAft>
                          <a:spcPts val="0"/>
                        </a:spcAft>
                        <a:buNone/>
                      </a:pPr>
                      <a:r>
                        <a:rPr lang="en-US" sz="1100"/>
                        <a:t>Clears all dynamic address translation entries from the NAT translation table.</a:t>
                      </a:r>
                      <a:endParaRPr/>
                    </a:p>
                  </a:txBody>
                  <a:tcPr marT="34300" marB="34300" marR="68575" marL="68575" anchor="ctr"/>
                </a:tc>
              </a:tr>
              <a:tr h="341075">
                <a:tc>
                  <a:txBody>
                    <a:bodyPr/>
                    <a:lstStyle/>
                    <a:p>
                      <a:pPr indent="0" lvl="0" marL="0" marR="0" rtl="0" algn="l">
                        <a:spcBef>
                          <a:spcPts val="0"/>
                        </a:spcBef>
                        <a:spcAft>
                          <a:spcPts val="0"/>
                        </a:spcAft>
                        <a:buNone/>
                      </a:pPr>
                      <a:r>
                        <a:rPr b="1" lang="en-US" sz="1000">
                          <a:latin typeface="Courier New"/>
                          <a:ea typeface="Courier New"/>
                          <a:cs typeface="Courier New"/>
                          <a:sym typeface="Courier New"/>
                        </a:rPr>
                        <a:t>clear ip nat translation inside</a:t>
                      </a:r>
                      <a:r>
                        <a:rPr lang="en-US" sz="1000">
                          <a:latin typeface="Courier New"/>
                          <a:ea typeface="Courier New"/>
                          <a:cs typeface="Courier New"/>
                          <a:sym typeface="Courier New"/>
                        </a:rPr>
                        <a:t> </a:t>
                      </a:r>
                      <a:r>
                        <a:rPr i="1" lang="en-US" sz="1000">
                          <a:latin typeface="Courier New"/>
                          <a:ea typeface="Courier New"/>
                          <a:cs typeface="Courier New"/>
                          <a:sym typeface="Courier New"/>
                        </a:rPr>
                        <a:t>global-ip local-ip </a:t>
                      </a:r>
                      <a:r>
                        <a:rPr lang="en-US" sz="1000">
                          <a:latin typeface="Courier New"/>
                          <a:ea typeface="Courier New"/>
                          <a:cs typeface="Courier New"/>
                          <a:sym typeface="Courier New"/>
                        </a:rPr>
                        <a:t>[</a:t>
                      </a:r>
                      <a:r>
                        <a:rPr b="1" lang="en-US" sz="1000">
                          <a:latin typeface="Courier New"/>
                          <a:ea typeface="Courier New"/>
                          <a:cs typeface="Courier New"/>
                          <a:sym typeface="Courier New"/>
                        </a:rPr>
                        <a:t>outside</a:t>
                      </a:r>
                      <a:r>
                        <a:rPr i="1" lang="en-US" sz="1000">
                          <a:latin typeface="Courier New"/>
                          <a:ea typeface="Courier New"/>
                          <a:cs typeface="Courier New"/>
                          <a:sym typeface="Courier New"/>
                        </a:rPr>
                        <a:t> local-ip global-ip</a:t>
                      </a:r>
                      <a:r>
                        <a:rPr lang="en-US" sz="1000">
                          <a:latin typeface="Courier New"/>
                          <a:ea typeface="Courier New"/>
                          <a:cs typeface="Courier New"/>
                          <a:sym typeface="Courier New"/>
                        </a:rPr>
                        <a:t>]</a:t>
                      </a:r>
                      <a:endParaRPr/>
                    </a:p>
                  </a:txBody>
                  <a:tcPr marT="45725" marB="45725" marR="91450" marL="91450" anchor="ctr"/>
                </a:tc>
                <a:tc>
                  <a:txBody>
                    <a:bodyPr/>
                    <a:lstStyle/>
                    <a:p>
                      <a:pPr indent="0" lvl="0" marL="0" marR="0" rtl="0" algn="l">
                        <a:spcBef>
                          <a:spcPts val="0"/>
                        </a:spcBef>
                        <a:spcAft>
                          <a:spcPts val="0"/>
                        </a:spcAft>
                        <a:buNone/>
                      </a:pPr>
                      <a:r>
                        <a:rPr lang="en-US" sz="1000"/>
                        <a:t>Clears a simple dynamic translation entry containing an inside translation or both inside and outside translation.</a:t>
                      </a:r>
                      <a:endParaRPr/>
                    </a:p>
                  </a:txBody>
                  <a:tcPr marT="45725" marB="45725" marR="91450" marL="91450" anchor="ctr"/>
                </a:tc>
              </a:tr>
              <a:tr h="603450">
                <a:tc>
                  <a:txBody>
                    <a:bodyPr/>
                    <a:lstStyle/>
                    <a:p>
                      <a:pPr indent="0" lvl="0" marL="0" marR="0" rtl="0" algn="l">
                        <a:spcBef>
                          <a:spcPts val="0"/>
                        </a:spcBef>
                        <a:spcAft>
                          <a:spcPts val="0"/>
                        </a:spcAft>
                        <a:buNone/>
                      </a:pPr>
                      <a:r>
                        <a:rPr b="1" lang="en-US" sz="1000">
                          <a:latin typeface="Courier New"/>
                          <a:ea typeface="Courier New"/>
                          <a:cs typeface="Courier New"/>
                          <a:sym typeface="Courier New"/>
                        </a:rPr>
                        <a:t>clear ip nat translation</a:t>
                      </a:r>
                      <a:r>
                        <a:rPr lang="en-US" sz="1000">
                          <a:latin typeface="Courier New"/>
                          <a:ea typeface="Courier New"/>
                          <a:cs typeface="Courier New"/>
                          <a:sym typeface="Courier New"/>
                        </a:rPr>
                        <a:t> </a:t>
                      </a:r>
                      <a:r>
                        <a:rPr i="1" lang="en-US" sz="1000">
                          <a:latin typeface="Courier New"/>
                          <a:ea typeface="Courier New"/>
                          <a:cs typeface="Courier New"/>
                          <a:sym typeface="Courier New"/>
                        </a:rPr>
                        <a:t>protocol</a:t>
                      </a:r>
                      <a:r>
                        <a:rPr lang="en-US" sz="1000">
                          <a:latin typeface="Courier New"/>
                          <a:ea typeface="Courier New"/>
                          <a:cs typeface="Courier New"/>
                          <a:sym typeface="Courier New"/>
                        </a:rPr>
                        <a:t> </a:t>
                      </a:r>
                      <a:r>
                        <a:rPr b="1" lang="en-US" sz="1000">
                          <a:latin typeface="Courier New"/>
                          <a:ea typeface="Courier New"/>
                          <a:cs typeface="Courier New"/>
                          <a:sym typeface="Courier New"/>
                        </a:rPr>
                        <a:t>inside</a:t>
                      </a:r>
                      <a:r>
                        <a:rPr lang="en-US" sz="1000">
                          <a:latin typeface="Courier New"/>
                          <a:ea typeface="Courier New"/>
                          <a:cs typeface="Courier New"/>
                          <a:sym typeface="Courier New"/>
                        </a:rPr>
                        <a:t> </a:t>
                      </a:r>
                      <a:r>
                        <a:rPr i="1" lang="en-US" sz="1000">
                          <a:latin typeface="Courier New"/>
                          <a:ea typeface="Courier New"/>
                          <a:cs typeface="Courier New"/>
                          <a:sym typeface="Courier New"/>
                        </a:rPr>
                        <a:t>global-ip global-port local-ip local-port</a:t>
                      </a:r>
                      <a:r>
                        <a:rPr lang="en-US" sz="1000">
                          <a:latin typeface="Courier New"/>
                          <a:ea typeface="Courier New"/>
                          <a:cs typeface="Courier New"/>
                          <a:sym typeface="Courier New"/>
                        </a:rPr>
                        <a:t> [ </a:t>
                      </a:r>
                      <a:r>
                        <a:rPr b="1" lang="en-US" sz="1000">
                          <a:latin typeface="Courier New"/>
                          <a:ea typeface="Courier New"/>
                          <a:cs typeface="Courier New"/>
                          <a:sym typeface="Courier New"/>
                        </a:rPr>
                        <a:t>outside</a:t>
                      </a:r>
                      <a:r>
                        <a:rPr lang="en-US" sz="1000">
                          <a:latin typeface="Courier New"/>
                          <a:ea typeface="Courier New"/>
                          <a:cs typeface="Courier New"/>
                          <a:sym typeface="Courier New"/>
                        </a:rPr>
                        <a:t> </a:t>
                      </a:r>
                      <a:r>
                        <a:rPr i="1" lang="en-US" sz="1000">
                          <a:latin typeface="Courier New"/>
                          <a:ea typeface="Courier New"/>
                          <a:cs typeface="Courier New"/>
                          <a:sym typeface="Courier New"/>
                        </a:rPr>
                        <a:t>local-ip local-port global-ip global-port</a:t>
                      </a:r>
                      <a:r>
                        <a:rPr lang="en-US" sz="1000">
                          <a:latin typeface="Courier New"/>
                          <a:ea typeface="Courier New"/>
                          <a:cs typeface="Courier New"/>
                          <a:sym typeface="Courier New"/>
                        </a:rPr>
                        <a:t>]</a:t>
                      </a:r>
                      <a:endParaRPr/>
                    </a:p>
                  </a:txBody>
                  <a:tcPr marT="45725" marB="45725" marR="91450" marL="91450" anchor="ctr"/>
                </a:tc>
                <a:tc>
                  <a:txBody>
                    <a:bodyPr/>
                    <a:lstStyle/>
                    <a:p>
                      <a:pPr indent="0" lvl="0" marL="0" marR="0" rtl="0" algn="l">
                        <a:spcBef>
                          <a:spcPts val="0"/>
                        </a:spcBef>
                        <a:spcAft>
                          <a:spcPts val="0"/>
                        </a:spcAft>
                        <a:buNone/>
                      </a:pPr>
                      <a:r>
                        <a:rPr lang="en-US" sz="1000"/>
                        <a:t>Clears an extended dynamic translation entry.</a:t>
                      </a:r>
                      <a:endParaRPr/>
                    </a:p>
                  </a:txBody>
                  <a:tcPr marT="45725" marB="45725" marR="91450" marL="91450"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29"/>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                       </a:t>
            </a:r>
            <a:r>
              <a:rPr lang="en-US">
                <a:solidFill>
                  <a:srgbClr val="FFFF00"/>
                </a:solidFill>
              </a:rPr>
              <a:t>PAT</a:t>
            </a:r>
            <a:endParaRPr/>
          </a:p>
        </p:txBody>
      </p:sp>
    </p:spTree>
  </p:cSld>
  <p:clrMapOvr>
    <a:masterClrMapping/>
  </p:clrMapOvr>
  <p:transition spd="slow">
    <p:wipe dir="l"/>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3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PAT</a:t>
            </a:r>
            <a:br>
              <a:rPr lang="en-US"/>
            </a:br>
            <a:r>
              <a:rPr lang="en-US" sz="2400"/>
              <a:t>Configure PAT to Use a Single IPv4 Address</a:t>
            </a:r>
            <a:endParaRPr/>
          </a:p>
        </p:txBody>
      </p:sp>
      <p:sp>
        <p:nvSpPr>
          <p:cNvPr id="445" name="Google Shape;445;p30"/>
          <p:cNvSpPr txBox="1"/>
          <p:nvPr>
            <p:ph idx="1" type="body"/>
          </p:nvPr>
        </p:nvSpPr>
        <p:spPr>
          <a:xfrm>
            <a:off x="431971" y="855419"/>
            <a:ext cx="8007836" cy="207696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To configure PAT to use a single IPv4 address, add the keyword </a:t>
            </a:r>
            <a:r>
              <a:rPr b="1" lang="en-US" sz="1600">
                <a:solidFill>
                  <a:srgbClr val="000000"/>
                </a:solidFill>
              </a:rPr>
              <a:t>overload</a:t>
            </a:r>
            <a:r>
              <a:rPr lang="en-US" sz="1600">
                <a:solidFill>
                  <a:srgbClr val="000000"/>
                </a:solidFill>
              </a:rPr>
              <a:t> to the </a:t>
            </a:r>
            <a:r>
              <a:rPr b="1" lang="en-US" sz="1600">
                <a:solidFill>
                  <a:srgbClr val="000000"/>
                </a:solidFill>
              </a:rPr>
              <a:t>ip nat inside source</a:t>
            </a:r>
            <a:r>
              <a:rPr lang="en-US" sz="1600">
                <a:solidFill>
                  <a:srgbClr val="000000"/>
                </a:solidFill>
              </a:rPr>
              <a:t> command.</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In the example, all hosts from network 192.168.0.0/16 (matching ACL 1) that send traffic through router R2 to the internet will be translated to IPv4 address 209.165.200.225 (IPv4 address of interface S0/1/1). The traffic flows will be identified by port numbers in the NAT table because the </a:t>
            </a:r>
            <a:r>
              <a:rPr b="1" lang="en-US" sz="1600">
                <a:solidFill>
                  <a:srgbClr val="FF0000"/>
                </a:solidFill>
              </a:rPr>
              <a:t>overload</a:t>
            </a:r>
            <a:r>
              <a:rPr lang="en-US" sz="1600">
                <a:solidFill>
                  <a:srgbClr val="000000"/>
                </a:solidFill>
              </a:rPr>
              <a:t> keyword is configured.</a:t>
            </a:r>
            <a:endParaRPr/>
          </a:p>
          <a:p>
            <a:pPr indent="0" lvl="0" marL="0" rtl="0" algn="l">
              <a:lnSpc>
                <a:spcPct val="100000"/>
              </a:lnSpc>
              <a:spcBef>
                <a:spcPts val="360"/>
              </a:spcBef>
              <a:spcAft>
                <a:spcPts val="0"/>
              </a:spcAft>
              <a:buSzPts val="1800"/>
              <a:buNone/>
            </a:pPr>
            <a:r>
              <a:t/>
            </a:r>
            <a:endParaRPr sz="1800">
              <a:solidFill>
                <a:srgbClr val="000000"/>
              </a:solidFill>
            </a:endParaRPr>
          </a:p>
        </p:txBody>
      </p:sp>
      <p:sp>
        <p:nvSpPr>
          <p:cNvPr id="446" name="Google Shape;446;p30"/>
          <p:cNvSpPr txBox="1"/>
          <p:nvPr/>
        </p:nvSpPr>
        <p:spPr>
          <a:xfrm>
            <a:off x="431971" y="2932387"/>
            <a:ext cx="8280058" cy="1223412"/>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 </a:t>
            </a:r>
            <a:r>
              <a:rPr b="1" lang="en-US" sz="1050">
                <a:solidFill>
                  <a:schemeClr val="lt1"/>
                </a:solidFill>
                <a:latin typeface="Courier New"/>
                <a:ea typeface="Courier New"/>
                <a:cs typeface="Courier New"/>
                <a:sym typeface="Courier New"/>
              </a:rPr>
              <a:t>ip nat inside source list 1 interface serial 0/1/0 </a:t>
            </a:r>
            <a:r>
              <a:rPr b="1" lang="en-US" sz="1050">
                <a:solidFill>
                  <a:srgbClr val="CA8403"/>
                </a:solidFill>
                <a:latin typeface="Courier New"/>
                <a:ea typeface="Courier New"/>
                <a:cs typeface="Courier New"/>
                <a:sym typeface="Courier New"/>
              </a:rPr>
              <a:t>overload</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 </a:t>
            </a:r>
            <a:r>
              <a:rPr b="1" lang="en-US" sz="1050">
                <a:solidFill>
                  <a:schemeClr val="lt1"/>
                </a:solidFill>
                <a:latin typeface="Courier New"/>
                <a:ea typeface="Courier New"/>
                <a:cs typeface="Courier New"/>
                <a:sym typeface="Courier New"/>
              </a:rPr>
              <a:t>access-list 1 permit 192.168.0.0 0.0.255.255</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 </a:t>
            </a:r>
            <a:r>
              <a:rPr b="1" lang="en-US" sz="1050">
                <a:solidFill>
                  <a:schemeClr val="lt1"/>
                </a:solidFill>
                <a:latin typeface="Courier New"/>
                <a:ea typeface="Courier New"/>
                <a:cs typeface="Courier New"/>
                <a:sym typeface="Courier New"/>
              </a:rPr>
              <a:t>interface serial0/1/0</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R2(config-if)# </a:t>
            </a:r>
            <a:r>
              <a:rPr b="1" lang="en-US" sz="1050">
                <a:solidFill>
                  <a:schemeClr val="lt1"/>
                </a:solidFill>
                <a:latin typeface="Courier New"/>
                <a:ea typeface="Courier New"/>
                <a:cs typeface="Courier New"/>
                <a:sym typeface="Courier New"/>
              </a:rPr>
              <a:t>ip nat inside</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R2(config-if)# </a:t>
            </a:r>
            <a:r>
              <a:rPr b="1" lang="en-US" sz="1050">
                <a:solidFill>
                  <a:schemeClr val="lt1"/>
                </a:solidFill>
                <a:latin typeface="Courier New"/>
                <a:ea typeface="Courier New"/>
                <a:cs typeface="Courier New"/>
                <a:sym typeface="Courier New"/>
              </a:rPr>
              <a:t>exit</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 </a:t>
            </a:r>
            <a:r>
              <a:rPr b="1" lang="en-US" sz="1050">
                <a:solidFill>
                  <a:schemeClr val="lt1"/>
                </a:solidFill>
                <a:latin typeface="Courier New"/>
                <a:ea typeface="Courier New"/>
                <a:cs typeface="Courier New"/>
                <a:sym typeface="Courier New"/>
              </a:rPr>
              <a:t>interface Serial0/1/1</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R2(config-if)# </a:t>
            </a:r>
            <a:r>
              <a:rPr b="1" lang="en-US" sz="1050">
                <a:solidFill>
                  <a:schemeClr val="lt1"/>
                </a:solidFill>
                <a:latin typeface="Courier New"/>
                <a:ea typeface="Courier New"/>
                <a:cs typeface="Courier New"/>
                <a:sym typeface="Courier New"/>
              </a:rPr>
              <a:t>ip nat outside</a:t>
            </a:r>
            <a:endParaRPr b="1" sz="1050">
              <a:solidFill>
                <a:srgbClr val="FFC000"/>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PAT</a:t>
            </a:r>
            <a:br>
              <a:rPr lang="en-US"/>
            </a:br>
            <a:r>
              <a:rPr lang="en-US" sz="2400"/>
              <a:t>Configure PAT to Use an Address Pool</a:t>
            </a:r>
            <a:endParaRPr/>
          </a:p>
        </p:txBody>
      </p:sp>
      <p:sp>
        <p:nvSpPr>
          <p:cNvPr id="453" name="Google Shape;453;p31"/>
          <p:cNvSpPr txBox="1"/>
          <p:nvPr>
            <p:ph idx="1" type="body"/>
          </p:nvPr>
        </p:nvSpPr>
        <p:spPr>
          <a:xfrm>
            <a:off x="568082" y="823837"/>
            <a:ext cx="8007836" cy="207696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An ISP may allocate more than one public IPv4 address to an organization. In this scenario the organization can configure PAT to use a pool of IPv4 public addresses for translation.</a:t>
            </a:r>
            <a:endParaRPr/>
          </a:p>
          <a:p>
            <a:pPr indent="0" lvl="0" marL="0" rtl="0" algn="l">
              <a:lnSpc>
                <a:spcPct val="100000"/>
              </a:lnSpc>
              <a:spcBef>
                <a:spcPts val="320"/>
              </a:spcBef>
              <a:spcAft>
                <a:spcPts val="0"/>
              </a:spcAft>
              <a:buSzPts val="1600"/>
              <a:buNone/>
            </a:pPr>
            <a:r>
              <a:rPr lang="en-US" sz="1600">
                <a:solidFill>
                  <a:srgbClr val="000000"/>
                </a:solidFill>
              </a:rPr>
              <a:t>To configure PAT for a dynamic NAT address pool, simply add the keyword </a:t>
            </a:r>
            <a:r>
              <a:rPr b="1" lang="en-US" sz="1600">
                <a:solidFill>
                  <a:srgbClr val="000000"/>
                </a:solidFill>
              </a:rPr>
              <a:t>overload</a:t>
            </a:r>
            <a:r>
              <a:rPr lang="en-US" sz="1600">
                <a:solidFill>
                  <a:srgbClr val="000000"/>
                </a:solidFill>
              </a:rPr>
              <a:t> to the </a:t>
            </a:r>
            <a:r>
              <a:rPr b="1" lang="en-US" sz="1600">
                <a:solidFill>
                  <a:srgbClr val="000000"/>
                </a:solidFill>
              </a:rPr>
              <a:t>ip nat inside source</a:t>
            </a:r>
            <a:r>
              <a:rPr lang="en-US" sz="1600">
                <a:solidFill>
                  <a:srgbClr val="000000"/>
                </a:solidFill>
              </a:rPr>
              <a:t> command.</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In the example, NAT-POOL2 is bound to an ACL to permit 192.168.0.0/16 to be translated. These hosts can share an IPv4 address from the pool because PAT is enabled with the keyword </a:t>
            </a:r>
            <a:r>
              <a:rPr b="1" lang="en-US" sz="1600">
                <a:solidFill>
                  <a:srgbClr val="000000"/>
                </a:solidFill>
              </a:rPr>
              <a:t>overload</a:t>
            </a:r>
            <a:r>
              <a:rPr lang="en-US" sz="1400">
                <a:solidFill>
                  <a:srgbClr val="000000"/>
                </a:solidFill>
              </a:rPr>
              <a:t>.</a:t>
            </a:r>
            <a:endParaRPr/>
          </a:p>
        </p:txBody>
      </p:sp>
      <p:sp>
        <p:nvSpPr>
          <p:cNvPr id="454" name="Google Shape;454;p31"/>
          <p:cNvSpPr txBox="1"/>
          <p:nvPr/>
        </p:nvSpPr>
        <p:spPr>
          <a:xfrm>
            <a:off x="431971" y="3281179"/>
            <a:ext cx="8280058" cy="1223412"/>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 ip nat pool NAT-POOL2 209.165.200.226 209.165.200.240 netmask 255.255.255.224</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 access-list 1 permit 192.168.0.0 0.0.255.255</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 ip nat inside source list 1 pool NAT-POOL2 </a:t>
            </a:r>
            <a:r>
              <a:rPr lang="en-US" sz="1050">
                <a:solidFill>
                  <a:srgbClr val="CA8403"/>
                </a:solidFill>
                <a:latin typeface="Courier New"/>
                <a:ea typeface="Courier New"/>
                <a:cs typeface="Courier New"/>
                <a:sym typeface="Courier New"/>
              </a:rPr>
              <a:t>overload</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 interface serial0/1/0</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R2(config-if)# ip nat inside</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R2(config-if)# interface serial0/1/0</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R2(config-if)# ip nat outside</a:t>
            </a:r>
            <a:endParaRPr b="1" sz="1050">
              <a:solidFill>
                <a:srgbClr val="FFC000"/>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3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PAT</a:t>
            </a:r>
            <a:br>
              <a:rPr lang="en-US"/>
            </a:br>
            <a:r>
              <a:rPr lang="en-US" sz="2400"/>
              <a:t>Analyze PAT – Server to PC</a:t>
            </a:r>
            <a:endParaRPr/>
          </a:p>
        </p:txBody>
      </p:sp>
      <p:sp>
        <p:nvSpPr>
          <p:cNvPr id="461" name="Google Shape;461;p32"/>
          <p:cNvSpPr txBox="1"/>
          <p:nvPr>
            <p:ph idx="1" type="body"/>
          </p:nvPr>
        </p:nvSpPr>
        <p:spPr>
          <a:xfrm>
            <a:off x="0" y="855419"/>
            <a:ext cx="4235669" cy="3815706"/>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AutoNum type="arabicPeriod"/>
            </a:pPr>
            <a:r>
              <a:rPr lang="en-US" sz="1600">
                <a:solidFill>
                  <a:srgbClr val="000000"/>
                </a:solidFill>
              </a:rPr>
              <a:t>PC1 and PC2 send packets to Svr1 and Svr2.</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The packet from PC1 reaches R2 first. R2 modifies the source IPv4 address to 209.165.200.225 (inside global address). The packet is then forwarded towards Svr1.</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The packet from PC2 arrives at R2. PAT changes the source IPv4 address of PC2 to the inside global address 209.165.200.225. PC2 has the same source port number as the translation for PC1. PAT increments the source port number until it is a unique value in its table. In this instance, 1445.</a:t>
            </a:r>
            <a:endParaRPr/>
          </a:p>
        </p:txBody>
      </p:sp>
      <p:pic>
        <p:nvPicPr>
          <p:cNvPr id="462" name="Google Shape;462;p32"/>
          <p:cNvPicPr preferRelativeResize="0"/>
          <p:nvPr/>
        </p:nvPicPr>
        <p:blipFill rotWithShape="1">
          <a:blip r:embed="rId3">
            <a:alphaModFix/>
          </a:blip>
          <a:srcRect b="0" l="0" r="0" t="0"/>
          <a:stretch/>
        </p:blipFill>
        <p:spPr>
          <a:xfrm>
            <a:off x="4761186" y="954060"/>
            <a:ext cx="3950843" cy="371706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PAT</a:t>
            </a:r>
            <a:br>
              <a:rPr lang="en-US"/>
            </a:br>
            <a:r>
              <a:rPr lang="en-US" sz="2400"/>
              <a:t>Analyze PAT – PC to Server</a:t>
            </a:r>
            <a:endParaRPr/>
          </a:p>
        </p:txBody>
      </p:sp>
      <p:sp>
        <p:nvSpPr>
          <p:cNvPr id="469" name="Google Shape;469;p33"/>
          <p:cNvSpPr txBox="1"/>
          <p:nvPr>
            <p:ph idx="1" type="body"/>
          </p:nvPr>
        </p:nvSpPr>
        <p:spPr>
          <a:xfrm>
            <a:off x="122548" y="855419"/>
            <a:ext cx="4113121" cy="3815706"/>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AutoNum type="arabicPeriod"/>
            </a:pPr>
            <a:r>
              <a:rPr lang="en-US" sz="1600">
                <a:solidFill>
                  <a:srgbClr val="000000"/>
                </a:solidFill>
              </a:rPr>
              <a:t>PC1 and PC2 send packets to Svr1 and Svr2.</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The packet from PC1 reaches R2 first. R2 modifies the source IPv4 address to 209.165.200.225 (inside global address). The packet is then forwarded towards Svr1.</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The packet from PC2 arrives at R2. PAT changes the source IPv4 address of PC2 to the inside global address 209.165.200.225. PC2 has the same source port number as the translation for PC1. PAT increments the source port number until it is a unique value in its table. In this instance, it is 1445.</a:t>
            </a:r>
            <a:endParaRPr/>
          </a:p>
        </p:txBody>
      </p:sp>
      <p:pic>
        <p:nvPicPr>
          <p:cNvPr id="470" name="Google Shape;470;p33"/>
          <p:cNvPicPr preferRelativeResize="0"/>
          <p:nvPr/>
        </p:nvPicPr>
        <p:blipFill rotWithShape="1">
          <a:blip r:embed="rId3">
            <a:alphaModFix/>
          </a:blip>
          <a:srcRect b="0" l="0" r="0" t="0"/>
          <a:stretch/>
        </p:blipFill>
        <p:spPr>
          <a:xfrm>
            <a:off x="4761186" y="954060"/>
            <a:ext cx="3950843" cy="371706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3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PAT</a:t>
            </a:r>
            <a:br>
              <a:rPr lang="en-US"/>
            </a:br>
            <a:r>
              <a:rPr lang="en-US" sz="2400"/>
              <a:t>Analyze PAT – Server to PC</a:t>
            </a:r>
            <a:endParaRPr/>
          </a:p>
        </p:txBody>
      </p:sp>
      <p:sp>
        <p:nvSpPr>
          <p:cNvPr id="477" name="Google Shape;477;p34"/>
          <p:cNvSpPr txBox="1"/>
          <p:nvPr>
            <p:ph idx="1" type="body"/>
          </p:nvPr>
        </p:nvSpPr>
        <p:spPr>
          <a:xfrm>
            <a:off x="141402" y="855419"/>
            <a:ext cx="4404123" cy="3815706"/>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AutoNum type="arabicPeriod"/>
            </a:pPr>
            <a:r>
              <a:rPr lang="en-US" sz="1600">
                <a:solidFill>
                  <a:srgbClr val="000000"/>
                </a:solidFill>
              </a:rPr>
              <a:t>The servers use the source port from the received packet as the destination port, and the source address as the destination address for the return traffic.</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R2 changes the destination IPv4 address of the packet from Srv1 from 209.165.200.225 to 192.168.10.10, and forwards the packet toward PC1.</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R2 changes the destination address of packet from Srv2. from 209.165.200.225 to 192.168.10.11. and modifies the destinations port back to its original value of 1444. The packet is then forwarded toward PC2.</a:t>
            </a:r>
            <a:endParaRPr/>
          </a:p>
        </p:txBody>
      </p:sp>
      <p:pic>
        <p:nvPicPr>
          <p:cNvPr id="478" name="Google Shape;478;p34"/>
          <p:cNvPicPr preferRelativeResize="0"/>
          <p:nvPr/>
        </p:nvPicPr>
        <p:blipFill rotWithShape="1">
          <a:blip r:embed="rId3">
            <a:alphaModFix/>
          </a:blip>
          <a:srcRect b="0" l="0" r="0" t="0"/>
          <a:stretch/>
        </p:blipFill>
        <p:spPr>
          <a:xfrm>
            <a:off x="4762922" y="731837"/>
            <a:ext cx="4113556" cy="381570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PAT</a:t>
            </a:r>
            <a:br>
              <a:rPr lang="en-US"/>
            </a:br>
            <a:r>
              <a:rPr lang="en-US" sz="2400"/>
              <a:t>Verify PAT</a:t>
            </a:r>
            <a:endParaRPr/>
          </a:p>
        </p:txBody>
      </p:sp>
      <p:sp>
        <p:nvSpPr>
          <p:cNvPr id="485" name="Google Shape;485;p35"/>
          <p:cNvSpPr txBox="1"/>
          <p:nvPr>
            <p:ph idx="1" type="body"/>
          </p:nvPr>
        </p:nvSpPr>
        <p:spPr>
          <a:xfrm>
            <a:off x="431970" y="855419"/>
            <a:ext cx="7913517" cy="1524809"/>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same commands used to verify static and dynamic NAT are used to verify PAT. The </a:t>
            </a:r>
            <a:r>
              <a:rPr b="1" lang="en-US" sz="1600">
                <a:solidFill>
                  <a:srgbClr val="000000"/>
                </a:solidFill>
              </a:rPr>
              <a:t>show ip nat translations</a:t>
            </a:r>
            <a:r>
              <a:rPr lang="en-US" sz="1600">
                <a:solidFill>
                  <a:srgbClr val="000000"/>
                </a:solidFill>
              </a:rPr>
              <a:t> command displays the translations from two different hosts to different web servers. Notice that two different inside hosts are allocated the same IPv4 address of 209.165.200.226 (inside global address). The source port numbers in the NAT table differentiate the two transactions.</a:t>
            </a:r>
            <a:endParaRPr/>
          </a:p>
        </p:txBody>
      </p:sp>
      <p:sp>
        <p:nvSpPr>
          <p:cNvPr id="486" name="Google Shape;486;p35"/>
          <p:cNvSpPr txBox="1"/>
          <p:nvPr/>
        </p:nvSpPr>
        <p:spPr>
          <a:xfrm>
            <a:off x="431971" y="2763272"/>
            <a:ext cx="8280058" cy="900246"/>
          </a:xfrm>
          <a:prstGeom prst="rect">
            <a:avLst/>
          </a:prstGeom>
          <a:solidFill>
            <a:srgbClr val="0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 </a:t>
            </a:r>
            <a:r>
              <a:rPr b="1" lang="en-US" sz="1050">
                <a:solidFill>
                  <a:schemeClr val="lt1"/>
                </a:solidFill>
                <a:latin typeface="Courier New"/>
                <a:ea typeface="Courier New"/>
                <a:cs typeface="Courier New"/>
                <a:sym typeface="Courier New"/>
              </a:rPr>
              <a:t>show ip nat translations</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Pro Inside global          Inside local         Outside local      Outside global</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tcp </a:t>
            </a:r>
            <a:r>
              <a:rPr lang="en-US" sz="1050">
                <a:solidFill>
                  <a:srgbClr val="CA8403"/>
                </a:solidFill>
                <a:latin typeface="Courier New"/>
                <a:ea typeface="Courier New"/>
                <a:cs typeface="Courier New"/>
                <a:sym typeface="Courier New"/>
              </a:rPr>
              <a:t>209.165.200.225:1444</a:t>
            </a:r>
            <a:r>
              <a:rPr lang="en-US" sz="1050">
                <a:solidFill>
                  <a:schemeClr val="lt1"/>
                </a:solidFill>
                <a:latin typeface="Courier New"/>
                <a:ea typeface="Courier New"/>
                <a:cs typeface="Courier New"/>
                <a:sym typeface="Courier New"/>
              </a:rPr>
              <a:t>  192.168.10.10:1444  209.165.201.1:80   209.165.201.1:80</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tcp </a:t>
            </a:r>
            <a:r>
              <a:rPr lang="en-US" sz="1050">
                <a:solidFill>
                  <a:srgbClr val="CA8403"/>
                </a:solidFill>
                <a:latin typeface="Courier New"/>
                <a:ea typeface="Courier New"/>
                <a:cs typeface="Courier New"/>
                <a:sym typeface="Courier New"/>
              </a:rPr>
              <a:t>209.165.200.225:1445</a:t>
            </a:r>
            <a:r>
              <a:rPr lang="en-US" sz="1050">
                <a:solidFill>
                  <a:schemeClr val="lt1"/>
                </a:solidFill>
                <a:latin typeface="Courier New"/>
                <a:ea typeface="Courier New"/>
                <a:cs typeface="Courier New"/>
                <a:sym typeface="Courier New"/>
              </a:rPr>
              <a:t>  192.168.11.10:1444  209.165.202.129:80 209.165.202.129:80</a:t>
            </a:r>
            <a:endParaRPr/>
          </a:p>
          <a:p>
            <a:pPr indent="0" lvl="0" marL="0" marR="0" rtl="0" algn="l">
              <a:spcBef>
                <a:spcPts val="0"/>
              </a:spcBef>
              <a:spcAft>
                <a:spcPts val="0"/>
              </a:spcAft>
              <a:buNone/>
            </a:pPr>
            <a:r>
              <a:rPr lang="en-US" sz="1050">
                <a:solidFill>
                  <a:schemeClr val="lt1"/>
                </a:solidFill>
                <a:latin typeface="Courier New"/>
                <a:ea typeface="Courier New"/>
                <a:cs typeface="Courier New"/>
                <a:sym typeface="Courier New"/>
              </a:rPr>
              <a:t>R2#</a:t>
            </a:r>
            <a:endParaRPr b="1" sz="1050">
              <a:solidFill>
                <a:srgbClr val="FFC000"/>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