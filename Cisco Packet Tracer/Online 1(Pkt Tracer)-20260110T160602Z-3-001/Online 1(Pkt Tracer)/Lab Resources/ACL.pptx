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57" roundtripDataSignature="AMtx7mgU/Ma2hQzubmQR9dMjg9mczGFU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9675E4-1829-4FB6-B912-4EDA559463AB}">
  <a:tblStyle styleId="{719675E4-1829-4FB6-B912-4EDA559463A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4.1 - Purpose of ACLs</a:t>
            </a:r>
            <a:endParaRPr/>
          </a:p>
        </p:txBody>
      </p:sp>
      <p:sp>
        <p:nvSpPr>
          <p:cNvPr id="216" name="Google Shape;21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4.1 - Purpose of ACLs</a:t>
            </a:r>
            <a:endParaRPr/>
          </a:p>
          <a:p>
            <a:pPr indent="0" lvl="0" marL="0" rtl="0" algn="l">
              <a:spcBef>
                <a:spcPts val="0"/>
              </a:spcBef>
              <a:spcAft>
                <a:spcPts val="0"/>
              </a:spcAft>
              <a:buNone/>
            </a:pPr>
            <a:r>
              <a:rPr lang="en-US"/>
              <a:t>4.1.3 - ACL Operation</a:t>
            </a:r>
            <a:endParaRPr/>
          </a:p>
        </p:txBody>
      </p:sp>
      <p:sp>
        <p:nvSpPr>
          <p:cNvPr id="245" name="Google Shape;24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4.2 - Wildcard Masks in ACLs</a:t>
            </a:r>
            <a:endParaRPr/>
          </a:p>
          <a:p>
            <a:pPr indent="0" lvl="0" marL="0" rtl="0" algn="l">
              <a:spcBef>
                <a:spcPts val="0"/>
              </a:spcBef>
              <a:spcAft>
                <a:spcPts val="0"/>
              </a:spcAft>
              <a:buNone/>
            </a:pPr>
            <a:r>
              <a:rPr lang="en-US"/>
              <a:t>4.2.1 - Wildcard Mask Overview (Cont.)</a:t>
            </a:r>
            <a:endParaRPr/>
          </a:p>
        </p:txBody>
      </p:sp>
      <p:sp>
        <p:nvSpPr>
          <p:cNvPr id="267" name="Google Shape;26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4.2 - Wildcard Masks in ACLs</a:t>
            </a:r>
            <a:endParaRPr/>
          </a:p>
          <a:p>
            <a:pPr indent="0" lvl="0" marL="0" rtl="0" algn="l">
              <a:spcBef>
                <a:spcPts val="0"/>
              </a:spcBef>
              <a:spcAft>
                <a:spcPts val="0"/>
              </a:spcAft>
              <a:buNone/>
            </a:pPr>
            <a:r>
              <a:rPr lang="en-US"/>
              <a:t>4.2.2 - Wildcard Mask Types</a:t>
            </a:r>
            <a:endParaRPr/>
          </a:p>
        </p:txBody>
      </p:sp>
      <p:sp>
        <p:nvSpPr>
          <p:cNvPr id="274" name="Google Shape;27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4.2 - Wildcard Masks in ACLs</a:t>
            </a:r>
            <a:endParaRPr/>
          </a:p>
          <a:p>
            <a:pPr indent="0" lvl="0" marL="0" rtl="0" algn="l">
              <a:spcBef>
                <a:spcPts val="0"/>
              </a:spcBef>
              <a:spcAft>
                <a:spcPts val="0"/>
              </a:spcAft>
              <a:buNone/>
            </a:pPr>
            <a:r>
              <a:rPr lang="en-US"/>
              <a:t>4.2.2 - Wildcard Mask Types (Cont.)</a:t>
            </a:r>
            <a:endParaRPr/>
          </a:p>
        </p:txBody>
      </p:sp>
      <p:sp>
        <p:nvSpPr>
          <p:cNvPr id="282" name="Google Shape;28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4.2 - Wildcard Masks in ACLs</a:t>
            </a:r>
            <a:endParaRPr/>
          </a:p>
          <a:p>
            <a:pPr indent="0" lvl="0" marL="0" rtl="0" algn="l">
              <a:spcBef>
                <a:spcPts val="0"/>
              </a:spcBef>
              <a:spcAft>
                <a:spcPts val="0"/>
              </a:spcAft>
              <a:buNone/>
            </a:pPr>
            <a:r>
              <a:rPr lang="en-US"/>
              <a:t>4.2.2 - Wildcard Mask Types (Cont.)</a:t>
            </a:r>
            <a:endParaRPr/>
          </a:p>
        </p:txBody>
      </p:sp>
      <p:sp>
        <p:nvSpPr>
          <p:cNvPr id="290" name="Google Shape;29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4.3 - Guidelines for ACLs</a:t>
            </a:r>
            <a:endParaRPr/>
          </a:p>
        </p:txBody>
      </p:sp>
      <p:sp>
        <p:nvSpPr>
          <p:cNvPr id="298" name="Google Shape;29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4.3 - Guidelines for ACLs</a:t>
            </a:r>
            <a:endParaRPr/>
          </a:p>
          <a:p>
            <a:pPr indent="0" lvl="0" marL="0" rtl="0" algn="l">
              <a:spcBef>
                <a:spcPts val="0"/>
              </a:spcBef>
              <a:spcAft>
                <a:spcPts val="0"/>
              </a:spcAft>
              <a:buNone/>
            </a:pPr>
            <a:r>
              <a:rPr lang="en-US"/>
              <a:t>4.3.1 - Limited Number of ACLs per Interface</a:t>
            </a:r>
            <a:endParaRPr/>
          </a:p>
        </p:txBody>
      </p:sp>
      <p:sp>
        <p:nvSpPr>
          <p:cNvPr id="304" name="Google Shape;30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4.3 - Guidelines for ACLs</a:t>
            </a:r>
            <a:endParaRPr/>
          </a:p>
          <a:p>
            <a:pPr indent="0" lvl="0" marL="0" rtl="0" algn="l">
              <a:spcBef>
                <a:spcPts val="0"/>
              </a:spcBef>
              <a:spcAft>
                <a:spcPts val="0"/>
              </a:spcAft>
              <a:buNone/>
            </a:pPr>
            <a:r>
              <a:rPr lang="en-US"/>
              <a:t>4.3.1 - Limited Number of ACLs per Interface</a:t>
            </a:r>
            <a:endParaRPr/>
          </a:p>
          <a:p>
            <a:pPr indent="0" lvl="0" marL="0" rtl="0" algn="l">
              <a:spcBef>
                <a:spcPts val="0"/>
              </a:spcBef>
              <a:spcAft>
                <a:spcPts val="0"/>
              </a:spcAft>
              <a:buNone/>
            </a:pPr>
            <a:r>
              <a:rPr lang="en-US"/>
              <a:t>4.3.2 - Check Your Understanding - Guidelines for ACL Creation</a:t>
            </a:r>
            <a:endParaRPr/>
          </a:p>
        </p:txBody>
      </p:sp>
      <p:sp>
        <p:nvSpPr>
          <p:cNvPr id="313" name="Google Shape;31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p:txBody>
      </p:sp>
      <p:sp>
        <p:nvSpPr>
          <p:cNvPr id="321" name="Google Shape;32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4.4.1 - Standard and Extended ACLs</a:t>
            </a:r>
            <a:endParaRPr/>
          </a:p>
        </p:txBody>
      </p:sp>
      <p:sp>
        <p:nvSpPr>
          <p:cNvPr id="327" name="Google Shape;32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4.4.2 - Numbered and Named ACLs</a:t>
            </a:r>
            <a:endParaRPr/>
          </a:p>
        </p:txBody>
      </p:sp>
      <p:sp>
        <p:nvSpPr>
          <p:cNvPr id="334" name="Google Shape;33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4.4.2 - Numbered and Named ACLs (Cont.)</a:t>
            </a:r>
            <a:endParaRPr/>
          </a:p>
        </p:txBody>
      </p:sp>
      <p:sp>
        <p:nvSpPr>
          <p:cNvPr id="342" name="Google Shape;34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4.4.3 - Where to Place ACLs</a:t>
            </a:r>
            <a:endParaRPr/>
          </a:p>
        </p:txBody>
      </p:sp>
      <p:sp>
        <p:nvSpPr>
          <p:cNvPr id="350" name="Google Shape;35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4.4.3 - Where to Place ACLs (Cont.)</a:t>
            </a:r>
            <a:endParaRPr/>
          </a:p>
        </p:txBody>
      </p:sp>
      <p:sp>
        <p:nvSpPr>
          <p:cNvPr id="358" name="Google Shape;35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rtl="0" algn="l">
              <a:spcBef>
                <a:spcPts val="0"/>
              </a:spcBef>
              <a:spcAft>
                <a:spcPts val="0"/>
              </a:spcAft>
              <a:buNone/>
            </a:pPr>
            <a:r>
              <a:rPr lang="en-US"/>
              <a:t>4.4.4 - Standard ACL Placement Example</a:t>
            </a:r>
            <a:endParaRPr/>
          </a:p>
        </p:txBody>
      </p:sp>
      <p:sp>
        <p:nvSpPr>
          <p:cNvPr id="365" name="Google Shape;365;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4.4.4 - Standard ACL Placement Example (Cont.)</a:t>
            </a:r>
            <a:endParaRPr/>
          </a:p>
        </p:txBody>
      </p:sp>
      <p:sp>
        <p:nvSpPr>
          <p:cNvPr id="373" name="Google Shape;373;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4.4.5 - Extended ACL Placement Example </a:t>
            </a:r>
            <a:endParaRPr/>
          </a:p>
        </p:txBody>
      </p:sp>
      <p:sp>
        <p:nvSpPr>
          <p:cNvPr id="381" name="Google Shape;38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ACL Concepts</a:t>
            </a:r>
            <a:endParaRPr/>
          </a:p>
          <a:p>
            <a:pPr indent="0" lvl="0" marL="0" rtl="0" algn="l">
              <a:spcBef>
                <a:spcPts val="0"/>
              </a:spcBef>
              <a:spcAft>
                <a:spcPts val="0"/>
              </a:spcAft>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4.4.5 - Extended ACL Placement Example (Cont.)</a:t>
            </a:r>
            <a:endParaRPr/>
          </a:p>
          <a:p>
            <a:pPr indent="0" lvl="0" marL="0" marR="0" rtl="0" algn="l">
              <a:lnSpc>
                <a:spcPct val="100000"/>
              </a:lnSpc>
              <a:spcBef>
                <a:spcPts val="0"/>
              </a:spcBef>
              <a:spcAft>
                <a:spcPts val="0"/>
              </a:spcAft>
              <a:buClr>
                <a:schemeClr val="dk1"/>
              </a:buClr>
              <a:buSzPts val="1200"/>
              <a:buFont typeface="Calibri"/>
              <a:buNone/>
            </a:pPr>
            <a:r>
              <a:rPr lang="en-US"/>
              <a:t>4.4.5 - Check Your Understanding - Guidelines for ACL Placement</a:t>
            </a:r>
            <a:endParaRPr/>
          </a:p>
        </p:txBody>
      </p:sp>
      <p:sp>
        <p:nvSpPr>
          <p:cNvPr id="389" name="Google Shape;38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p:txBody>
      </p:sp>
      <p:sp>
        <p:nvSpPr>
          <p:cNvPr id="397" name="Google Shape;39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5.1.1 – Create an ACL</a:t>
            </a:r>
            <a:endParaRPr/>
          </a:p>
        </p:txBody>
      </p:sp>
      <p:sp>
        <p:nvSpPr>
          <p:cNvPr id="403" name="Google Shape;403;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5.1.2 – Numbered Standard IPv4 ACL Syntax</a:t>
            </a:r>
            <a:endParaRPr/>
          </a:p>
        </p:txBody>
      </p:sp>
      <p:sp>
        <p:nvSpPr>
          <p:cNvPr id="410" name="Google Shape;41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5.1.5 – Numbered Standard IPv4 ACL Example</a:t>
            </a:r>
            <a:endParaRPr/>
          </a:p>
        </p:txBody>
      </p:sp>
      <p:sp>
        <p:nvSpPr>
          <p:cNvPr id="420" name="Google Shape;42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5.1.5 – Numbered Standard IPv4 ACL Example (Cont.)</a:t>
            </a:r>
            <a:endParaRPr/>
          </a:p>
        </p:txBody>
      </p:sp>
      <p:sp>
        <p:nvSpPr>
          <p:cNvPr id="430" name="Google Shape;43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5.1.6 – Named Standard IPv4 ACL Example</a:t>
            </a:r>
            <a:endParaRPr/>
          </a:p>
          <a:p>
            <a:pPr indent="0" lvl="0" marL="0" rtl="0" algn="l">
              <a:spcBef>
                <a:spcPts val="0"/>
              </a:spcBef>
              <a:spcAft>
                <a:spcPts val="0"/>
              </a:spcAft>
              <a:buNone/>
            </a:pPr>
            <a:r>
              <a:t/>
            </a:r>
            <a:endParaRPr/>
          </a:p>
        </p:txBody>
      </p:sp>
      <p:sp>
        <p:nvSpPr>
          <p:cNvPr id="439" name="Google Shape;43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5.2.1 – Two Methods to Modify and ACL</a:t>
            </a:r>
            <a:endParaRPr/>
          </a:p>
        </p:txBody>
      </p:sp>
      <p:sp>
        <p:nvSpPr>
          <p:cNvPr id="449" name="Google Shape;44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5.2.2 – Text Editor Method</a:t>
            </a:r>
            <a:endParaRPr/>
          </a:p>
        </p:txBody>
      </p:sp>
      <p:sp>
        <p:nvSpPr>
          <p:cNvPr id="456" name="Google Shape;45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5.2.3 – Sequence Number Method</a:t>
            </a:r>
            <a:endParaRPr/>
          </a:p>
        </p:txBody>
      </p:sp>
      <p:sp>
        <p:nvSpPr>
          <p:cNvPr id="465" name="Google Shape;465;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t/>
            </a:r>
            <a:endParaRPr/>
          </a:p>
        </p:txBody>
      </p:sp>
      <p:sp>
        <p:nvSpPr>
          <p:cNvPr id="474" name="Google Shape;474;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rPr lang="en-US"/>
              <a:t>5.3.2 – Secure VTY Access Example</a:t>
            </a:r>
            <a:endParaRPr/>
          </a:p>
        </p:txBody>
      </p:sp>
      <p:sp>
        <p:nvSpPr>
          <p:cNvPr id="480" name="Google Shape;480;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rPr lang="en-US"/>
              <a:t>5.3.3 – Verify the VTY Port is Secured</a:t>
            </a:r>
            <a:endParaRPr/>
          </a:p>
          <a:p>
            <a:pPr indent="0" lvl="0" marL="0" rtl="0" algn="l">
              <a:spcBef>
                <a:spcPts val="0"/>
              </a:spcBef>
              <a:spcAft>
                <a:spcPts val="0"/>
              </a:spcAft>
              <a:buNone/>
            </a:pPr>
            <a:r>
              <a:rPr lang="en-US"/>
              <a:t>5.3.4 – Syntax Checker – Secure the VTY Ports</a:t>
            </a:r>
            <a:endParaRPr/>
          </a:p>
        </p:txBody>
      </p:sp>
      <p:sp>
        <p:nvSpPr>
          <p:cNvPr id="488" name="Google Shape;48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t/>
            </a:r>
            <a:endParaRPr/>
          </a:p>
        </p:txBody>
      </p:sp>
      <p:sp>
        <p:nvSpPr>
          <p:cNvPr id="496" name="Google Shape;49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 – Extended ACLs</a:t>
            </a:r>
            <a:endParaRPr/>
          </a:p>
        </p:txBody>
      </p:sp>
      <p:sp>
        <p:nvSpPr>
          <p:cNvPr id="502" name="Google Shape;502;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5.4.3 – Protocols and Ports</a:t>
            </a:r>
            <a:endParaRPr/>
          </a:p>
        </p:txBody>
      </p:sp>
      <p:sp>
        <p:nvSpPr>
          <p:cNvPr id="509" name="Google Shape;509;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5.4.5 – Apply a Numbered Extended IPv4 ACL</a:t>
            </a:r>
            <a:endParaRPr/>
          </a:p>
        </p:txBody>
      </p:sp>
      <p:sp>
        <p:nvSpPr>
          <p:cNvPr id="517" name="Google Shape;51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5.4.6 – TCP Established Extended ACL</a:t>
            </a:r>
            <a:endParaRPr/>
          </a:p>
        </p:txBody>
      </p:sp>
      <p:sp>
        <p:nvSpPr>
          <p:cNvPr id="525" name="Google Shape;525;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5.4.6 – TCP Established Extended ACL (Cont.)</a:t>
            </a:r>
            <a:endParaRPr/>
          </a:p>
        </p:txBody>
      </p:sp>
      <p:sp>
        <p:nvSpPr>
          <p:cNvPr id="533" name="Google Shape;533;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5.4.7 – Named Extended IPv4 ACL Syntax</a:t>
            </a:r>
            <a:endParaRPr/>
          </a:p>
        </p:txBody>
      </p:sp>
      <p:sp>
        <p:nvSpPr>
          <p:cNvPr id="541" name="Google Shape;541;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a:t>
            </a:r>
            <a:endParaRPr/>
          </a:p>
        </p:txBody>
      </p:sp>
      <p:sp>
        <p:nvSpPr>
          <p:cNvPr id="550" name="Google Shape;550;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 (Cont.)</a:t>
            </a:r>
            <a:endParaRPr/>
          </a:p>
        </p:txBody>
      </p:sp>
      <p:sp>
        <p:nvSpPr>
          <p:cNvPr id="558" name="Google Shape;558;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 (Cont.)</a:t>
            </a:r>
            <a:endParaRPr/>
          </a:p>
        </p:txBody>
      </p:sp>
      <p:sp>
        <p:nvSpPr>
          <p:cNvPr id="566" name="Google Shape;566;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5.4.10 – Another Extended IPv4 ACL Example</a:t>
            </a:r>
            <a:endParaRPr/>
          </a:p>
        </p:txBody>
      </p:sp>
      <p:sp>
        <p:nvSpPr>
          <p:cNvPr id="574" name="Google Shape;574;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5.4.10 – Another Extended IPv4 ACL Example (Cont.)</a:t>
            </a:r>
            <a:endParaRPr/>
          </a:p>
        </p:txBody>
      </p:sp>
      <p:sp>
        <p:nvSpPr>
          <p:cNvPr id="582" name="Google Shape;582;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5.4.11 – Verify Extended ACLs</a:t>
            </a:r>
            <a:endParaRPr/>
          </a:p>
        </p:txBody>
      </p:sp>
      <p:sp>
        <p:nvSpPr>
          <p:cNvPr id="590" name="Google Shape;590;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5.4.11 – Verify Extended ACLs (Cont.)</a:t>
            </a:r>
            <a:endParaRPr/>
          </a:p>
        </p:txBody>
      </p:sp>
      <p:sp>
        <p:nvSpPr>
          <p:cNvPr id="598" name="Google Shape;598;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12" name="Shape 12"/>
        <p:cNvGrpSpPr/>
        <p:nvPr/>
      </p:nvGrpSpPr>
      <p:grpSpPr>
        <a:xfrm>
          <a:off x="0" y="0"/>
          <a:ext cx="0" cy="0"/>
          <a:chOff x="0" y="0"/>
          <a:chExt cx="0" cy="0"/>
        </a:xfrm>
      </p:grpSpPr>
      <p:sp>
        <p:nvSpPr>
          <p:cNvPr id="13" name="Google Shape;13;p52"/>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52"/>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 name="Google Shape;15;p52"/>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16" name="Google Shape;16;p52"/>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a:p>
        </p:txBody>
      </p:sp>
      <p:grpSp>
        <p:nvGrpSpPr>
          <p:cNvPr id="17" name="Google Shape;17;p52"/>
          <p:cNvGrpSpPr/>
          <p:nvPr/>
        </p:nvGrpSpPr>
        <p:grpSpPr>
          <a:xfrm>
            <a:off x="508039" y="4715197"/>
            <a:ext cx="340257" cy="180974"/>
            <a:chOff x="310" y="249"/>
            <a:chExt cx="502" cy="267"/>
          </a:xfrm>
        </p:grpSpPr>
        <p:sp>
          <p:nvSpPr>
            <p:cNvPr id="18" name="Google Shape;18;p52"/>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5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5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5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5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5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5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5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5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5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5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5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5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5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32" name="Shape 32"/>
        <p:cNvGrpSpPr/>
        <p:nvPr/>
      </p:nvGrpSpPr>
      <p:grpSpPr>
        <a:xfrm>
          <a:off x="0" y="0"/>
          <a:ext cx="0" cy="0"/>
          <a:chOff x="0" y="0"/>
          <a:chExt cx="0" cy="0"/>
        </a:xfrm>
      </p:grpSpPr>
      <p:sp>
        <p:nvSpPr>
          <p:cNvPr id="33" name="Google Shape;33;p53"/>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53"/>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35" name="Shape 35"/>
        <p:cNvGrpSpPr/>
        <p:nvPr/>
      </p:nvGrpSpPr>
      <p:grpSpPr>
        <a:xfrm>
          <a:off x="0" y="0"/>
          <a:ext cx="0" cy="0"/>
          <a:chOff x="0" y="0"/>
          <a:chExt cx="0" cy="0"/>
        </a:xfrm>
      </p:grpSpPr>
      <p:pic>
        <p:nvPicPr>
          <p:cNvPr id="36" name="Google Shape;36;p5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7" name="Google Shape;37;p5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8" name="Google Shape;38;p5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 name="Google Shape;39;p5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0" name="Google Shape;40;p5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1" name="Google Shape;41;p5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42" name="Google Shape;42;p54"/>
          <p:cNvGrpSpPr/>
          <p:nvPr/>
        </p:nvGrpSpPr>
        <p:grpSpPr>
          <a:xfrm>
            <a:off x="492125" y="395288"/>
            <a:ext cx="796924" cy="423863"/>
            <a:chOff x="310" y="249"/>
            <a:chExt cx="502" cy="267"/>
          </a:xfrm>
        </p:grpSpPr>
        <p:sp>
          <p:nvSpPr>
            <p:cNvPr id="43" name="Google Shape;43;p5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5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5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5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5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5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5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 name="Google Shape;50;p5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p5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 name="Google Shape;52;p5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p5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 name="Google Shape;54;p5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p5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 name="Google Shape;56;p5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57" name="Shape 57"/>
        <p:cNvGrpSpPr/>
        <p:nvPr/>
      </p:nvGrpSpPr>
      <p:grpSpPr>
        <a:xfrm>
          <a:off x="0" y="0"/>
          <a:ext cx="0" cy="0"/>
          <a:chOff x="0" y="0"/>
          <a:chExt cx="0" cy="0"/>
        </a:xfrm>
      </p:grpSpPr>
      <p:sp>
        <p:nvSpPr>
          <p:cNvPr id="58" name="Google Shape;58;p5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59" name="Google Shape;59;p5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 name="Google Shape;60;p5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61" name="Google Shape;61;p55"/>
          <p:cNvGrpSpPr/>
          <p:nvPr/>
        </p:nvGrpSpPr>
        <p:grpSpPr>
          <a:xfrm>
            <a:off x="492125" y="395288"/>
            <a:ext cx="796924" cy="423863"/>
            <a:chOff x="310" y="249"/>
            <a:chExt cx="502" cy="267"/>
          </a:xfrm>
        </p:grpSpPr>
        <p:sp>
          <p:nvSpPr>
            <p:cNvPr id="62" name="Google Shape;62;p55"/>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5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5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5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5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5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5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5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5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5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5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5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5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5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6" name="Google Shape;76;p5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7" name="Google Shape;77;p5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78" name="Shape 78"/>
        <p:cNvGrpSpPr/>
        <p:nvPr/>
      </p:nvGrpSpPr>
      <p:grpSpPr>
        <a:xfrm>
          <a:off x="0" y="0"/>
          <a:ext cx="0" cy="0"/>
          <a:chOff x="0" y="0"/>
          <a:chExt cx="0" cy="0"/>
        </a:xfrm>
      </p:grpSpPr>
      <p:sp>
        <p:nvSpPr>
          <p:cNvPr id="79" name="Google Shape;79;p56"/>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 name="Google Shape;80;p5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81" name="Google Shape;81;p5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2" name="Google Shape;82;p5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83" name="Google Shape;83;p56"/>
          <p:cNvGrpSpPr/>
          <p:nvPr/>
        </p:nvGrpSpPr>
        <p:grpSpPr>
          <a:xfrm>
            <a:off x="492125" y="395288"/>
            <a:ext cx="796924" cy="423863"/>
            <a:chOff x="310" y="249"/>
            <a:chExt cx="502" cy="267"/>
          </a:xfrm>
        </p:grpSpPr>
        <p:sp>
          <p:nvSpPr>
            <p:cNvPr id="84" name="Google Shape;84;p5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5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5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5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5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5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5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5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5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5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5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5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5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5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8" name="Google Shape;98;p5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9" name="Google Shape;99;p5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00" name="Shape 100"/>
        <p:cNvGrpSpPr/>
        <p:nvPr/>
      </p:nvGrpSpPr>
      <p:grpSpPr>
        <a:xfrm>
          <a:off x="0" y="0"/>
          <a:ext cx="0" cy="0"/>
          <a:chOff x="0" y="0"/>
          <a:chExt cx="0" cy="0"/>
        </a:xfrm>
      </p:grpSpPr>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01" name="Shape 101"/>
        <p:cNvGrpSpPr/>
        <p:nvPr/>
      </p:nvGrpSpPr>
      <p:grpSpPr>
        <a:xfrm>
          <a:off x="0" y="0"/>
          <a:ext cx="0" cy="0"/>
          <a:chOff x="0" y="0"/>
          <a:chExt cx="0" cy="0"/>
        </a:xfrm>
      </p:grpSpPr>
      <p:sp>
        <p:nvSpPr>
          <p:cNvPr id="102" name="Google Shape;102;p5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03" name="Google Shape;103;p58"/>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04" name="Google Shape;104;p58"/>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05" name="Google Shape;105;p58"/>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06" name="Google Shape;106;p58"/>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7" name="Google Shape;107;p58"/>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8" name="Google Shape;108;p58"/>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9" name="Google Shape;109;p58"/>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0" name="Google Shape;110;p58"/>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1" name="Google Shape;111;p58"/>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12" name="Shape 112"/>
        <p:cNvGrpSpPr/>
        <p:nvPr/>
      </p:nvGrpSpPr>
      <p:grpSpPr>
        <a:xfrm>
          <a:off x="0" y="0"/>
          <a:ext cx="0" cy="0"/>
          <a:chOff x="0" y="0"/>
          <a:chExt cx="0" cy="0"/>
        </a:xfrm>
      </p:grpSpPr>
      <p:sp>
        <p:nvSpPr>
          <p:cNvPr id="113" name="Google Shape;113;p5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14" name="Google Shape;114;p59"/>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5" name="Google Shape;115;p59"/>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6" name="Google Shape;116;p59"/>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7" name="Google Shape;117;p59"/>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8" name="Google Shape;118;p59"/>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59"/>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0" name="Google Shape;120;p59"/>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1" name="Google Shape;121;p59"/>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2" name="Google Shape;122;p59"/>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3" name="Google Shape;123;p59"/>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24" name="Google Shape;124;p59"/>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5" name="Google Shape;125;p59"/>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6" name="Google Shape;126;p59"/>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27" name="Google Shape;127;p59"/>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8" name="Google Shape;128;p59"/>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29" name="Shape 129"/>
        <p:cNvGrpSpPr/>
        <p:nvPr/>
      </p:nvGrpSpPr>
      <p:grpSpPr>
        <a:xfrm>
          <a:off x="0" y="0"/>
          <a:ext cx="0" cy="0"/>
          <a:chOff x="0" y="0"/>
          <a:chExt cx="0" cy="0"/>
        </a:xfrm>
      </p:grpSpPr>
      <p:sp>
        <p:nvSpPr>
          <p:cNvPr id="130" name="Google Shape;130;p6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31" name="Google Shape;131;p60"/>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32" name="Google Shape;132;p60"/>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33" name="Google Shape;133;p60"/>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34" name="Google Shape;134;p60"/>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5" name="Google Shape;135;p60"/>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60"/>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7" name="Google Shape;137;p60"/>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8" name="Google Shape;138;p60"/>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9" name="Google Shape;139;p60"/>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0" name="Google Shape;140;p60"/>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1" name="Google Shape;141;p60"/>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2" name="Google Shape;142;p60"/>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3" name="Google Shape;143;p60"/>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4" name="Google Shape;144;p60"/>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60"/>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60"/>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7" name="Google Shape;147;p60"/>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8" name="Google Shape;148;p60"/>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9" name="Google Shape;149;p60"/>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0" name="Google Shape;150;p60"/>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1" name="Google Shape;151;p60"/>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2" name="Google Shape;152;p60"/>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3" name="Google Shape;153;p60"/>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4" name="Google Shape;154;p60"/>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60"/>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6" name="Google Shape;156;p60"/>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60"/>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60"/>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9" name="Google Shape;159;p60"/>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60"/>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161" name="Shape 161"/>
        <p:cNvGrpSpPr/>
        <p:nvPr/>
      </p:nvGrpSpPr>
      <p:grpSpPr>
        <a:xfrm>
          <a:off x="0" y="0"/>
          <a:ext cx="0" cy="0"/>
          <a:chOff x="0" y="0"/>
          <a:chExt cx="0" cy="0"/>
        </a:xfrm>
      </p:grpSpPr>
      <p:pic>
        <p:nvPicPr>
          <p:cNvPr id="162" name="Google Shape;162;p61"/>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163" name="Google Shape;163;p61"/>
          <p:cNvGrpSpPr/>
          <p:nvPr/>
        </p:nvGrpSpPr>
        <p:grpSpPr>
          <a:xfrm>
            <a:off x="3746294" y="2129856"/>
            <a:ext cx="1617944" cy="860542"/>
            <a:chOff x="310" y="249"/>
            <a:chExt cx="502" cy="267"/>
          </a:xfrm>
        </p:grpSpPr>
        <p:sp>
          <p:nvSpPr>
            <p:cNvPr id="164" name="Google Shape;164;p6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6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6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6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6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6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6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6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6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6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6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6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6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6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78" name="Shape 178"/>
        <p:cNvGrpSpPr/>
        <p:nvPr/>
      </p:nvGrpSpPr>
      <p:grpSpPr>
        <a:xfrm>
          <a:off x="0" y="0"/>
          <a:ext cx="0" cy="0"/>
          <a:chOff x="0" y="0"/>
          <a:chExt cx="0" cy="0"/>
        </a:xfrm>
      </p:grpSpPr>
      <p:sp>
        <p:nvSpPr>
          <p:cNvPr id="179" name="Google Shape;179;p62"/>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0" name="Google Shape;180;p62"/>
          <p:cNvGrpSpPr/>
          <p:nvPr/>
        </p:nvGrpSpPr>
        <p:grpSpPr>
          <a:xfrm>
            <a:off x="3746294" y="2129856"/>
            <a:ext cx="1617944" cy="860542"/>
            <a:chOff x="310" y="249"/>
            <a:chExt cx="502" cy="267"/>
          </a:xfrm>
        </p:grpSpPr>
        <p:sp>
          <p:nvSpPr>
            <p:cNvPr id="181" name="Google Shape;181;p62"/>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6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6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6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6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6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6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6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6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6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6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6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6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6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195" name="Shape 195"/>
        <p:cNvGrpSpPr/>
        <p:nvPr/>
      </p:nvGrpSpPr>
      <p:grpSpPr>
        <a:xfrm>
          <a:off x="0" y="0"/>
          <a:ext cx="0" cy="0"/>
          <a:chOff x="0" y="0"/>
          <a:chExt cx="0" cy="0"/>
        </a:xfrm>
      </p:grpSpPr>
      <p:grpSp>
        <p:nvGrpSpPr>
          <p:cNvPr id="196" name="Google Shape;196;p63"/>
          <p:cNvGrpSpPr/>
          <p:nvPr/>
        </p:nvGrpSpPr>
        <p:grpSpPr>
          <a:xfrm>
            <a:off x="3746294" y="2129856"/>
            <a:ext cx="1617944" cy="860542"/>
            <a:chOff x="310" y="249"/>
            <a:chExt cx="502" cy="267"/>
          </a:xfrm>
        </p:grpSpPr>
        <p:sp>
          <p:nvSpPr>
            <p:cNvPr id="197" name="Google Shape;197;p63"/>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6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6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6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6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6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6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6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6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6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6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6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6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6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1" name="Shape 211"/>
        <p:cNvGrpSpPr/>
        <p:nvPr/>
      </p:nvGrpSpPr>
      <p:grpSpPr>
        <a:xfrm>
          <a:off x="0" y="0"/>
          <a:ext cx="0" cy="0"/>
          <a:chOff x="0" y="0"/>
          <a:chExt cx="0" cy="0"/>
        </a:xfrm>
      </p:grpSpPr>
      <p:sp>
        <p:nvSpPr>
          <p:cNvPr id="212" name="Google Shape;212;p6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51"/>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a:t>
            </a:r>
            <a:r>
              <a:rPr lang="en-US">
                <a:solidFill>
                  <a:srgbClr val="FFFF00"/>
                </a:solidFill>
              </a:rPr>
              <a:t>Access Control Lists</a:t>
            </a:r>
            <a:endParaRPr>
              <a:solidFill>
                <a:srgbClr val="FFFF00"/>
              </a:solidFill>
            </a:endParaRPr>
          </a:p>
        </p:txBody>
      </p:sp>
      <p:sp>
        <p:nvSpPr>
          <p:cNvPr id="219" name="Google Shape;219;p1"/>
          <p:cNvSpPr txBox="1"/>
          <p:nvPr/>
        </p:nvSpPr>
        <p:spPr>
          <a:xfrm>
            <a:off x="4596421" y="3732092"/>
            <a:ext cx="3973838" cy="731837"/>
          </a:xfrm>
          <a:prstGeom prst="rect">
            <a:avLst/>
          </a:prstGeom>
          <a:noFill/>
          <a:ln>
            <a:noFill/>
          </a:ln>
        </p:spPr>
        <p:txBody>
          <a:bodyPr anchorCtr="0" anchor="ctr" bIns="45700" lIns="91400" spcFirstLastPara="1" rIns="91400" wrap="square" tIns="45700">
            <a:noAutofit/>
          </a:bodyPr>
          <a:lstStyle/>
          <a:p>
            <a:pPr indent="0" lvl="0" marL="0" marR="0" rtl="0" algn="l">
              <a:lnSpc>
                <a:spcPct val="80000"/>
              </a:lnSpc>
              <a:spcBef>
                <a:spcPts val="0"/>
              </a:spcBef>
              <a:spcAft>
                <a:spcPts val="0"/>
              </a:spcAft>
              <a:buNone/>
            </a:pPr>
            <a:r>
              <a:rPr lang="en-US" sz="2000">
                <a:solidFill>
                  <a:srgbClr val="00B0F0"/>
                </a:solidFill>
                <a:latin typeface="Arial"/>
                <a:ea typeface="Arial"/>
                <a:cs typeface="Arial"/>
                <a:sym typeface="Arial"/>
              </a:rPr>
              <a:t>Source: Cisco Networking</a:t>
            </a:r>
            <a:br>
              <a:rPr lang="en-US" sz="3200">
                <a:solidFill>
                  <a:srgbClr val="004C69"/>
                </a:solidFill>
                <a:latin typeface="Arial"/>
                <a:ea typeface="Arial"/>
                <a:cs typeface="Arial"/>
                <a:sym typeface="Arial"/>
              </a:rPr>
            </a:br>
            <a:endParaRPr sz="3200">
              <a:solidFill>
                <a:srgbClr val="004C69"/>
              </a:solidFill>
              <a:latin typeface="Arial"/>
              <a:ea typeface="Arial"/>
              <a:cs typeface="Arial"/>
              <a:sym typeface="Arial"/>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What is an ACL?</a:t>
            </a:r>
            <a:endParaRPr/>
          </a:p>
        </p:txBody>
      </p:sp>
      <p:sp>
        <p:nvSpPr>
          <p:cNvPr id="226" name="Google Shape;226;p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ACL uses a sequential list of permit or deny statements, known as access control entries (ACEs).</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ACEs are also commonly called ACL statements.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network traffic passes through an interface configured with an ACL, the router compares the information within the packet against each ACE, </a:t>
            </a:r>
            <a:r>
              <a:rPr lang="en-US" sz="1600">
                <a:solidFill>
                  <a:srgbClr val="FF0000"/>
                </a:solidFill>
              </a:rPr>
              <a:t>in sequential order</a:t>
            </a:r>
            <a:r>
              <a:rPr lang="en-US" sz="1600">
                <a:solidFill>
                  <a:srgbClr val="000000"/>
                </a:solidFill>
              </a:rPr>
              <a:t>, to determine if the packet matches one of the ACEs. This process is called packet filtering.</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ACLs</a:t>
            </a:r>
            <a:br>
              <a:rPr lang="en-US"/>
            </a:br>
            <a:r>
              <a:rPr lang="en-US" sz="2400"/>
              <a:t>What is an ACL? (Cont.)</a:t>
            </a:r>
            <a:endParaRPr/>
          </a:p>
        </p:txBody>
      </p:sp>
      <p:sp>
        <p:nvSpPr>
          <p:cNvPr id="233" name="Google Shape;233;p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Several tasks performed by routers require the use of ACLs to identify traffic:</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Limit network traffic to increase network performance</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traffic flow control</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a basic level of security for network access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Filter traffic based on traffic type</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Screen hosts to permit or deny access to network services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priority to certain classes of network traffic</a:t>
            </a:r>
            <a:endParaRPr/>
          </a:p>
          <a:p>
            <a:pPr indent="-215900" lvl="0" marL="342900" rtl="0" algn="l">
              <a:lnSpc>
                <a:spcPct val="100000"/>
              </a:lnSpc>
              <a:spcBef>
                <a:spcPts val="400"/>
              </a:spcBef>
              <a:spcAft>
                <a:spcPts val="0"/>
              </a:spcAft>
              <a:buSzPts val="2000"/>
              <a:buFont typeface="Arial"/>
              <a:buNone/>
            </a:pPr>
            <a:r>
              <a:t/>
            </a:r>
            <a:endParaRPr>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ACLs</a:t>
            </a:r>
            <a:br>
              <a:rPr lang="en-US"/>
            </a:br>
            <a:r>
              <a:rPr lang="en-US" sz="2400"/>
              <a:t>Packet Filtering</a:t>
            </a:r>
            <a:endParaRPr/>
          </a:p>
        </p:txBody>
      </p:sp>
      <p:sp>
        <p:nvSpPr>
          <p:cNvPr id="240" name="Google Shape;240;p4"/>
          <p:cNvSpPr txBox="1"/>
          <p:nvPr>
            <p:ph idx="1" type="body"/>
          </p:nvPr>
        </p:nvSpPr>
        <p:spPr>
          <a:xfrm>
            <a:off x="474663" y="731837"/>
            <a:ext cx="4413426"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Packet filtering controls access to a network by analyzing the incoming and/or outgoing packets and forwarding them or discarding them based on given criteria.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Packet filtering can occur at Layer 3 or Layer 4.</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Cisco routers support two types of ACLs:</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Standard ACLs</a:t>
            </a:r>
            <a:r>
              <a:rPr lang="en-US">
                <a:solidFill>
                  <a:srgbClr val="000000"/>
                </a:solidFill>
              </a:rPr>
              <a:t> - ACLs only filter at Layer 3 using the source IPv4 address only.</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Extended ACLs</a:t>
            </a:r>
            <a:r>
              <a:rPr lang="en-US">
                <a:solidFill>
                  <a:srgbClr val="000000"/>
                </a:solidFill>
              </a:rPr>
              <a:t> - ACLs filter at Layer 3 using the source and / or destination IPv4 address. They can also filter at Layer 4 using TCP, UDP ports, and optional protocol type information for finer control.</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41" name="Google Shape;241;p4"/>
          <p:cNvPicPr preferRelativeResize="0"/>
          <p:nvPr/>
        </p:nvPicPr>
        <p:blipFill rotWithShape="1">
          <a:blip r:embed="rId3">
            <a:alphaModFix/>
          </a:blip>
          <a:srcRect b="0" l="0" r="0" t="0"/>
          <a:stretch/>
        </p:blipFill>
        <p:spPr>
          <a:xfrm>
            <a:off x="4868199" y="1154561"/>
            <a:ext cx="4121802" cy="29986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ACLs</a:t>
            </a:r>
            <a:br>
              <a:rPr lang="en-US"/>
            </a:br>
            <a:r>
              <a:rPr lang="en-US" sz="2400"/>
              <a:t>ACL Operation</a:t>
            </a:r>
            <a:endParaRPr/>
          </a:p>
        </p:txBody>
      </p:sp>
      <p:sp>
        <p:nvSpPr>
          <p:cNvPr id="248" name="Google Shape;248;p5"/>
          <p:cNvSpPr txBox="1"/>
          <p:nvPr>
            <p:ph idx="1" type="body"/>
          </p:nvPr>
        </p:nvSpPr>
        <p:spPr>
          <a:xfrm>
            <a:off x="474662" y="731837"/>
            <a:ext cx="8280057" cy="278787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ACLs define the set of rules that give added control for packets that enter inbound interfaces, packets that relay through the router, and packets that exit outbound interfaces of the router.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ACLs can be configured to apply to inbound traffic and outbound traffic.</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ACLs do not act on packets that originate from the router itself.</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inbound ACL filters packets before they are routed to the outbound interface. An inbound ACL is efficient because it saves the overhead of routing lookups if the packet is discarded.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outbound ACL filters packets after being routed, regardless of the inbound interface.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49" name="Google Shape;249;p5"/>
          <p:cNvPicPr preferRelativeResize="0"/>
          <p:nvPr/>
        </p:nvPicPr>
        <p:blipFill rotWithShape="1">
          <a:blip r:embed="rId3">
            <a:alphaModFix/>
          </a:blip>
          <a:srcRect b="0" l="0" r="0" t="0"/>
          <a:stretch/>
        </p:blipFill>
        <p:spPr>
          <a:xfrm>
            <a:off x="1021291" y="3663491"/>
            <a:ext cx="7101417" cy="11053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ACLs</a:t>
            </a:r>
            <a:br>
              <a:rPr lang="en-US"/>
            </a:br>
            <a:r>
              <a:rPr lang="en-US" sz="2400"/>
              <a:t>ACL Operation (Cont.)</a:t>
            </a:r>
            <a:endParaRPr/>
          </a:p>
        </p:txBody>
      </p:sp>
      <p:sp>
        <p:nvSpPr>
          <p:cNvPr id="256" name="Google Shape;256;p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When an ACL is applied to an interface, it follows a specific operating procedure. Here are the operational steps used when traffic has entered a router interface with an inbound standard IPv4 ACL configured:</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The router extracts the source IPv4 address from the packet header.</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The router starts at the top of the ACL and compares the source IPv4 address to each ACE in a sequential order.</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When a match is made, the router carries out the instruction, either permitting or denying the packet, and the remaining ACEs in the ACL, if any, are not analyzed.</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If the source IPv4 address does not match any ACEs in the ACL, the packet is discarded because there is an implicit deny ACE automatically applied to all ACLs.</a:t>
            </a:r>
            <a:endParaRPr/>
          </a:p>
          <a:p>
            <a:pPr indent="0" lvl="0" marL="0" rtl="0" algn="l">
              <a:lnSpc>
                <a:spcPct val="100000"/>
              </a:lnSpc>
              <a:spcBef>
                <a:spcPts val="320"/>
              </a:spcBef>
              <a:spcAft>
                <a:spcPts val="0"/>
              </a:spcAft>
              <a:buSzPts val="1600"/>
              <a:buNone/>
            </a:pPr>
            <a:r>
              <a:rPr lang="en-US" sz="1600">
                <a:solidFill>
                  <a:srgbClr val="000000"/>
                </a:solidFill>
              </a:rPr>
              <a:t>The last ACE statement of an ACL is always an implicit deny that blocks all traffic. It is hidden and not displayed in the configuration.</a:t>
            </a:r>
            <a:endParaRPr/>
          </a:p>
          <a:p>
            <a:pPr indent="0" lvl="1" marL="73085" rtl="0" algn="l">
              <a:lnSpc>
                <a:spcPct val="95000"/>
              </a:lnSpc>
              <a:spcBef>
                <a:spcPts val="600"/>
              </a:spcBef>
              <a:spcAft>
                <a:spcPts val="0"/>
              </a:spcAft>
              <a:buSzPts val="1400"/>
              <a:buNone/>
            </a:pPr>
            <a:r>
              <a:rPr b="1" lang="en-US">
                <a:solidFill>
                  <a:srgbClr val="000000"/>
                </a:solidFill>
              </a:rPr>
              <a:t>Note</a:t>
            </a:r>
            <a:r>
              <a:rPr lang="en-US">
                <a:solidFill>
                  <a:srgbClr val="000000"/>
                </a:solidFill>
              </a:rPr>
              <a:t>: An ACL must have at least one permit statement otherwise all traffic will be denied due to the implicit deny ACE statement.</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Wildcard Masks in ACLs</a:t>
            </a:r>
            <a:br>
              <a:rPr lang="en-US"/>
            </a:br>
            <a:r>
              <a:rPr lang="en-US" sz="2400"/>
              <a:t>Wildcard Mask Overview</a:t>
            </a:r>
            <a:endParaRPr/>
          </a:p>
        </p:txBody>
      </p:sp>
      <p:sp>
        <p:nvSpPr>
          <p:cNvPr id="263" name="Google Shape;263;p7"/>
          <p:cNvSpPr txBox="1"/>
          <p:nvPr>
            <p:ph idx="1" type="body"/>
          </p:nvPr>
        </p:nvSpPr>
        <p:spPr>
          <a:xfrm>
            <a:off x="431971"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An IPv4 ACE uses a 32-bit wildcard mask to determine which bits of the address to examine for a match.</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Wildcard masks use the following rules to match binary 1s and 0s: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Wildcard mask bit 0</a:t>
            </a:r>
            <a:r>
              <a:rPr lang="en-US" sz="1600">
                <a:solidFill>
                  <a:srgbClr val="000000"/>
                </a:solidFill>
              </a:rPr>
              <a:t> - Match the corresponding bit value in the address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Wildcard mask bit 1</a:t>
            </a:r>
            <a:r>
              <a:rPr lang="en-US" sz="1600">
                <a:solidFill>
                  <a:srgbClr val="000000"/>
                </a:solidFill>
              </a:rPr>
              <a:t> - Ignore the corresponding bit value in the address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Wildcard Masks in ACLs</a:t>
            </a:r>
            <a:br>
              <a:rPr lang="en-US"/>
            </a:br>
            <a:r>
              <a:rPr lang="en-US" sz="2400"/>
              <a:t>Wildcard Mask Overview (Cont.)</a:t>
            </a:r>
            <a:endParaRPr/>
          </a:p>
        </p:txBody>
      </p:sp>
      <p:graphicFrame>
        <p:nvGraphicFramePr>
          <p:cNvPr id="270" name="Google Shape;270;p8"/>
          <p:cNvGraphicFramePr/>
          <p:nvPr/>
        </p:nvGraphicFramePr>
        <p:xfrm>
          <a:off x="474663" y="731838"/>
          <a:ext cx="3000000" cy="3000000"/>
        </p:xfrm>
        <a:graphic>
          <a:graphicData uri="http://schemas.openxmlformats.org/drawingml/2006/table">
            <a:tbl>
              <a:tblPr bandRow="1" firstRow="1">
                <a:noFill/>
                <a:tableStyleId>{719675E4-1829-4FB6-B912-4EDA559463AB}</a:tableStyleId>
              </a:tblPr>
              <a:tblGrid>
                <a:gridCol w="1760525"/>
                <a:gridCol w="2009425"/>
                <a:gridCol w="4510450"/>
              </a:tblGrid>
              <a:tr h="370850">
                <a:tc>
                  <a:txBody>
                    <a:bodyPr/>
                    <a:lstStyle/>
                    <a:p>
                      <a:pPr indent="0" lvl="0" marL="0" marR="0" rtl="0" algn="l">
                        <a:spcBef>
                          <a:spcPts val="0"/>
                        </a:spcBef>
                        <a:spcAft>
                          <a:spcPts val="0"/>
                        </a:spcAft>
                        <a:buNone/>
                      </a:pPr>
                      <a:r>
                        <a:rPr b="1" lang="en-US" sz="1400" u="none" cap="none" strike="noStrike"/>
                        <a:t>Wildcard Mask</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Last Octet (in Binary)</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Meaning (0 - match, 1 - ignore)</a:t>
                      </a:r>
                      <a:endParaRPr sz="1400" u="none" cap="none" strike="noStrike"/>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0.0.0.0</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00000000</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0" lang="en-US" sz="1400" u="none" cap="none" strike="noStrike"/>
                        <a:t>Match </a:t>
                      </a:r>
                      <a:r>
                        <a:rPr b="0" lang="en-US" sz="1400" u="none" cap="none" strike="noStrike">
                          <a:solidFill>
                            <a:srgbClr val="FF0000"/>
                          </a:solidFill>
                        </a:rPr>
                        <a:t>all octets.</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0.0.0.63</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00111111</a:t>
                      </a:r>
                      <a:endParaRPr b="0" sz="1400" u="none" cap="none" strike="noStrike"/>
                    </a:p>
                  </a:txBody>
                  <a:tcPr marT="47625" marB="47625" marR="47625" marL="47625" anchor="ctr"/>
                </a:tc>
                <a:tc>
                  <a:txBody>
                    <a:bodyPr/>
                    <a:lstStyle/>
                    <a:p>
                      <a:pPr indent="-88900" lvl="0" marL="0" marR="0" rtl="0" algn="l">
                        <a:spcBef>
                          <a:spcPts val="0"/>
                        </a:spcBef>
                        <a:spcAft>
                          <a:spcPts val="0"/>
                        </a:spcAft>
                        <a:buClr>
                          <a:schemeClr val="dk1"/>
                        </a:buClr>
                        <a:buSzPts val="1400"/>
                        <a:buFont typeface="Arial"/>
                        <a:buChar char="•"/>
                      </a:pPr>
                      <a:r>
                        <a:rPr b="0" lang="en-US" sz="1400" u="none" cap="none" strike="noStrike"/>
                        <a:t>Match the first three octets</a:t>
                      </a:r>
                      <a:endParaRPr/>
                    </a:p>
                    <a:p>
                      <a:pPr indent="-88900" lvl="0" marL="0" marR="0" rtl="0" algn="l">
                        <a:spcBef>
                          <a:spcPts val="0"/>
                        </a:spcBef>
                        <a:spcAft>
                          <a:spcPts val="0"/>
                        </a:spcAft>
                        <a:buClr>
                          <a:schemeClr val="dk1"/>
                        </a:buClr>
                        <a:buSzPts val="1400"/>
                        <a:buFont typeface="Arial"/>
                        <a:buChar char="•"/>
                      </a:pPr>
                      <a:r>
                        <a:rPr b="0" lang="en-US" sz="1400" u="none" cap="none" strike="noStrike"/>
                        <a:t>Match the two left most bits of the last octet</a:t>
                      </a:r>
                      <a:endParaRPr/>
                    </a:p>
                    <a:p>
                      <a:pPr indent="-88900" lvl="0" marL="0" marR="0" rtl="0" algn="l">
                        <a:spcBef>
                          <a:spcPts val="0"/>
                        </a:spcBef>
                        <a:spcAft>
                          <a:spcPts val="0"/>
                        </a:spcAft>
                        <a:buClr>
                          <a:schemeClr val="dk1"/>
                        </a:buClr>
                        <a:buSzPts val="1400"/>
                        <a:buFont typeface="Arial"/>
                        <a:buChar char="•"/>
                      </a:pPr>
                      <a:r>
                        <a:rPr b="0" lang="en-US" sz="1400" u="none" cap="none" strike="noStrike"/>
                        <a:t>Ignore the last 6 bits</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0.0.0.15</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00001111</a:t>
                      </a:r>
                      <a:endParaRPr b="0" sz="1400" u="none" cap="none" strike="noStrike"/>
                    </a:p>
                  </a:txBody>
                  <a:tcPr marT="47625" marB="47625" marR="47625" marL="47625" anchor="ctr"/>
                </a:tc>
                <a:tc>
                  <a:txBody>
                    <a:bodyPr/>
                    <a:lstStyle/>
                    <a:p>
                      <a:pPr indent="-88900" lvl="0" marL="0" marR="0" rtl="0" algn="l">
                        <a:spcBef>
                          <a:spcPts val="0"/>
                        </a:spcBef>
                        <a:spcAft>
                          <a:spcPts val="0"/>
                        </a:spcAft>
                        <a:buClr>
                          <a:schemeClr val="dk1"/>
                        </a:buClr>
                        <a:buSzPts val="1400"/>
                        <a:buFont typeface="Arial"/>
                        <a:buChar char="•"/>
                      </a:pPr>
                      <a:r>
                        <a:rPr b="0" lang="en-US" sz="1400" u="none" cap="none" strike="noStrike"/>
                        <a:t>Match the first three octets</a:t>
                      </a:r>
                      <a:endParaRPr/>
                    </a:p>
                    <a:p>
                      <a:pPr indent="-88900" lvl="0" marL="0" marR="0" rtl="0" algn="l">
                        <a:spcBef>
                          <a:spcPts val="0"/>
                        </a:spcBef>
                        <a:spcAft>
                          <a:spcPts val="0"/>
                        </a:spcAft>
                        <a:buClr>
                          <a:schemeClr val="dk1"/>
                        </a:buClr>
                        <a:buSzPts val="1400"/>
                        <a:buFont typeface="Arial"/>
                        <a:buChar char="•"/>
                      </a:pPr>
                      <a:r>
                        <a:rPr b="0" lang="en-US" sz="1400" u="none" cap="none" strike="noStrike"/>
                        <a:t>Match the four left most bits of the last octet</a:t>
                      </a:r>
                      <a:endParaRPr/>
                    </a:p>
                    <a:p>
                      <a:pPr indent="-88900" lvl="0" marL="0" marR="0" rtl="0" algn="l">
                        <a:spcBef>
                          <a:spcPts val="0"/>
                        </a:spcBef>
                        <a:spcAft>
                          <a:spcPts val="0"/>
                        </a:spcAft>
                        <a:buClr>
                          <a:schemeClr val="dk1"/>
                        </a:buClr>
                        <a:buSzPts val="1400"/>
                        <a:buFont typeface="Arial"/>
                        <a:buChar char="•"/>
                      </a:pPr>
                      <a:r>
                        <a:rPr b="0" lang="en-US" sz="1400" u="none" cap="none" strike="noStrike"/>
                        <a:t>Ignore the last 4 bits of the last octet</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0.0.0.248</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11111100</a:t>
                      </a:r>
                      <a:endParaRPr b="0" sz="1400" u="none" cap="none" strike="noStrike"/>
                    </a:p>
                  </a:txBody>
                  <a:tcPr marT="47625" marB="47625" marR="47625" marL="47625" anchor="ctr"/>
                </a:tc>
                <a:tc>
                  <a:txBody>
                    <a:bodyPr/>
                    <a:lstStyle/>
                    <a:p>
                      <a:pPr indent="-88900" lvl="0" marL="0" marR="0" rtl="0" algn="l">
                        <a:spcBef>
                          <a:spcPts val="0"/>
                        </a:spcBef>
                        <a:spcAft>
                          <a:spcPts val="0"/>
                        </a:spcAft>
                        <a:buClr>
                          <a:schemeClr val="dk1"/>
                        </a:buClr>
                        <a:buSzPts val="1400"/>
                        <a:buFont typeface="Arial"/>
                        <a:buChar char="•"/>
                      </a:pPr>
                      <a:r>
                        <a:rPr b="0" lang="en-US" sz="1400" u="none" cap="none" strike="noStrike"/>
                        <a:t>Match the first three octets</a:t>
                      </a:r>
                      <a:endParaRPr/>
                    </a:p>
                    <a:p>
                      <a:pPr indent="-88900" lvl="0" marL="0" marR="0" rtl="0" algn="l">
                        <a:spcBef>
                          <a:spcPts val="0"/>
                        </a:spcBef>
                        <a:spcAft>
                          <a:spcPts val="0"/>
                        </a:spcAft>
                        <a:buClr>
                          <a:schemeClr val="dk1"/>
                        </a:buClr>
                        <a:buSzPts val="1400"/>
                        <a:buFont typeface="Arial"/>
                        <a:buChar char="•"/>
                      </a:pPr>
                      <a:r>
                        <a:rPr b="0" lang="en-US" sz="1400" u="none" cap="none" strike="noStrike"/>
                        <a:t>Ignore the six left most bits of the last octet</a:t>
                      </a:r>
                      <a:endParaRPr/>
                    </a:p>
                    <a:p>
                      <a:pPr indent="-88900" lvl="0" marL="0" marR="0" rtl="0" algn="l">
                        <a:spcBef>
                          <a:spcPts val="0"/>
                        </a:spcBef>
                        <a:spcAft>
                          <a:spcPts val="0"/>
                        </a:spcAft>
                        <a:buClr>
                          <a:schemeClr val="dk1"/>
                        </a:buClr>
                        <a:buSzPts val="1400"/>
                        <a:buFont typeface="Arial"/>
                        <a:buChar char="•"/>
                      </a:pPr>
                      <a:r>
                        <a:rPr b="0" lang="en-US" sz="1400" u="none" cap="none" strike="noStrike"/>
                        <a:t>Match the last two bits</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0.0.0.255</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11111111</a:t>
                      </a:r>
                      <a:endParaRPr b="0" sz="1400" u="none" cap="none" strike="noStrike"/>
                    </a:p>
                  </a:txBody>
                  <a:tcPr marT="47625" marB="47625" marR="47625" marL="47625" anchor="ctr"/>
                </a:tc>
                <a:tc>
                  <a:txBody>
                    <a:bodyPr/>
                    <a:lstStyle/>
                    <a:p>
                      <a:pPr indent="-88900" lvl="0" marL="0" marR="0" rtl="0" algn="l">
                        <a:spcBef>
                          <a:spcPts val="0"/>
                        </a:spcBef>
                        <a:spcAft>
                          <a:spcPts val="0"/>
                        </a:spcAft>
                        <a:buClr>
                          <a:schemeClr val="dk1"/>
                        </a:buClr>
                        <a:buSzPts val="1400"/>
                        <a:buFont typeface="Arial"/>
                        <a:buChar char="•"/>
                      </a:pPr>
                      <a:r>
                        <a:rPr b="0" lang="en-US" sz="1400" u="none" cap="none" strike="noStrike"/>
                        <a:t>Match the first three octet</a:t>
                      </a:r>
                      <a:endParaRPr/>
                    </a:p>
                    <a:p>
                      <a:pPr indent="-88900" lvl="0" marL="0" marR="0" rtl="0" algn="l">
                        <a:spcBef>
                          <a:spcPts val="0"/>
                        </a:spcBef>
                        <a:spcAft>
                          <a:spcPts val="0"/>
                        </a:spcAft>
                        <a:buClr>
                          <a:schemeClr val="dk1"/>
                        </a:buClr>
                        <a:buSzPts val="1400"/>
                        <a:buFont typeface="Arial"/>
                        <a:buChar char="•"/>
                      </a:pPr>
                      <a:r>
                        <a:rPr b="0" lang="en-US" sz="1400" u="none" cap="none" strike="noStrike"/>
                        <a:t>Ignore the last octet</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Wildcard Masks in ACLs</a:t>
            </a:r>
            <a:br>
              <a:rPr lang="en-US"/>
            </a:br>
            <a:r>
              <a:rPr lang="en-US" sz="2400"/>
              <a:t>Wildcard Mask Types</a:t>
            </a:r>
            <a:endParaRPr/>
          </a:p>
        </p:txBody>
      </p:sp>
      <p:sp>
        <p:nvSpPr>
          <p:cNvPr id="277" name="Google Shape;277;p9"/>
          <p:cNvSpPr txBox="1"/>
          <p:nvPr>
            <p:ph idx="1" type="body"/>
          </p:nvPr>
        </p:nvSpPr>
        <p:spPr>
          <a:xfrm>
            <a:off x="474662" y="731838"/>
            <a:ext cx="8280057" cy="18154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to Match a Host:</a:t>
            </a:r>
            <a:r>
              <a:rPr lang="en-US" sz="1600">
                <a:solidFill>
                  <a:srgbClr val="000000"/>
                </a:solidFill>
              </a:rPr>
              <a:t>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the ACE is processed, the wildcard mask will permit only the 192.168.1.1 address. The resulting ACE in ACL 10 would be </a:t>
            </a:r>
            <a:r>
              <a:rPr b="1" lang="en-US" sz="1600">
                <a:solidFill>
                  <a:srgbClr val="000000"/>
                </a:solidFill>
              </a:rPr>
              <a:t>access-list 10 permit 192.168.1.1 0.0.0.0.</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278" name="Google Shape;278;p9"/>
          <p:cNvGraphicFramePr/>
          <p:nvPr/>
        </p:nvGraphicFramePr>
        <p:xfrm>
          <a:off x="636322" y="2726284"/>
          <a:ext cx="3000000" cy="3000000"/>
        </p:xfrm>
        <a:graphic>
          <a:graphicData uri="http://schemas.openxmlformats.org/drawingml/2006/table">
            <a:tbl>
              <a:tblPr bandRow="1" firstRow="1">
                <a:noFill/>
                <a:tableStyleId>{719675E4-1829-4FB6-B912-4EDA559463AB}</a:tableStyleId>
              </a:tblPr>
              <a:tblGrid>
                <a:gridCol w="1704625"/>
                <a:gridCol w="1399825"/>
                <a:gridCol w="4766900"/>
              </a:tblGrid>
              <a:tr h="370850">
                <a:tc>
                  <a:txBody>
                    <a:bodyPr/>
                    <a:lstStyle/>
                    <a:p>
                      <a:pPr indent="0" lvl="0" marL="0" marR="0" rtl="0" algn="l">
                        <a:spcBef>
                          <a:spcPts val="0"/>
                        </a:spcBef>
                        <a:spcAft>
                          <a:spcPts val="0"/>
                        </a:spcAft>
                        <a:buNone/>
                      </a:pPr>
                      <a:r>
                        <a:t/>
                      </a:r>
                      <a:endParaRPr sz="1600" u="none" cap="none" strike="noStrike"/>
                    </a:p>
                  </a:txBody>
                  <a:tcPr marT="47625" marB="47625" marR="47625" marL="47625" anchor="ctr"/>
                </a:tc>
                <a:tc>
                  <a:txBody>
                    <a:bodyPr/>
                    <a:lstStyle/>
                    <a:p>
                      <a:pPr indent="0" lvl="0" marL="0" marR="0" rtl="0" algn="l">
                        <a:spcBef>
                          <a:spcPts val="0"/>
                        </a:spcBef>
                        <a:spcAft>
                          <a:spcPts val="0"/>
                        </a:spcAft>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spcBef>
                          <a:spcPts val="0"/>
                        </a:spcBef>
                        <a:spcAft>
                          <a:spcPts val="0"/>
                        </a:spcAft>
                        <a:buNone/>
                      </a:pPr>
                      <a:r>
                        <a:rPr b="0" lang="en-US" sz="1600" u="none" cap="none" strike="noStrike"/>
                        <a:t>IPv4 address</a:t>
                      </a:r>
                      <a:endParaRPr/>
                    </a:p>
                  </a:txBody>
                  <a:tcPr marT="47625" marB="47625" marR="47625" marL="47625" anchor="ctr"/>
                </a:tc>
                <a:tc>
                  <a:txBody>
                    <a:bodyPr/>
                    <a:lstStyle/>
                    <a:p>
                      <a:pPr indent="0" lvl="0" marL="0" marR="0" rtl="0" algn="r">
                        <a:spcBef>
                          <a:spcPts val="0"/>
                        </a:spcBef>
                        <a:spcAft>
                          <a:spcPts val="0"/>
                        </a:spcAft>
                        <a:buNone/>
                      </a:pPr>
                      <a:r>
                        <a:rPr b="0" lang="en-US" sz="1600" u="none" cap="none" strike="noStrike"/>
                        <a:t>192.168.1.1</a:t>
                      </a:r>
                      <a:endParaRPr/>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11000000.10101000.00000001.00000001</a:t>
                      </a:r>
                      <a:endParaRPr/>
                    </a:p>
                  </a:txBody>
                  <a:tcPr marT="47625" marB="47625" marR="47625" marL="47625" anchor="ctr"/>
                </a:tc>
              </a:tr>
              <a:tr h="370850">
                <a:tc>
                  <a:txBody>
                    <a:bodyPr/>
                    <a:lstStyle/>
                    <a:p>
                      <a:pPr indent="0" lvl="0" marL="0" marR="0" rtl="0" algn="r">
                        <a:spcBef>
                          <a:spcPts val="0"/>
                        </a:spcBef>
                        <a:spcAft>
                          <a:spcPts val="0"/>
                        </a:spcAft>
                        <a:buNone/>
                      </a:pPr>
                      <a:r>
                        <a:rPr b="0" lang="en-US" sz="1600" u="none" cap="none" strike="noStrike"/>
                        <a:t>Wildcard Mask</a:t>
                      </a:r>
                      <a:endParaRPr/>
                    </a:p>
                  </a:txBody>
                  <a:tcPr marT="47625" marB="47625" marR="47625" marL="47625" anchor="ctr"/>
                </a:tc>
                <a:tc>
                  <a:txBody>
                    <a:bodyPr/>
                    <a:lstStyle/>
                    <a:p>
                      <a:pPr indent="0" lvl="0" marL="0" marR="0" rtl="0" algn="r">
                        <a:spcBef>
                          <a:spcPts val="0"/>
                        </a:spcBef>
                        <a:spcAft>
                          <a:spcPts val="0"/>
                        </a:spcAft>
                        <a:buNone/>
                      </a:pPr>
                      <a:r>
                        <a:rPr b="0" lang="en-US" sz="1600" u="none" cap="none" strike="noStrike"/>
                        <a:t>0.0.0.0</a:t>
                      </a:r>
                      <a:endParaRPr/>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00000000.00000000.00000000.00000000</a:t>
                      </a:r>
                      <a:endParaRPr/>
                    </a:p>
                  </a:txBody>
                  <a:tcPr marT="47625" marB="47625" marR="47625" marL="47625" anchor="ctr"/>
                </a:tc>
              </a:tr>
              <a:tr h="370850">
                <a:tc>
                  <a:txBody>
                    <a:bodyPr/>
                    <a:lstStyle/>
                    <a:p>
                      <a:pPr indent="0" lvl="0" marL="0" marR="0" rtl="0" algn="r">
                        <a:spcBef>
                          <a:spcPts val="0"/>
                        </a:spcBef>
                        <a:spcAft>
                          <a:spcPts val="0"/>
                        </a:spcAft>
                        <a:buNone/>
                      </a:pPr>
                      <a:r>
                        <a:rPr b="1" lang="en-US" sz="1600" u="none" cap="none" strike="noStrike"/>
                        <a:t>Permitted IPv4 Address</a:t>
                      </a:r>
                      <a:endParaRPr b="0" sz="1600" u="none" cap="none" strike="noStrike"/>
                    </a:p>
                  </a:txBody>
                  <a:tcPr marT="47625" marB="47625" marR="47625" marL="47625" anchor="ctr"/>
                </a:tc>
                <a:tc>
                  <a:txBody>
                    <a:bodyPr/>
                    <a:lstStyle/>
                    <a:p>
                      <a:pPr indent="0" lvl="0" marL="0" marR="0" rtl="0" algn="r">
                        <a:spcBef>
                          <a:spcPts val="0"/>
                        </a:spcBef>
                        <a:spcAft>
                          <a:spcPts val="0"/>
                        </a:spcAft>
                        <a:buNone/>
                      </a:pPr>
                      <a:r>
                        <a:rPr b="1" lang="en-US" sz="1600" u="none" cap="none" strike="noStrike"/>
                        <a:t>192.168.1.1</a:t>
                      </a:r>
                      <a:endParaRPr b="0" sz="1600" u="none" cap="none" strike="noStrike"/>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11000000.10101000.00000001.00000001</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Wildcard Masks in ACLs</a:t>
            </a:r>
            <a:br>
              <a:rPr lang="en-US"/>
            </a:br>
            <a:r>
              <a:rPr lang="en-US" sz="2400"/>
              <a:t>Wildcard Mask Types (Cont.)</a:t>
            </a:r>
            <a:endParaRPr/>
          </a:p>
        </p:txBody>
      </p:sp>
      <p:sp>
        <p:nvSpPr>
          <p:cNvPr id="285" name="Google Shape;285;p10"/>
          <p:cNvSpPr txBox="1"/>
          <p:nvPr>
            <p:ph idx="1" type="body"/>
          </p:nvPr>
        </p:nvSpPr>
        <p:spPr>
          <a:xfrm>
            <a:off x="474662" y="731838"/>
            <a:ext cx="8280057" cy="188073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Mask to Match an IPv4 Subnet</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 10 needs an ACE that permits all hosts in the 192.168.1.0/24 network. The wildcard mask 0.0.0.255 stipulates that the very first three octets must match exactly but the fourth octet does not.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processed, the wildcard mask 0.0.0.255 permits all hosts in the 192.168.1.0/24 network. The resulting ACE in ACL 10 would be </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access-list 10 permit </a:t>
            </a:r>
            <a:r>
              <a:rPr b="1" lang="en-US" sz="1600">
                <a:solidFill>
                  <a:srgbClr val="FF0000"/>
                </a:solidFill>
              </a:rPr>
              <a:t>192.168.1.0</a:t>
            </a:r>
            <a:r>
              <a:rPr b="1" lang="en-US" sz="1600">
                <a:solidFill>
                  <a:srgbClr val="000000"/>
                </a:solidFill>
              </a:rPr>
              <a:t> 0.0.0.255.</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286" name="Google Shape;286;p10"/>
          <p:cNvGraphicFramePr/>
          <p:nvPr/>
        </p:nvGraphicFramePr>
        <p:xfrm>
          <a:off x="679012" y="2726284"/>
          <a:ext cx="3000000" cy="3000000"/>
        </p:xfrm>
        <a:graphic>
          <a:graphicData uri="http://schemas.openxmlformats.org/drawingml/2006/table">
            <a:tbl>
              <a:tblPr bandRow="1" firstRow="1">
                <a:noFill/>
                <a:tableStyleId>{719675E4-1829-4FB6-B912-4EDA559463AB}</a:tableStyleId>
              </a:tblPr>
              <a:tblGrid>
                <a:gridCol w="1704625"/>
                <a:gridCol w="1738475"/>
                <a:gridCol w="4428250"/>
              </a:tblGrid>
              <a:tr h="370850">
                <a:tc>
                  <a:txBody>
                    <a:bodyPr/>
                    <a:lstStyle/>
                    <a:p>
                      <a:pPr indent="0" lvl="0" marL="0" marR="0" rtl="0" algn="l">
                        <a:spcBef>
                          <a:spcPts val="0"/>
                        </a:spcBef>
                        <a:spcAft>
                          <a:spcPts val="0"/>
                        </a:spcAft>
                        <a:buNone/>
                      </a:pPr>
                      <a:r>
                        <a:t/>
                      </a:r>
                      <a:endParaRPr sz="1600" u="none" cap="none" strike="noStrike"/>
                    </a:p>
                  </a:txBody>
                  <a:tcPr marT="47625" marB="47625" marR="47625" marL="47625" anchor="ctr"/>
                </a:tc>
                <a:tc>
                  <a:txBody>
                    <a:bodyPr/>
                    <a:lstStyle/>
                    <a:p>
                      <a:pPr indent="0" lvl="0" marL="0" marR="0" rtl="0" algn="l">
                        <a:spcBef>
                          <a:spcPts val="0"/>
                        </a:spcBef>
                        <a:spcAft>
                          <a:spcPts val="0"/>
                        </a:spcAft>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spcBef>
                          <a:spcPts val="0"/>
                        </a:spcBef>
                        <a:spcAft>
                          <a:spcPts val="0"/>
                        </a:spcAft>
                        <a:buNone/>
                      </a:pPr>
                      <a:r>
                        <a:rPr b="0" lang="en-US" sz="1600" u="none" cap="none" strike="noStrike"/>
                        <a:t>IPv4 address</a:t>
                      </a:r>
                      <a:endParaRPr/>
                    </a:p>
                  </a:txBody>
                  <a:tcPr marT="47625" marB="47625" marR="47625" marL="47625" anchor="ctr"/>
                </a:tc>
                <a:tc>
                  <a:txBody>
                    <a:bodyPr/>
                    <a:lstStyle/>
                    <a:p>
                      <a:pPr indent="0" lvl="0" marL="0" marR="0" rtl="0" algn="r">
                        <a:spcBef>
                          <a:spcPts val="0"/>
                        </a:spcBef>
                        <a:spcAft>
                          <a:spcPts val="0"/>
                        </a:spcAft>
                        <a:buNone/>
                      </a:pPr>
                      <a:r>
                        <a:rPr b="0" lang="en-US" sz="1600" u="none" cap="none" strike="noStrike"/>
                        <a:t>192.168.1.1</a:t>
                      </a:r>
                      <a:endParaRPr/>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11000000.10101000.00000001.00000001</a:t>
                      </a:r>
                      <a:endParaRPr/>
                    </a:p>
                  </a:txBody>
                  <a:tcPr marT="47625" marB="47625" marR="47625" marL="47625" anchor="ctr"/>
                </a:tc>
              </a:tr>
              <a:tr h="370850">
                <a:tc>
                  <a:txBody>
                    <a:bodyPr/>
                    <a:lstStyle/>
                    <a:p>
                      <a:pPr indent="0" lvl="0" marL="0" marR="0" rtl="0" algn="r">
                        <a:spcBef>
                          <a:spcPts val="0"/>
                        </a:spcBef>
                        <a:spcAft>
                          <a:spcPts val="0"/>
                        </a:spcAft>
                        <a:buNone/>
                      </a:pPr>
                      <a:r>
                        <a:rPr b="0" lang="en-US" sz="1600" u="none" cap="none" strike="noStrike"/>
                        <a:t>Wildcard Mask</a:t>
                      </a:r>
                      <a:endParaRPr/>
                    </a:p>
                  </a:txBody>
                  <a:tcPr marT="47625" marB="47625" marR="47625" marL="47625" anchor="ctr"/>
                </a:tc>
                <a:tc>
                  <a:txBody>
                    <a:bodyPr/>
                    <a:lstStyle/>
                    <a:p>
                      <a:pPr indent="0" lvl="0" marL="0" marR="0" rtl="0" algn="r">
                        <a:spcBef>
                          <a:spcPts val="0"/>
                        </a:spcBef>
                        <a:spcAft>
                          <a:spcPts val="0"/>
                        </a:spcAft>
                        <a:buNone/>
                      </a:pPr>
                      <a:r>
                        <a:rPr b="0" lang="en-US" sz="1600" u="none" cap="none" strike="noStrike"/>
                        <a:t>0.0.0.255</a:t>
                      </a:r>
                      <a:endParaRPr/>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00000000.00000000.00000000.11111111</a:t>
                      </a:r>
                      <a:endParaRPr/>
                    </a:p>
                  </a:txBody>
                  <a:tcPr marT="47625" marB="47625" marR="47625" marL="47625" anchor="ctr"/>
                </a:tc>
              </a:tr>
              <a:tr h="370850">
                <a:tc>
                  <a:txBody>
                    <a:bodyPr/>
                    <a:lstStyle/>
                    <a:p>
                      <a:pPr indent="0" lvl="0" marL="0" marR="0" rtl="0" algn="r">
                        <a:spcBef>
                          <a:spcPts val="0"/>
                        </a:spcBef>
                        <a:spcAft>
                          <a:spcPts val="0"/>
                        </a:spcAft>
                        <a:buNone/>
                      </a:pPr>
                      <a:r>
                        <a:rPr b="1" lang="en-US" sz="1600" u="none" cap="none" strike="noStrike"/>
                        <a:t>Permitted IPv4 Address</a:t>
                      </a:r>
                      <a:endParaRPr b="0" sz="1600" u="none" cap="none" strike="noStrike"/>
                    </a:p>
                  </a:txBody>
                  <a:tcPr marT="47625" marB="47625" marR="47625" marL="47625" anchor="ctr"/>
                </a:tc>
                <a:tc>
                  <a:txBody>
                    <a:bodyPr/>
                    <a:lstStyle/>
                    <a:p>
                      <a:pPr indent="0" lvl="0" marL="0" marR="0" rtl="0" algn="r">
                        <a:spcBef>
                          <a:spcPts val="0"/>
                        </a:spcBef>
                        <a:spcAft>
                          <a:spcPts val="0"/>
                        </a:spcAft>
                        <a:buNone/>
                      </a:pPr>
                      <a:r>
                        <a:rPr b="1" lang="en-US" sz="1600" u="none" cap="none" strike="noStrike"/>
                        <a:t>192.168.1.0/24</a:t>
                      </a:r>
                      <a:endParaRPr b="0" sz="1600" u="none" cap="none" strike="noStrike"/>
                    </a:p>
                  </a:txBody>
                  <a:tcPr marT="47625" marB="47625" marR="47625" marL="47625" anchor="ctr"/>
                </a:tc>
                <a:tc>
                  <a:txBody>
                    <a:bodyPr/>
                    <a:lstStyle/>
                    <a:p>
                      <a:pPr indent="0" lvl="0" marL="0" marR="0" rtl="0" algn="l">
                        <a:spcBef>
                          <a:spcPts val="0"/>
                        </a:spcBef>
                        <a:spcAft>
                          <a:spcPts val="0"/>
                        </a:spcAft>
                        <a:buNone/>
                      </a:pPr>
                      <a:r>
                        <a:rPr b="1" i="0" lang="en-US" sz="1600" u="none" cap="none" strike="noStrike">
                          <a:latin typeface="Courier New"/>
                          <a:ea typeface="Courier New"/>
                          <a:cs typeface="Courier New"/>
                          <a:sym typeface="Courier New"/>
                        </a:rPr>
                        <a:t>11000000.10101000.00000001.00000000</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Wildcard Masks in ACLs</a:t>
            </a:r>
            <a:br>
              <a:rPr lang="en-US"/>
            </a:br>
            <a:r>
              <a:rPr lang="en-US" sz="2400"/>
              <a:t>Wildcard Mask Types (Cont.)</a:t>
            </a:r>
            <a:endParaRPr/>
          </a:p>
        </p:txBody>
      </p:sp>
      <p:sp>
        <p:nvSpPr>
          <p:cNvPr id="293" name="Google Shape;293;p11"/>
          <p:cNvSpPr txBox="1"/>
          <p:nvPr>
            <p:ph idx="1" type="body"/>
          </p:nvPr>
        </p:nvSpPr>
        <p:spPr>
          <a:xfrm>
            <a:off x="474662" y="731837"/>
            <a:ext cx="8280057" cy="17210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Mask to Match an IPv4 Address Range</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 10 needs an ACE that permits all hosts in the 192.168.16.0/24, 192.168.17.0/24, …, 192.168.31.0/24 networks.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processed, the wildcard mask 0.0.15.255 permits all hosts in the 192.168.16.0/24 to 192.168.31.0/24 networks. The resulting ACE in ACL 10 would be </a:t>
            </a:r>
            <a:r>
              <a:rPr b="1" lang="en-US" sz="1600">
                <a:solidFill>
                  <a:srgbClr val="000000"/>
                </a:solidFill>
              </a:rPr>
              <a:t>access-list 10 permit 192.168.16.0 0.0.15.255.</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294" name="Google Shape;294;p11"/>
          <p:cNvGraphicFramePr/>
          <p:nvPr/>
        </p:nvGraphicFramePr>
        <p:xfrm>
          <a:off x="636322" y="2573884"/>
          <a:ext cx="3000000" cy="3000000"/>
        </p:xfrm>
        <a:graphic>
          <a:graphicData uri="http://schemas.openxmlformats.org/drawingml/2006/table">
            <a:tbl>
              <a:tblPr bandRow="1" firstRow="1">
                <a:noFill/>
                <a:tableStyleId>{719675E4-1829-4FB6-B912-4EDA559463AB}</a:tableStyleId>
              </a:tblPr>
              <a:tblGrid>
                <a:gridCol w="1704625"/>
                <a:gridCol w="1738475"/>
                <a:gridCol w="4428250"/>
              </a:tblGrid>
              <a:tr h="370850">
                <a:tc>
                  <a:txBody>
                    <a:bodyPr/>
                    <a:lstStyle/>
                    <a:p>
                      <a:pPr indent="0" lvl="0" marL="0" marR="0" rtl="0" algn="l">
                        <a:spcBef>
                          <a:spcPts val="0"/>
                        </a:spcBef>
                        <a:spcAft>
                          <a:spcPts val="0"/>
                        </a:spcAft>
                        <a:buNone/>
                      </a:pPr>
                      <a:r>
                        <a:t/>
                      </a:r>
                      <a:endParaRPr sz="1600" u="none" cap="none" strike="noStrike"/>
                    </a:p>
                  </a:txBody>
                  <a:tcPr marT="47625" marB="47625" marR="47625" marL="47625" anchor="ctr"/>
                </a:tc>
                <a:tc>
                  <a:txBody>
                    <a:bodyPr/>
                    <a:lstStyle/>
                    <a:p>
                      <a:pPr indent="0" lvl="0" marL="0" marR="0" rtl="0" algn="l">
                        <a:spcBef>
                          <a:spcPts val="0"/>
                        </a:spcBef>
                        <a:spcAft>
                          <a:spcPts val="0"/>
                        </a:spcAft>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spcBef>
                          <a:spcPts val="0"/>
                        </a:spcBef>
                        <a:spcAft>
                          <a:spcPts val="0"/>
                        </a:spcAft>
                        <a:buNone/>
                      </a:pPr>
                      <a:r>
                        <a:rPr b="0" lang="en-US" sz="1400" u="none" cap="none" strike="noStrike"/>
                        <a:t>IPv4 address</a:t>
                      </a:r>
                      <a:endParaRPr/>
                    </a:p>
                  </a:txBody>
                  <a:tcPr marT="47625" marB="47625" marR="47625" marL="47625" anchor="ctr"/>
                </a:tc>
                <a:tc>
                  <a:txBody>
                    <a:bodyPr/>
                    <a:lstStyle/>
                    <a:p>
                      <a:pPr indent="0" lvl="0" marL="0" marR="0" rtl="0" algn="r">
                        <a:spcBef>
                          <a:spcPts val="0"/>
                        </a:spcBef>
                        <a:spcAft>
                          <a:spcPts val="0"/>
                        </a:spcAft>
                        <a:buNone/>
                      </a:pPr>
                      <a:r>
                        <a:rPr b="0" lang="en-US" sz="1400" u="none" cap="none" strike="noStrike"/>
                        <a:t>192.168.16.0</a:t>
                      </a:r>
                      <a:endParaRPr/>
                    </a:p>
                  </a:txBody>
                  <a:tcPr marT="47625" marB="47625" marR="47625" marL="47625" anchor="ctr"/>
                </a:tc>
                <a:tc>
                  <a:txBody>
                    <a:bodyPr/>
                    <a:lstStyle/>
                    <a:p>
                      <a:pPr indent="0" lvl="0" marL="0" marR="0" rtl="0" algn="l">
                        <a:spcBef>
                          <a:spcPts val="0"/>
                        </a:spcBef>
                        <a:spcAft>
                          <a:spcPts val="0"/>
                        </a:spcAft>
                        <a:buNone/>
                      </a:pPr>
                      <a:r>
                        <a:rPr b="1" i="0" lang="en-US" sz="1400" u="none" cap="none" strike="noStrike">
                          <a:latin typeface="Courier New"/>
                          <a:ea typeface="Courier New"/>
                          <a:cs typeface="Courier New"/>
                          <a:sym typeface="Courier New"/>
                        </a:rPr>
                        <a:t>11000000.10101000.00010000.00000000</a:t>
                      </a:r>
                      <a:endParaRPr/>
                    </a:p>
                  </a:txBody>
                  <a:tcPr marT="47625" marB="47625" marR="47625" marL="47625" anchor="ctr"/>
                </a:tc>
              </a:tr>
              <a:tr h="370850">
                <a:tc>
                  <a:txBody>
                    <a:bodyPr/>
                    <a:lstStyle/>
                    <a:p>
                      <a:pPr indent="0" lvl="0" marL="0" marR="0" rtl="0" algn="r">
                        <a:spcBef>
                          <a:spcPts val="0"/>
                        </a:spcBef>
                        <a:spcAft>
                          <a:spcPts val="0"/>
                        </a:spcAft>
                        <a:buNone/>
                      </a:pPr>
                      <a:r>
                        <a:rPr b="0" lang="en-US" sz="1400" u="none" cap="none" strike="noStrike"/>
                        <a:t>Wildcard Mask</a:t>
                      </a:r>
                      <a:endParaRPr/>
                    </a:p>
                  </a:txBody>
                  <a:tcPr marT="47625" marB="47625" marR="47625" marL="47625" anchor="ctr"/>
                </a:tc>
                <a:tc>
                  <a:txBody>
                    <a:bodyPr/>
                    <a:lstStyle/>
                    <a:p>
                      <a:pPr indent="0" lvl="0" marL="0" marR="0" rtl="0" algn="r">
                        <a:spcBef>
                          <a:spcPts val="0"/>
                        </a:spcBef>
                        <a:spcAft>
                          <a:spcPts val="0"/>
                        </a:spcAft>
                        <a:buNone/>
                      </a:pPr>
                      <a:r>
                        <a:rPr b="0" lang="en-US" sz="1400" u="none" cap="none" strike="noStrike"/>
                        <a:t>0.0.15.255</a:t>
                      </a:r>
                      <a:endParaRPr/>
                    </a:p>
                  </a:txBody>
                  <a:tcPr marT="47625" marB="47625" marR="47625" marL="47625" anchor="ctr"/>
                </a:tc>
                <a:tc>
                  <a:txBody>
                    <a:bodyPr/>
                    <a:lstStyle/>
                    <a:p>
                      <a:pPr indent="0" lvl="0" marL="0" marR="0" rtl="0" algn="l">
                        <a:spcBef>
                          <a:spcPts val="0"/>
                        </a:spcBef>
                        <a:spcAft>
                          <a:spcPts val="0"/>
                        </a:spcAft>
                        <a:buNone/>
                      </a:pPr>
                      <a:r>
                        <a:rPr b="1" i="0" lang="en-US" sz="1400" u="none" cap="none" strike="noStrike">
                          <a:latin typeface="Courier New"/>
                          <a:ea typeface="Courier New"/>
                          <a:cs typeface="Courier New"/>
                          <a:sym typeface="Courier New"/>
                        </a:rPr>
                        <a:t>00000000.00000000.00001111.11111111</a:t>
                      </a:r>
                      <a:endParaRPr/>
                    </a:p>
                  </a:txBody>
                  <a:tcPr marT="47625" marB="47625" marR="47625" marL="47625" anchor="ctr"/>
                </a:tc>
              </a:tr>
              <a:tr h="370850">
                <a:tc>
                  <a:txBody>
                    <a:bodyPr/>
                    <a:lstStyle/>
                    <a:p>
                      <a:pPr indent="0" lvl="0" marL="0" marR="0" rtl="0" algn="r">
                        <a:spcBef>
                          <a:spcPts val="0"/>
                        </a:spcBef>
                        <a:spcAft>
                          <a:spcPts val="0"/>
                        </a:spcAft>
                        <a:buNone/>
                      </a:pPr>
                      <a:r>
                        <a:rPr b="1" lang="en-US" sz="1400" u="none" cap="none" strike="noStrike"/>
                        <a:t>Permitted IPv4 Address</a:t>
                      </a:r>
                      <a:endParaRPr b="0" sz="1400" u="none" cap="none" strike="noStrike"/>
                    </a:p>
                  </a:txBody>
                  <a:tcPr marT="47625" marB="47625" marR="47625" marL="47625" anchor="ctr"/>
                </a:tc>
                <a:tc>
                  <a:txBody>
                    <a:bodyPr/>
                    <a:lstStyle/>
                    <a:p>
                      <a:pPr indent="0" lvl="0" marL="0" marR="0" rtl="0" algn="r">
                        <a:spcBef>
                          <a:spcPts val="0"/>
                        </a:spcBef>
                        <a:spcAft>
                          <a:spcPts val="0"/>
                        </a:spcAft>
                        <a:buNone/>
                      </a:pPr>
                      <a:r>
                        <a:rPr b="1" lang="en-US" sz="1400" u="none" cap="none" strike="noStrike"/>
                        <a:t>192.168.16.0/24</a:t>
                      </a:r>
                      <a:br>
                        <a:rPr b="1" lang="en-US" sz="1400" u="none" cap="none" strike="noStrike"/>
                      </a:br>
                      <a:r>
                        <a:rPr b="1" lang="en-US" sz="1400" u="none" cap="none" strike="noStrike"/>
                        <a:t>to</a:t>
                      </a:r>
                      <a:br>
                        <a:rPr b="1" lang="en-US" sz="1400" u="none" cap="none" strike="noStrike"/>
                      </a:br>
                      <a:r>
                        <a:rPr b="1" lang="en-US" sz="1400" u="none" cap="none" strike="noStrike"/>
                        <a:t>192.168.31.0/24</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1" i="0" lang="en-US" sz="1400" u="none" cap="none" strike="noStrike">
                          <a:latin typeface="Courier New"/>
                          <a:ea typeface="Courier New"/>
                          <a:cs typeface="Courier New"/>
                          <a:sym typeface="Courier New"/>
                        </a:rPr>
                        <a:t>11000000.10101000.00010000.00000000 </a:t>
                      </a:r>
                      <a:br>
                        <a:rPr b="1" i="0" lang="en-US" sz="1400" u="none" cap="none" strike="noStrike">
                          <a:latin typeface="Courier New"/>
                          <a:ea typeface="Courier New"/>
                          <a:cs typeface="Courier New"/>
                          <a:sym typeface="Courier New"/>
                        </a:rPr>
                      </a:br>
                      <a:br>
                        <a:rPr b="1" i="0" lang="en-US" sz="1400" u="none" cap="none" strike="noStrike">
                          <a:latin typeface="Courier New"/>
                          <a:ea typeface="Courier New"/>
                          <a:cs typeface="Courier New"/>
                          <a:sym typeface="Courier New"/>
                        </a:rPr>
                      </a:br>
                      <a:r>
                        <a:rPr b="1" i="0" lang="en-US" sz="1400" u="none" cap="none" strike="noStrike">
                          <a:latin typeface="Courier New"/>
                          <a:ea typeface="Courier New"/>
                          <a:cs typeface="Courier New"/>
                          <a:sym typeface="Courier New"/>
                        </a:rPr>
                        <a:t>11000000.10101000.00011111.00000000</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2"/>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Guidelines for ACL Creation</a:t>
            </a:r>
            <a:endParaRPr/>
          </a:p>
        </p:txBody>
      </p:sp>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Guidelines for ACL Creation</a:t>
            </a:r>
            <a:br>
              <a:rPr lang="en-US"/>
            </a:br>
            <a:r>
              <a:rPr lang="en-US" sz="2400"/>
              <a:t>Limited Number of ACLs per Interface</a:t>
            </a:r>
            <a:endParaRPr/>
          </a:p>
        </p:txBody>
      </p:sp>
      <p:sp>
        <p:nvSpPr>
          <p:cNvPr id="307" name="Google Shape;307;p13"/>
          <p:cNvSpPr txBox="1"/>
          <p:nvPr>
            <p:ph idx="1" type="body"/>
          </p:nvPr>
        </p:nvSpPr>
        <p:spPr>
          <a:xfrm>
            <a:off x="474662" y="731838"/>
            <a:ext cx="8280057" cy="11042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is a limit on the number of ACLs that can be applied on a router interface. For example, a dual-stacked (i.e, IPv4 and IPv6) router interface can have up to four ACLs applied, as shown in the figure.</a:t>
            </a:r>
            <a:r>
              <a:rPr b="1" lang="en-US" sz="1600">
                <a:solidFill>
                  <a:srgbClr val="000000"/>
                </a:solidFill>
              </a:rPr>
              <a:t> </a:t>
            </a:r>
            <a:endParaRPr/>
          </a:p>
          <a:p>
            <a:pPr indent="0" lvl="0" marL="0" rtl="0" algn="l">
              <a:lnSpc>
                <a:spcPct val="100000"/>
              </a:lnSpc>
              <a:spcBef>
                <a:spcPts val="320"/>
              </a:spcBef>
              <a:spcAft>
                <a:spcPts val="0"/>
              </a:spcAft>
              <a:buSzPts val="1600"/>
              <a:buNone/>
            </a:pPr>
            <a:r>
              <a:rPr lang="en-US" sz="1600">
                <a:solidFill>
                  <a:srgbClr val="000000"/>
                </a:solidFill>
              </a:rPr>
              <a:t>Specifically, a router interface can have:</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308" name="Google Shape;308;p13"/>
          <p:cNvSpPr/>
          <p:nvPr/>
        </p:nvSpPr>
        <p:spPr>
          <a:xfrm>
            <a:off x="474662" y="1868036"/>
            <a:ext cx="3931996" cy="236988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One outbound IPv4 ACL.</a:t>
            </a:r>
            <a:endParaRPr/>
          </a:p>
          <a:p>
            <a:pPr indent="-342900" lvl="0" marL="342900" marR="0" rtl="0" algn="l">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One inbound IPv4 ACL.</a:t>
            </a:r>
            <a:endParaRPr/>
          </a:p>
          <a:p>
            <a:pPr indent="-342900" lvl="0" marL="342900" marR="0" rtl="0" algn="l">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One inbound IPv6 ACL.</a:t>
            </a:r>
            <a:endParaRPr/>
          </a:p>
          <a:p>
            <a:pPr indent="-342900" lvl="0" marL="342900" marR="0" rtl="0" algn="l">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One outbound IPv6 ACL.</a:t>
            </a:r>
            <a:endParaRPr/>
          </a:p>
          <a:p>
            <a:pPr indent="-266700" lvl="0" marL="342900" marR="0" rtl="0" algn="l">
              <a:spcBef>
                <a:spcPts val="0"/>
              </a:spcBef>
              <a:spcAft>
                <a:spcPts val="0"/>
              </a:spcAft>
              <a:buClr>
                <a:schemeClr val="dk1"/>
              </a:buClr>
              <a:buSzPts val="1200"/>
              <a:buFont typeface="Arial"/>
              <a:buNone/>
            </a:pPr>
            <a:r>
              <a:t/>
            </a:r>
            <a:endParaRPr b="1" sz="1200">
              <a:solidFill>
                <a:srgbClr val="000000"/>
              </a:solidFill>
              <a:latin typeface="Arial"/>
              <a:ea typeface="Arial"/>
              <a:cs typeface="Arial"/>
              <a:sym typeface="Arial"/>
            </a:endParaRPr>
          </a:p>
          <a:p>
            <a:pPr indent="-266700" lvl="0" marL="342900" marR="0" rtl="0" algn="l">
              <a:spcBef>
                <a:spcPts val="0"/>
              </a:spcBef>
              <a:spcAft>
                <a:spcPts val="0"/>
              </a:spcAft>
              <a:buClr>
                <a:schemeClr val="dk1"/>
              </a:buClr>
              <a:buSzPts val="1200"/>
              <a:buFont typeface="Arial"/>
              <a:buNone/>
            </a:pPr>
            <a:r>
              <a:t/>
            </a:r>
            <a:endParaRPr b="1" sz="1200">
              <a:solidFill>
                <a:srgbClr val="000000"/>
              </a:solidFill>
              <a:latin typeface="Arial"/>
              <a:ea typeface="Arial"/>
              <a:cs typeface="Arial"/>
              <a:sym typeface="Arial"/>
            </a:endParaRPr>
          </a:p>
          <a:p>
            <a:pPr indent="-266700" lvl="0" marL="342900" marR="0" rtl="0" algn="l">
              <a:spcBef>
                <a:spcPts val="0"/>
              </a:spcBef>
              <a:spcAft>
                <a:spcPts val="0"/>
              </a:spcAft>
              <a:buClr>
                <a:schemeClr val="dk1"/>
              </a:buClr>
              <a:buSzPts val="1200"/>
              <a:buFont typeface="Arial"/>
              <a:buNone/>
            </a:pPr>
            <a:r>
              <a:t/>
            </a:r>
            <a:endParaRPr b="1" sz="1200">
              <a:solidFill>
                <a:srgbClr val="000000"/>
              </a:solidFill>
              <a:latin typeface="Arial"/>
              <a:ea typeface="Arial"/>
              <a:cs typeface="Arial"/>
              <a:sym typeface="Arial"/>
            </a:endParaRPr>
          </a:p>
          <a:p>
            <a:pPr indent="0" lvl="0" marL="0" marR="0" rtl="0" algn="l">
              <a:spcBef>
                <a:spcPts val="0"/>
              </a:spcBef>
              <a:spcAft>
                <a:spcPts val="0"/>
              </a:spcAft>
              <a:buNone/>
            </a:pPr>
            <a:r>
              <a:rPr b="1" lang="en-US" sz="1200">
                <a:solidFill>
                  <a:srgbClr val="000000"/>
                </a:solidFill>
                <a:latin typeface="Arial"/>
                <a:ea typeface="Arial"/>
                <a:cs typeface="Arial"/>
                <a:sym typeface="Arial"/>
              </a:rPr>
              <a:t>Note</a:t>
            </a:r>
            <a:r>
              <a:rPr lang="en-US" sz="1200">
                <a:solidFill>
                  <a:srgbClr val="000000"/>
                </a:solidFill>
                <a:latin typeface="Arial"/>
                <a:ea typeface="Arial"/>
                <a:cs typeface="Arial"/>
                <a:sym typeface="Arial"/>
              </a:rPr>
              <a:t>: ACLs do not have to be configured in both directions. The number of ACLs and their direction applied to the interface will depend on the security policy of the organization.</a:t>
            </a:r>
            <a:endParaRPr/>
          </a:p>
        </p:txBody>
      </p:sp>
      <p:pic>
        <p:nvPicPr>
          <p:cNvPr id="309" name="Google Shape;309;p13"/>
          <p:cNvPicPr preferRelativeResize="0"/>
          <p:nvPr/>
        </p:nvPicPr>
        <p:blipFill rotWithShape="1">
          <a:blip r:embed="rId3">
            <a:alphaModFix/>
          </a:blip>
          <a:srcRect b="0" l="0" r="0" t="0"/>
          <a:stretch/>
        </p:blipFill>
        <p:spPr>
          <a:xfrm>
            <a:off x="4572000" y="2054578"/>
            <a:ext cx="3686009" cy="27662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Guidelines for ACL Creation</a:t>
            </a:r>
            <a:br>
              <a:rPr lang="en-US"/>
            </a:br>
            <a:r>
              <a:rPr lang="en-US" sz="2400"/>
              <a:t>ACL Best Practices</a:t>
            </a:r>
            <a:endParaRPr/>
          </a:p>
        </p:txBody>
      </p:sp>
      <p:sp>
        <p:nvSpPr>
          <p:cNvPr id="316" name="Google Shape;316;p14"/>
          <p:cNvSpPr txBox="1"/>
          <p:nvPr>
            <p:ph idx="1" type="body"/>
          </p:nvPr>
        </p:nvSpPr>
        <p:spPr>
          <a:xfrm>
            <a:off x="474662" y="731837"/>
            <a:ext cx="8280057" cy="89376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Using ACLs requires attention to detail and great care. Mistakes can be costly in terms of downtime, troubleshooting efforts, and poor network service. Basic planning is required before configuring an ACL.</a:t>
            </a:r>
            <a:endParaRPr/>
          </a:p>
        </p:txBody>
      </p:sp>
      <p:graphicFrame>
        <p:nvGraphicFramePr>
          <p:cNvPr id="317" name="Google Shape;317;p14"/>
          <p:cNvGraphicFramePr/>
          <p:nvPr/>
        </p:nvGraphicFramePr>
        <p:xfrm>
          <a:off x="587022" y="1625600"/>
          <a:ext cx="3000000" cy="3000000"/>
        </p:xfrm>
        <a:graphic>
          <a:graphicData uri="http://schemas.openxmlformats.org/drawingml/2006/table">
            <a:tbl>
              <a:tblPr bandRow="1" firstRow="1">
                <a:noFill/>
                <a:tableStyleId>{719675E4-1829-4FB6-B912-4EDA559463AB}</a:tableStyleId>
              </a:tblPr>
              <a:tblGrid>
                <a:gridCol w="3879225"/>
                <a:gridCol w="3879225"/>
              </a:tblGrid>
              <a:tr h="370850">
                <a:tc>
                  <a:txBody>
                    <a:bodyPr/>
                    <a:lstStyle/>
                    <a:p>
                      <a:pPr indent="0" lvl="0" marL="0" marR="0" rtl="0" algn="l">
                        <a:spcBef>
                          <a:spcPts val="0"/>
                        </a:spcBef>
                        <a:spcAft>
                          <a:spcPts val="0"/>
                        </a:spcAft>
                        <a:buNone/>
                      </a:pPr>
                      <a:r>
                        <a:rPr b="1" lang="en-US" sz="1400" u="none" cap="none" strike="noStrike"/>
                        <a:t>Guideline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Benefit</a:t>
                      </a:r>
                      <a:endParaRPr sz="1400" u="none" cap="none" strike="noStrike"/>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Base ACLs on the organizational security policies.</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This will ensure you implement organizational security guidelines.</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Write out what you want the ACL to do.</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This will help you avoid inadvertently creating potential access problems.</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Use a text editor to create, edit, and save all of your ACLs.</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This will help you create a library of reusable ACLs.</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Document the ACLs using the </a:t>
                      </a:r>
                      <a:r>
                        <a:rPr b="1" lang="en-US" sz="1400" u="none" cap="none" strike="noStrike"/>
                        <a:t>remark </a:t>
                      </a:r>
                      <a:r>
                        <a:rPr b="0" lang="en-US" sz="1400" u="none" cap="none" strike="noStrike"/>
                        <a:t>command.</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This will help you (and others) understand the purpose of an ACE.</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Test the ACLs on a development network before implementing them on a production network.</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This will help you avoid costly errors.</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5"/>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Types of IPv4 ACLs</a:t>
            </a:r>
            <a:endParaRPr/>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Standard and Extended ACLs</a:t>
            </a:r>
            <a:endParaRPr/>
          </a:p>
        </p:txBody>
      </p:sp>
      <p:sp>
        <p:nvSpPr>
          <p:cNvPr id="330" name="Google Shape;330;p1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two types of IPv4 ACLs: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Standard ACLs</a:t>
            </a:r>
            <a:r>
              <a:rPr lang="en-US" sz="1600">
                <a:solidFill>
                  <a:srgbClr val="000000"/>
                </a:solidFill>
              </a:rPr>
              <a:t> - These permit or deny packets based only on the source IPv4 address.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Extended ACLs</a:t>
            </a:r>
            <a:r>
              <a:rPr lang="en-US" sz="1600">
                <a:solidFill>
                  <a:srgbClr val="000000"/>
                </a:solidFill>
              </a:rPr>
              <a:t> - These permit or deny packets based on the source IPv4 address and destination IPv4 address, protocol type, source and destination TCP or UDP ports and more.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Numbered and Named ACLs</a:t>
            </a:r>
            <a:endParaRPr/>
          </a:p>
        </p:txBody>
      </p:sp>
      <p:sp>
        <p:nvSpPr>
          <p:cNvPr id="337" name="Google Shape;337;p17"/>
          <p:cNvSpPr txBox="1"/>
          <p:nvPr>
            <p:ph idx="1" type="body"/>
          </p:nvPr>
        </p:nvSpPr>
        <p:spPr>
          <a:xfrm>
            <a:off x="431971" y="731838"/>
            <a:ext cx="8280057" cy="10534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Numbered ACLs</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ACLs numbered 1-99, or 1300-1999 are standard ACLs, while ACLs numbered 100-199, or 2000-2699 are extended ACLs.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338" name="Google Shape;338;p17"/>
          <p:cNvSpPr/>
          <p:nvPr/>
        </p:nvSpPr>
        <p:spPr>
          <a:xfrm>
            <a:off x="720400" y="2061130"/>
            <a:ext cx="7329488" cy="212365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access-list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&lt;1-99&gt; IP standard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&lt;100-199&gt; IP extended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&lt;1100-1199&gt; Extended 48-bit MAC address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&lt;1300-1999&gt; IP standard access list (expanded range)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&lt;200-299&gt; Protocol type-code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&lt;2000-2699&gt; IP extended access list (expanded range)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&lt;700-799&gt; 48-bit MAC address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rate-limit Simple rate-limit specific access list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template Enable IP template acls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Router(config)# </a:t>
            </a:r>
            <a:r>
              <a:rPr b="1" lang="en-US" sz="1200">
                <a:solidFill>
                  <a:srgbClr val="FFFFFF"/>
                </a:solidFill>
                <a:latin typeface="Courier New"/>
                <a:ea typeface="Courier New"/>
                <a:cs typeface="Courier New"/>
                <a:sym typeface="Courier New"/>
              </a:rPr>
              <a:t>access-list  </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Numbered and Named ACLs (Cont.)</a:t>
            </a:r>
            <a:endParaRPr/>
          </a:p>
        </p:txBody>
      </p:sp>
      <p:sp>
        <p:nvSpPr>
          <p:cNvPr id="345" name="Google Shape;345;p18"/>
          <p:cNvSpPr txBox="1"/>
          <p:nvPr>
            <p:ph idx="1" type="body"/>
          </p:nvPr>
        </p:nvSpPr>
        <p:spPr>
          <a:xfrm>
            <a:off x="431971" y="731838"/>
            <a:ext cx="8280057" cy="193879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Named ACLs</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ip</a:t>
            </a:r>
            <a:r>
              <a:rPr lang="en-US" sz="1600">
                <a:solidFill>
                  <a:srgbClr val="000000"/>
                </a:solidFill>
              </a:rPr>
              <a:t> </a:t>
            </a:r>
            <a:r>
              <a:rPr b="1" lang="en-US" sz="1600">
                <a:solidFill>
                  <a:srgbClr val="000000"/>
                </a:solidFill>
              </a:rPr>
              <a:t>access-list</a:t>
            </a:r>
            <a:r>
              <a:rPr lang="en-US" sz="1600">
                <a:solidFill>
                  <a:srgbClr val="000000"/>
                </a:solidFill>
              </a:rPr>
              <a:t> global configuration command is used to create a named ACL, as shown in the following example.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346" name="Google Shape;346;p18"/>
          <p:cNvSpPr/>
          <p:nvPr/>
        </p:nvSpPr>
        <p:spPr>
          <a:xfrm>
            <a:off x="593015" y="2747630"/>
            <a:ext cx="7752473" cy="954107"/>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R1(config)# </a:t>
            </a:r>
            <a:r>
              <a:rPr b="1" lang="en-US" sz="1400">
                <a:solidFill>
                  <a:schemeClr val="lt1"/>
                </a:solidFill>
                <a:latin typeface="Courier New"/>
                <a:ea typeface="Courier New"/>
                <a:cs typeface="Courier New"/>
                <a:sym typeface="Courier New"/>
              </a:rPr>
              <a:t>ip access-list extended FTP-FILTER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R1(config-ext-nacl)# </a:t>
            </a:r>
            <a:r>
              <a:rPr b="1" lang="en-US" sz="1400">
                <a:solidFill>
                  <a:schemeClr val="lt1"/>
                </a:solidFill>
                <a:latin typeface="Courier New"/>
                <a:ea typeface="Courier New"/>
                <a:cs typeface="Courier New"/>
                <a:sym typeface="Courier New"/>
              </a:rPr>
              <a:t>permit tcp 192.168.10.0 0.0.0.255 any eq ftp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R1(config-ext-nacl)# </a:t>
            </a:r>
            <a:r>
              <a:rPr b="1" lang="en-US" sz="1400">
                <a:solidFill>
                  <a:schemeClr val="lt1"/>
                </a:solidFill>
                <a:latin typeface="Courier New"/>
                <a:ea typeface="Courier New"/>
                <a:cs typeface="Courier New"/>
                <a:sym typeface="Courier New"/>
              </a:rPr>
              <a:t>permit tcp 192.168.10.0 0.0.0.255 any eq ftp-data </a:t>
            </a:r>
            <a:r>
              <a:rPr lang="en-US" sz="1400">
                <a:solidFill>
                  <a:schemeClr val="lt1"/>
                </a:solidFill>
                <a:latin typeface="Courier New"/>
                <a:ea typeface="Courier New"/>
                <a:cs typeface="Courier New"/>
                <a:sym typeface="Courier New"/>
              </a:rPr>
              <a:t>R1(config-ext-nacl)#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Where to Place ACLs</a:t>
            </a:r>
            <a:endParaRPr/>
          </a:p>
        </p:txBody>
      </p:sp>
      <p:sp>
        <p:nvSpPr>
          <p:cNvPr id="353" name="Google Shape;353;p19"/>
          <p:cNvSpPr txBox="1"/>
          <p:nvPr>
            <p:ph idx="1" type="body"/>
          </p:nvPr>
        </p:nvSpPr>
        <p:spPr>
          <a:xfrm>
            <a:off x="474663" y="731837"/>
            <a:ext cx="3950582"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Every ACL should be placed where it has the greatest impact on efficiency.</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Extended ACLs should be located as close as possible to the source of the traffic to be filtered.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Standard ACLs should be located as close to the destination as possible. </a:t>
            </a:r>
            <a:endParaRPr/>
          </a:p>
        </p:txBody>
      </p:sp>
      <p:pic>
        <p:nvPicPr>
          <p:cNvPr id="354" name="Google Shape;354;p19"/>
          <p:cNvPicPr preferRelativeResize="0"/>
          <p:nvPr/>
        </p:nvPicPr>
        <p:blipFill rotWithShape="1">
          <a:blip r:embed="rId3">
            <a:alphaModFix/>
          </a:blip>
          <a:srcRect b="0" l="0" r="0" t="0"/>
          <a:stretch/>
        </p:blipFill>
        <p:spPr>
          <a:xfrm>
            <a:off x="4572000" y="1054902"/>
            <a:ext cx="4445168" cy="30437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Where to Place ACLs (Cont.)</a:t>
            </a:r>
            <a:endParaRPr/>
          </a:p>
        </p:txBody>
      </p:sp>
      <p:graphicFrame>
        <p:nvGraphicFramePr>
          <p:cNvPr id="361" name="Google Shape;361;p20"/>
          <p:cNvGraphicFramePr/>
          <p:nvPr/>
        </p:nvGraphicFramePr>
        <p:xfrm>
          <a:off x="431800" y="1240657"/>
          <a:ext cx="3000000" cy="3000000"/>
        </p:xfrm>
        <a:graphic>
          <a:graphicData uri="http://schemas.openxmlformats.org/drawingml/2006/table">
            <a:tbl>
              <a:tblPr bandRow="1" firstRow="1">
                <a:noFill/>
                <a:tableStyleId>{719675E4-1829-4FB6-B912-4EDA559463AB}</a:tableStyleId>
              </a:tblPr>
              <a:tblGrid>
                <a:gridCol w="3620900"/>
                <a:gridCol w="4659500"/>
              </a:tblGrid>
              <a:tr h="370850">
                <a:tc>
                  <a:txBody>
                    <a:bodyPr/>
                    <a:lstStyle/>
                    <a:p>
                      <a:pPr indent="0" lvl="0" marL="0" marR="0" rtl="0" algn="l">
                        <a:spcBef>
                          <a:spcPts val="0"/>
                        </a:spcBef>
                        <a:spcAft>
                          <a:spcPts val="0"/>
                        </a:spcAft>
                        <a:buNone/>
                      </a:pPr>
                      <a:r>
                        <a:rPr b="1" lang="en-US" sz="1400" u="none" cap="none" strike="noStrike"/>
                        <a:t>Factors Influencing ACL Placement</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Explanation</a:t>
                      </a:r>
                      <a:endParaRPr sz="1400" u="none" cap="none" strike="noStrike"/>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The extent of organizational control</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0" lang="en-US" sz="1400" u="none" cap="none" strike="noStrike"/>
                        <a:t>Placement of the ACL can depend on whether or not the organization has control of both the source and destination networks.</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Bandwidth of the networks involved</a:t>
                      </a:r>
                      <a:endParaRPr b="0" sz="1400" u="none" cap="none" strike="noStrike"/>
                    </a:p>
                  </a:txBody>
                  <a:tcPr marT="47625" marB="47625" marR="47625" marL="47625" anchor="ctr"/>
                </a:tc>
                <a:tc>
                  <a:txBody>
                    <a:bodyPr/>
                    <a:lstStyle/>
                    <a:p>
                      <a:pPr indent="0" lvl="0" marL="0" marR="0" rtl="0" algn="l">
                        <a:spcBef>
                          <a:spcPts val="0"/>
                        </a:spcBef>
                        <a:spcAft>
                          <a:spcPts val="0"/>
                        </a:spcAft>
                        <a:buNone/>
                      </a:pPr>
                      <a:r>
                        <a:rPr b="0" lang="en-US" sz="1400" u="none" cap="none" strike="noStrike"/>
                        <a:t>It may be desirable to filter unwanted traffic at the source to prevent transmission of bandwidth-consuming traffic.</a:t>
                      </a:r>
                      <a:endParaRPr/>
                    </a:p>
                  </a:txBody>
                  <a:tcPr marT="47625" marB="47625" marR="47625" marL="47625" anchor="ctr"/>
                </a:tc>
              </a:tr>
              <a:tr h="370850">
                <a:tc>
                  <a:txBody>
                    <a:bodyPr/>
                    <a:lstStyle/>
                    <a:p>
                      <a:pPr indent="0" lvl="0" marL="0" marR="0" rtl="0" algn="l">
                        <a:spcBef>
                          <a:spcPts val="0"/>
                        </a:spcBef>
                        <a:spcAft>
                          <a:spcPts val="0"/>
                        </a:spcAft>
                        <a:buNone/>
                      </a:pPr>
                      <a:r>
                        <a:rPr b="1" lang="en-US" sz="1400" u="none" cap="none" strike="noStrike"/>
                        <a:t>Ease of configuration</a:t>
                      </a:r>
                      <a:endParaRPr b="0" sz="1400" u="none" cap="none" strike="noStrike"/>
                    </a:p>
                  </a:txBody>
                  <a:tcPr marT="47625" marB="47625" marR="47625" marL="47625" anchor="ctr"/>
                </a:tc>
                <a:tc>
                  <a:txBody>
                    <a:bodyPr/>
                    <a:lstStyle/>
                    <a:p>
                      <a:pPr indent="-88900" lvl="0" marL="0" marR="0" rtl="0" algn="l">
                        <a:spcBef>
                          <a:spcPts val="0"/>
                        </a:spcBef>
                        <a:spcAft>
                          <a:spcPts val="0"/>
                        </a:spcAft>
                        <a:buClr>
                          <a:schemeClr val="dk1"/>
                        </a:buClr>
                        <a:buSzPts val="1400"/>
                        <a:buFont typeface="Arial"/>
                        <a:buChar char="•"/>
                      </a:pPr>
                      <a:r>
                        <a:rPr b="0" lang="en-US" sz="1400" u="none" cap="none" strike="noStrike"/>
                        <a:t>It may be easier to implement an ACL at the destination, but traffic will use bandwidth unnecessarily.</a:t>
                      </a:r>
                      <a:endParaRPr/>
                    </a:p>
                    <a:p>
                      <a:pPr indent="-88900" lvl="0" marL="0" marR="0" rtl="0" algn="l">
                        <a:spcBef>
                          <a:spcPts val="0"/>
                        </a:spcBef>
                        <a:spcAft>
                          <a:spcPts val="0"/>
                        </a:spcAft>
                        <a:buClr>
                          <a:schemeClr val="dk1"/>
                        </a:buClr>
                        <a:buSzPts val="1400"/>
                        <a:buFont typeface="Arial"/>
                        <a:buChar char="•"/>
                      </a:pPr>
                      <a:r>
                        <a:rPr b="0" lang="en-US" sz="1400" u="none" cap="none" strike="noStrike"/>
                        <a:t>An extended ACL could be used on each router where the traffic originated. This would save bandwidth by filtering the traffic at the source, but it would require creating extended ACLs on multiple routers.</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Standard ACL Placement Example</a:t>
            </a:r>
            <a:endParaRPr/>
          </a:p>
        </p:txBody>
      </p:sp>
      <p:sp>
        <p:nvSpPr>
          <p:cNvPr id="368" name="Google Shape;368;p21"/>
          <p:cNvSpPr txBox="1"/>
          <p:nvPr>
            <p:ph idx="1" type="body"/>
          </p:nvPr>
        </p:nvSpPr>
        <p:spPr>
          <a:xfrm>
            <a:off x="474662" y="731837"/>
            <a:ext cx="3465160"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the figure, the administrator wants to prevent traffic originating in the 192.168.10.0/24 network from reaching the 192.168.30.0/24 network.</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Following the basic placement guidelines, the administrator would place a standard ACL on router R3. </a:t>
            </a:r>
            <a:endParaRPr/>
          </a:p>
        </p:txBody>
      </p:sp>
      <p:pic>
        <p:nvPicPr>
          <p:cNvPr id="369" name="Google Shape;369;p21"/>
          <p:cNvPicPr preferRelativeResize="0"/>
          <p:nvPr/>
        </p:nvPicPr>
        <p:blipFill rotWithShape="1">
          <a:blip r:embed="rId3">
            <a:alphaModFix/>
          </a:blip>
          <a:srcRect b="0" l="0" r="0" t="0"/>
          <a:stretch/>
        </p:blipFill>
        <p:spPr>
          <a:xfrm>
            <a:off x="3939822" y="947296"/>
            <a:ext cx="4823027" cy="32589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Standard ACL Placement Example (Cont.)</a:t>
            </a:r>
            <a:endParaRPr/>
          </a:p>
        </p:txBody>
      </p:sp>
      <p:sp>
        <p:nvSpPr>
          <p:cNvPr id="376" name="Google Shape;376;p22"/>
          <p:cNvSpPr txBox="1"/>
          <p:nvPr>
            <p:ph idx="1" type="body"/>
          </p:nvPr>
        </p:nvSpPr>
        <p:spPr>
          <a:xfrm>
            <a:off x="474663" y="731837"/>
            <a:ext cx="4097338"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two possible interfaces on R3 to apply the standard ACL:</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R3 S0/1/1 interface</a:t>
            </a:r>
            <a:r>
              <a:rPr lang="en-US" sz="1400">
                <a:solidFill>
                  <a:srgbClr val="000000"/>
                </a:solidFill>
              </a:rPr>
              <a:t> </a:t>
            </a:r>
            <a:r>
              <a:rPr b="1" lang="en-US" sz="1400">
                <a:solidFill>
                  <a:srgbClr val="000000"/>
                </a:solidFill>
              </a:rPr>
              <a:t>(inbound)</a:t>
            </a:r>
            <a:r>
              <a:rPr lang="en-US" sz="1400">
                <a:solidFill>
                  <a:srgbClr val="000000"/>
                </a:solidFill>
              </a:rPr>
              <a:t> - The standard ACL can be applied inbound on the R3 S0/1/1 interface to deny traffic from .10 network. However, it would also filter .10 traffic to the 192.168.31.0/24 (.31 in this example) network. Therefore, the standard ACL should not be applied to this interface.</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R3 G0/0 interface</a:t>
            </a:r>
            <a:r>
              <a:rPr lang="en-US" sz="1400">
                <a:solidFill>
                  <a:srgbClr val="000000"/>
                </a:solidFill>
              </a:rPr>
              <a:t> </a:t>
            </a:r>
            <a:r>
              <a:rPr b="1" lang="en-US" sz="1400">
                <a:solidFill>
                  <a:srgbClr val="000000"/>
                </a:solidFill>
              </a:rPr>
              <a:t>(outbound)</a:t>
            </a:r>
            <a:r>
              <a:rPr lang="en-US" sz="1400">
                <a:solidFill>
                  <a:srgbClr val="000000"/>
                </a:solidFill>
              </a:rPr>
              <a:t> - The standard ACL can be applied outbound on the R3 G0/0/0 interface. This will not affect other networks that are reachable by R3. Packets from .10 network will still be able to reach the .31 network. This is the best interface to place the standard ACL to meet the traffic requirements.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377" name="Google Shape;377;p22"/>
          <p:cNvPicPr preferRelativeResize="0"/>
          <p:nvPr/>
        </p:nvPicPr>
        <p:blipFill rotWithShape="1">
          <a:blip r:embed="rId3">
            <a:alphaModFix/>
          </a:blip>
          <a:srcRect b="0" l="0" r="0" t="0"/>
          <a:stretch/>
        </p:blipFill>
        <p:spPr>
          <a:xfrm>
            <a:off x="4572000" y="1253612"/>
            <a:ext cx="4196507" cy="28383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Extended ACL Placement Example</a:t>
            </a:r>
            <a:endParaRPr/>
          </a:p>
        </p:txBody>
      </p:sp>
      <p:sp>
        <p:nvSpPr>
          <p:cNvPr id="384" name="Google Shape;384;p23"/>
          <p:cNvSpPr txBox="1"/>
          <p:nvPr>
            <p:ph idx="1" type="body"/>
          </p:nvPr>
        </p:nvSpPr>
        <p:spPr>
          <a:xfrm>
            <a:off x="282349" y="731837"/>
            <a:ext cx="4391251"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Extended ACLs should be located as close to the source as possible.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However, the organization can only place ACLs on devices that they control. Therefore, the extended ACL placement must be determined in the context of where organizational control extends.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 the figure, for example, Company A wants to deny Telnet and FTP traffic to Company B’s 192.168.30.0/24 network from their 192.168.11.0/24 network, while permitting all other traffic.</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385" name="Google Shape;385;p23"/>
          <p:cNvPicPr preferRelativeResize="0"/>
          <p:nvPr/>
        </p:nvPicPr>
        <p:blipFill rotWithShape="1">
          <a:blip r:embed="rId3">
            <a:alphaModFix/>
          </a:blip>
          <a:srcRect b="0" l="0" r="0" t="0"/>
          <a:stretch/>
        </p:blipFill>
        <p:spPr>
          <a:xfrm>
            <a:off x="4572000" y="1049257"/>
            <a:ext cx="4391251" cy="30550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IPv4 ACLs</a:t>
            </a:r>
            <a:br>
              <a:rPr lang="en-US"/>
            </a:br>
            <a:r>
              <a:rPr lang="en-US" sz="2400"/>
              <a:t>Extended ACL Placement Example (Cont.)</a:t>
            </a:r>
            <a:endParaRPr/>
          </a:p>
        </p:txBody>
      </p:sp>
      <p:sp>
        <p:nvSpPr>
          <p:cNvPr id="392" name="Google Shape;392;p24"/>
          <p:cNvSpPr txBox="1"/>
          <p:nvPr>
            <p:ph idx="1" type="body"/>
          </p:nvPr>
        </p:nvSpPr>
        <p:spPr>
          <a:xfrm>
            <a:off x="245709" y="731837"/>
            <a:ext cx="4525394"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An extended ACL on R3 would accomplish the task, but the administrator does not control R3. In addition, this solution allows unwanted traffic to cross the entire network, only to be blocked at the destination.</a:t>
            </a:r>
            <a:endParaRPr/>
          </a:p>
          <a:p>
            <a:pPr indent="0" lvl="0" marL="0" rtl="0" algn="l">
              <a:lnSpc>
                <a:spcPct val="100000"/>
              </a:lnSpc>
              <a:spcBef>
                <a:spcPts val="280"/>
              </a:spcBef>
              <a:spcAft>
                <a:spcPts val="0"/>
              </a:spcAft>
              <a:buSzPts val="1400"/>
              <a:buNone/>
            </a:pPr>
            <a:r>
              <a:rPr lang="en-US" sz="1400">
                <a:solidFill>
                  <a:srgbClr val="000000"/>
                </a:solidFill>
              </a:rPr>
              <a:t>The solution is to place an extended ACL on R1 that specifies both source and destination addresses.</a:t>
            </a:r>
            <a:endParaRPr/>
          </a:p>
          <a:p>
            <a:pPr indent="0" lvl="0" marL="0" rtl="0" algn="l">
              <a:lnSpc>
                <a:spcPct val="100000"/>
              </a:lnSpc>
              <a:spcBef>
                <a:spcPts val="280"/>
              </a:spcBef>
              <a:spcAft>
                <a:spcPts val="0"/>
              </a:spcAft>
              <a:buSzPts val="1400"/>
              <a:buNone/>
            </a:pPr>
            <a:r>
              <a:rPr lang="en-US" sz="1400">
                <a:solidFill>
                  <a:srgbClr val="000000"/>
                </a:solidFill>
              </a:rPr>
              <a:t>There are two possible interfaces on R1 to apply the extended ACL:</a:t>
            </a:r>
            <a:endParaRPr/>
          </a:p>
          <a:p>
            <a:pPr indent="-171450" lvl="0" marL="171450" rtl="0" algn="l">
              <a:lnSpc>
                <a:spcPct val="100000"/>
              </a:lnSpc>
              <a:spcBef>
                <a:spcPts val="240"/>
              </a:spcBef>
              <a:spcAft>
                <a:spcPts val="0"/>
              </a:spcAft>
              <a:buSzPts val="1200"/>
              <a:buFont typeface="Arial"/>
              <a:buChar char="•"/>
            </a:pPr>
            <a:r>
              <a:rPr b="1" lang="en-US" sz="1200">
                <a:solidFill>
                  <a:srgbClr val="000000"/>
                </a:solidFill>
              </a:rPr>
              <a:t>R1 S0/1/0 interface (outbound)</a:t>
            </a:r>
            <a:r>
              <a:rPr lang="en-US" sz="1200">
                <a:solidFill>
                  <a:srgbClr val="000000"/>
                </a:solidFill>
              </a:rPr>
              <a:t> - The extended ACL can be applied outbound on the S0/1/0 interface. This solution will process all packets leaving R1 including packets from 192.168.10.0/24.</a:t>
            </a:r>
            <a:endParaRPr/>
          </a:p>
          <a:p>
            <a:pPr indent="-171450" lvl="0" marL="171450" rtl="0" algn="l">
              <a:lnSpc>
                <a:spcPct val="100000"/>
              </a:lnSpc>
              <a:spcBef>
                <a:spcPts val="240"/>
              </a:spcBef>
              <a:spcAft>
                <a:spcPts val="0"/>
              </a:spcAft>
              <a:buSzPts val="1200"/>
              <a:buFont typeface="Arial"/>
              <a:buChar char="•"/>
            </a:pPr>
            <a:r>
              <a:rPr b="1" lang="en-US" sz="1200">
                <a:solidFill>
                  <a:srgbClr val="000000"/>
                </a:solidFill>
              </a:rPr>
              <a:t>R1 G0/0/1 interface (inbound)</a:t>
            </a:r>
            <a:r>
              <a:rPr lang="en-US" sz="120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G0/1 is the best solution.</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393" name="Google Shape;393;p24"/>
          <p:cNvPicPr preferRelativeResize="0"/>
          <p:nvPr/>
        </p:nvPicPr>
        <p:blipFill rotWithShape="1">
          <a:blip r:embed="rId3">
            <a:alphaModFix/>
          </a:blip>
          <a:srcRect b="0" l="0" r="0" t="0"/>
          <a:stretch/>
        </p:blipFill>
        <p:spPr>
          <a:xfrm>
            <a:off x="4915739" y="1156465"/>
            <a:ext cx="4067883" cy="28305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5"/>
          <p:cNvSpPr txBox="1"/>
          <p:nvPr>
            <p:ph type="ctrTitle"/>
          </p:nvPr>
        </p:nvSpPr>
        <p:spPr>
          <a:xfrm>
            <a:off x="416424" y="1331089"/>
            <a:ext cx="8263001" cy="138671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Configure Standard IPv4 ACLs</a:t>
            </a:r>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Create an ACL</a:t>
            </a:r>
            <a:endParaRPr/>
          </a:p>
        </p:txBody>
      </p:sp>
      <p:sp>
        <p:nvSpPr>
          <p:cNvPr id="406" name="Google Shape;406;p26"/>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All access control lists (ACLs) must be planned. When configuring a complex ACL, it is suggested that you:</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a text editor and write out the specifics of the policy to be implemented.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Add the IOS configuration commands to accomplish those tasks.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Include remarks to document the ACL.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Copy and paste the commands onto the device.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Always thoroughly test an ACL to ensure that it correctly applies the desired policy.</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IPv4 ACL Syntax</a:t>
            </a:r>
            <a:endParaRPr/>
          </a:p>
        </p:txBody>
      </p:sp>
      <p:sp>
        <p:nvSpPr>
          <p:cNvPr id="413" name="Google Shape;413;p27"/>
          <p:cNvSpPr txBox="1"/>
          <p:nvPr>
            <p:ph idx="1" type="body"/>
          </p:nvPr>
        </p:nvSpPr>
        <p:spPr>
          <a:xfrm>
            <a:off x="431971" y="855419"/>
            <a:ext cx="8280057" cy="42187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create a numbered standard ACL, use the </a:t>
            </a:r>
            <a:r>
              <a:rPr b="1" lang="en-US" sz="1600">
                <a:solidFill>
                  <a:srgbClr val="000000"/>
                </a:solidFill>
              </a:rPr>
              <a:t>access-list</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414" name="Google Shape;414;p27"/>
          <p:cNvPicPr preferRelativeResize="0"/>
          <p:nvPr/>
        </p:nvPicPr>
        <p:blipFill rotWithShape="1">
          <a:blip r:embed="rId3">
            <a:alphaModFix/>
          </a:blip>
          <a:srcRect b="0" l="0" r="0" t="0"/>
          <a:stretch/>
        </p:blipFill>
        <p:spPr>
          <a:xfrm>
            <a:off x="838199" y="1428889"/>
            <a:ext cx="7467600" cy="428625"/>
          </a:xfrm>
          <a:prstGeom prst="rect">
            <a:avLst/>
          </a:prstGeom>
          <a:noFill/>
          <a:ln>
            <a:noFill/>
          </a:ln>
        </p:spPr>
      </p:pic>
      <p:graphicFrame>
        <p:nvGraphicFramePr>
          <p:cNvPr id="415" name="Google Shape;415;p27"/>
          <p:cNvGraphicFramePr/>
          <p:nvPr/>
        </p:nvGraphicFramePr>
        <p:xfrm>
          <a:off x="532455" y="2009111"/>
          <a:ext cx="3000000" cy="3000000"/>
        </p:xfrm>
        <a:graphic>
          <a:graphicData uri="http://schemas.openxmlformats.org/drawingml/2006/table">
            <a:tbl>
              <a:tblPr bandRow="1" firstRow="1">
                <a:noFill/>
                <a:tableStyleId>{719675E4-1829-4FB6-B912-4EDA559463AB}</a:tableStyleId>
              </a:tblPr>
              <a:tblGrid>
                <a:gridCol w="2441500"/>
                <a:gridCol w="5597175"/>
              </a:tblGrid>
              <a:tr h="154850">
                <a:tc>
                  <a:txBody>
                    <a:bodyPr/>
                    <a:lstStyle/>
                    <a:p>
                      <a:pPr indent="0" lvl="0" marL="0" marR="0" rtl="0" algn="l">
                        <a:spcBef>
                          <a:spcPts val="0"/>
                        </a:spcBef>
                        <a:spcAft>
                          <a:spcPts val="0"/>
                        </a:spcAft>
                        <a:buNone/>
                      </a:pPr>
                      <a:r>
                        <a:rPr lang="en-US" sz="1100" u="none" cap="none" strike="noStrike"/>
                        <a:t>Parameter</a:t>
                      </a:r>
                      <a:endParaRPr/>
                    </a:p>
                  </a:txBody>
                  <a:tcPr marT="45725" marB="45725" marR="91450" marL="91450"/>
                </a:tc>
                <a:tc>
                  <a:txBody>
                    <a:bodyPr/>
                    <a:lstStyle/>
                    <a:p>
                      <a:pPr indent="0" lvl="0" marL="0" marR="0" rtl="0" algn="l">
                        <a:spcBef>
                          <a:spcPts val="0"/>
                        </a:spcBef>
                        <a:spcAft>
                          <a:spcPts val="0"/>
                        </a:spcAft>
                        <a:buNone/>
                      </a:pPr>
                      <a:r>
                        <a:rPr lang="en-US" sz="1100"/>
                        <a:t>Description</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access-list-number</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Number range is 1 to 99 or 1300 to 1999</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deny</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Denies access if the condition is matched</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permit</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Permits access if the condition is matched</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remark</a:t>
                      </a:r>
                      <a:r>
                        <a:rPr lang="en-US" sz="1100">
                          <a:solidFill>
                            <a:srgbClr val="000000"/>
                          </a:solidFill>
                        </a:rPr>
                        <a:t> </a:t>
                      </a:r>
                      <a:r>
                        <a:rPr i="1" lang="en-US" sz="1100">
                          <a:solidFill>
                            <a:srgbClr val="000000"/>
                          </a:solidFill>
                        </a:rPr>
                        <a:t>text</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(Optional) text entry for documentation purposes</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source</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Identifies the source network or host address to filter</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source-wildcard</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(Optional) 32-bit wildcard mask that is applied to the source</a:t>
                      </a:r>
                      <a:endParaRPr/>
                    </a:p>
                  </a:txBody>
                  <a:tcPr marT="45725" marB="45725" marR="91450" marL="91450"/>
                </a:tc>
              </a:tr>
              <a:tr h="179700">
                <a:tc>
                  <a:txBody>
                    <a:bodyPr/>
                    <a:lstStyle/>
                    <a:p>
                      <a:pPr indent="0" lvl="0" marL="0" marR="0" rtl="0" algn="l">
                        <a:spcBef>
                          <a:spcPts val="0"/>
                        </a:spcBef>
                        <a:spcAft>
                          <a:spcPts val="0"/>
                        </a:spcAft>
                        <a:buNone/>
                      </a:pPr>
                      <a:r>
                        <a:rPr b="1" lang="en-US" sz="1100">
                          <a:solidFill>
                            <a:srgbClr val="000000"/>
                          </a:solidFill>
                        </a:rPr>
                        <a:t>log</a:t>
                      </a:r>
                      <a:endParaRPr/>
                    </a:p>
                  </a:txBody>
                  <a:tcPr marT="45725" marB="45725" marR="91450" marL="91450"/>
                </a:tc>
                <a:tc>
                  <a:txBody>
                    <a:bodyPr/>
                    <a:lstStyle/>
                    <a:p>
                      <a:pPr indent="0" lvl="0" marL="0" marR="0" rtl="0" algn="l">
                        <a:spcBef>
                          <a:spcPts val="0"/>
                        </a:spcBef>
                        <a:spcAft>
                          <a:spcPts val="0"/>
                        </a:spcAft>
                        <a:buNone/>
                      </a:pPr>
                      <a:r>
                        <a:rPr lang="en-US" sz="1100">
                          <a:solidFill>
                            <a:srgbClr val="000000"/>
                          </a:solidFill>
                        </a:rPr>
                        <a:t>(Optional) Generates and sends an informational message when the ACE is matched</a:t>
                      </a:r>
                      <a:endParaRPr/>
                    </a:p>
                  </a:txBody>
                  <a:tcPr marT="45725" marB="45725" marR="91450" marL="91450"/>
                </a:tc>
              </a:tr>
            </a:tbl>
          </a:graphicData>
        </a:graphic>
      </p:graphicFrame>
      <p:sp>
        <p:nvSpPr>
          <p:cNvPr id="416" name="Google Shape;416;p27"/>
          <p:cNvSpPr/>
          <p:nvPr/>
        </p:nvSpPr>
        <p:spPr>
          <a:xfrm>
            <a:off x="396319" y="4149581"/>
            <a:ext cx="817481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Note: Use the </a:t>
            </a:r>
            <a:r>
              <a:rPr b="1" lang="en-US" sz="1200">
                <a:solidFill>
                  <a:srgbClr val="000000"/>
                </a:solidFill>
                <a:latin typeface="Arial"/>
                <a:ea typeface="Arial"/>
                <a:cs typeface="Arial"/>
                <a:sym typeface="Arial"/>
              </a:rPr>
              <a:t>no access-list</a:t>
            </a:r>
            <a:r>
              <a:rPr lang="en-US" sz="1200">
                <a:solidFill>
                  <a:srgbClr val="000000"/>
                </a:solidFill>
                <a:latin typeface="Arial"/>
                <a:ea typeface="Arial"/>
                <a:cs typeface="Arial"/>
                <a:sym typeface="Arial"/>
              </a:rPr>
              <a:t> </a:t>
            </a:r>
            <a:r>
              <a:rPr i="1" lang="en-US" sz="1200">
                <a:solidFill>
                  <a:srgbClr val="000000"/>
                </a:solidFill>
                <a:latin typeface="Arial"/>
                <a:ea typeface="Arial"/>
                <a:cs typeface="Arial"/>
                <a:sym typeface="Arial"/>
              </a:rPr>
              <a:t>access-list-number</a:t>
            </a:r>
            <a:r>
              <a:rPr lang="en-US" sz="1200">
                <a:solidFill>
                  <a:srgbClr val="000000"/>
                </a:solidFill>
                <a:latin typeface="Arial"/>
                <a:ea typeface="Arial"/>
                <a:cs typeface="Arial"/>
                <a:sym typeface="Arial"/>
              </a:rPr>
              <a:t> global configuration command to remove a numbered standard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ACL Example</a:t>
            </a:r>
            <a:endParaRPr/>
          </a:p>
        </p:txBody>
      </p:sp>
      <p:sp>
        <p:nvSpPr>
          <p:cNvPr id="423" name="Google Shape;423;p28"/>
          <p:cNvSpPr txBox="1"/>
          <p:nvPr>
            <p:ph idx="1" type="body"/>
          </p:nvPr>
        </p:nvSpPr>
        <p:spPr>
          <a:xfrm>
            <a:off x="431971" y="855419"/>
            <a:ext cx="1809205" cy="349551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example ACL permits traffic from host 192.168.10.10 and all hosts on the 192.168.20.0/24 network out interface serial 0/1/0 on router R1.</a:t>
            </a:r>
            <a:endParaRPr/>
          </a:p>
        </p:txBody>
      </p:sp>
      <p:pic>
        <p:nvPicPr>
          <p:cNvPr id="424" name="Google Shape;424;p28"/>
          <p:cNvPicPr preferRelativeResize="0"/>
          <p:nvPr/>
        </p:nvPicPr>
        <p:blipFill rotWithShape="1">
          <a:blip r:embed="rId3">
            <a:alphaModFix/>
          </a:blip>
          <a:srcRect b="0" l="0" r="0" t="0"/>
          <a:stretch/>
        </p:blipFill>
        <p:spPr>
          <a:xfrm>
            <a:off x="2315254" y="866284"/>
            <a:ext cx="6677026" cy="1216747"/>
          </a:xfrm>
          <a:prstGeom prst="rect">
            <a:avLst/>
          </a:prstGeom>
          <a:noFill/>
          <a:ln>
            <a:noFill/>
          </a:ln>
        </p:spPr>
      </p:pic>
      <p:pic>
        <p:nvPicPr>
          <p:cNvPr id="425" name="Google Shape;425;p28"/>
          <p:cNvPicPr preferRelativeResize="0"/>
          <p:nvPr/>
        </p:nvPicPr>
        <p:blipFill rotWithShape="1">
          <a:blip r:embed="rId4">
            <a:alphaModFix/>
          </a:blip>
          <a:srcRect b="0" l="0" r="0" t="0"/>
          <a:stretch/>
        </p:blipFill>
        <p:spPr>
          <a:xfrm>
            <a:off x="2315255" y="2207301"/>
            <a:ext cx="6677025" cy="1371600"/>
          </a:xfrm>
          <a:prstGeom prst="rect">
            <a:avLst/>
          </a:prstGeom>
          <a:noFill/>
          <a:ln>
            <a:noFill/>
          </a:ln>
        </p:spPr>
      </p:pic>
      <p:pic>
        <p:nvPicPr>
          <p:cNvPr id="426" name="Google Shape;426;p28"/>
          <p:cNvPicPr preferRelativeResize="0"/>
          <p:nvPr/>
        </p:nvPicPr>
        <p:blipFill rotWithShape="1">
          <a:blip r:embed="rId5">
            <a:alphaModFix/>
          </a:blip>
          <a:srcRect b="0" l="0" r="0" t="0"/>
          <a:stretch/>
        </p:blipFill>
        <p:spPr>
          <a:xfrm>
            <a:off x="2315255" y="3612636"/>
            <a:ext cx="6677025" cy="80842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ACL Example (Cont.)</a:t>
            </a:r>
            <a:endParaRPr/>
          </a:p>
        </p:txBody>
      </p:sp>
      <p:sp>
        <p:nvSpPr>
          <p:cNvPr id="433" name="Google Shape;433;p29"/>
          <p:cNvSpPr txBox="1"/>
          <p:nvPr>
            <p:ph idx="1" type="body"/>
          </p:nvPr>
        </p:nvSpPr>
        <p:spPr>
          <a:xfrm>
            <a:off x="431971" y="855419"/>
            <a:ext cx="8280057" cy="73183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Use the </a:t>
            </a:r>
            <a:r>
              <a:rPr b="1" lang="en-US" sz="1600">
                <a:solidFill>
                  <a:srgbClr val="000000"/>
                </a:solidFill>
              </a:rPr>
              <a:t>show running-config</a:t>
            </a:r>
            <a:r>
              <a:rPr lang="en-US" sz="1600">
                <a:solidFill>
                  <a:srgbClr val="000000"/>
                </a:solidFill>
              </a:rPr>
              <a:t> command to review the ACL in the configuration.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show ip interface</a:t>
            </a:r>
            <a:r>
              <a:rPr lang="en-US" sz="1600">
                <a:solidFill>
                  <a:srgbClr val="000000"/>
                </a:solidFill>
              </a:rPr>
              <a:t> command to verify the ACL is applied to the interface.</a:t>
            </a:r>
            <a:endParaRPr/>
          </a:p>
        </p:txBody>
      </p:sp>
      <p:pic>
        <p:nvPicPr>
          <p:cNvPr id="434" name="Google Shape;434;p29"/>
          <p:cNvPicPr preferRelativeResize="0"/>
          <p:nvPr/>
        </p:nvPicPr>
        <p:blipFill rotWithShape="1">
          <a:blip r:embed="rId3">
            <a:alphaModFix/>
          </a:blip>
          <a:srcRect b="0" l="0" r="0" t="0"/>
          <a:stretch/>
        </p:blipFill>
        <p:spPr>
          <a:xfrm>
            <a:off x="2519361" y="1666874"/>
            <a:ext cx="4105275" cy="1200150"/>
          </a:xfrm>
          <a:prstGeom prst="rect">
            <a:avLst/>
          </a:prstGeom>
          <a:noFill/>
          <a:ln>
            <a:noFill/>
          </a:ln>
        </p:spPr>
      </p:pic>
      <p:pic>
        <p:nvPicPr>
          <p:cNvPr id="435" name="Google Shape;435;p29"/>
          <p:cNvPicPr preferRelativeResize="0"/>
          <p:nvPr/>
        </p:nvPicPr>
        <p:blipFill rotWithShape="1">
          <a:blip r:embed="rId4">
            <a:alphaModFix/>
          </a:blip>
          <a:srcRect b="0" l="0" r="0" t="0"/>
          <a:stretch/>
        </p:blipFill>
        <p:spPr>
          <a:xfrm>
            <a:off x="2519361" y="3096030"/>
            <a:ext cx="4086225" cy="1133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Named Standard ACL Example</a:t>
            </a:r>
            <a:endParaRPr/>
          </a:p>
        </p:txBody>
      </p:sp>
      <p:sp>
        <p:nvSpPr>
          <p:cNvPr id="442" name="Google Shape;442;p30"/>
          <p:cNvSpPr txBox="1"/>
          <p:nvPr>
            <p:ph idx="1" type="body"/>
          </p:nvPr>
        </p:nvSpPr>
        <p:spPr>
          <a:xfrm>
            <a:off x="431971" y="855419"/>
            <a:ext cx="3476641" cy="349551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example ACL permits traffic from host 192.168.10.10 and all hosts on the 192.168.20.0/24 network out interface serial 0/1/0 on router R1.</a:t>
            </a:r>
            <a:endParaRPr/>
          </a:p>
        </p:txBody>
      </p:sp>
      <p:pic>
        <p:nvPicPr>
          <p:cNvPr id="443" name="Google Shape;443;p30"/>
          <p:cNvPicPr preferRelativeResize="0"/>
          <p:nvPr/>
        </p:nvPicPr>
        <p:blipFill rotWithShape="1">
          <a:blip r:embed="rId3">
            <a:alphaModFix/>
          </a:blip>
          <a:srcRect b="0" l="0" r="0" t="0"/>
          <a:stretch/>
        </p:blipFill>
        <p:spPr>
          <a:xfrm>
            <a:off x="4235278" y="1068200"/>
            <a:ext cx="4476750" cy="981075"/>
          </a:xfrm>
          <a:prstGeom prst="rect">
            <a:avLst/>
          </a:prstGeom>
          <a:noFill/>
          <a:ln>
            <a:noFill/>
          </a:ln>
        </p:spPr>
      </p:pic>
      <p:pic>
        <p:nvPicPr>
          <p:cNvPr id="444" name="Google Shape;444;p30"/>
          <p:cNvPicPr preferRelativeResize="0"/>
          <p:nvPr/>
        </p:nvPicPr>
        <p:blipFill rotWithShape="1">
          <a:blip r:embed="rId4">
            <a:alphaModFix/>
          </a:blip>
          <a:srcRect b="0" l="0" r="0" t="0"/>
          <a:stretch/>
        </p:blipFill>
        <p:spPr>
          <a:xfrm>
            <a:off x="4235278" y="2060069"/>
            <a:ext cx="4476750" cy="1241937"/>
          </a:xfrm>
          <a:prstGeom prst="rect">
            <a:avLst/>
          </a:prstGeom>
          <a:noFill/>
          <a:ln>
            <a:noFill/>
          </a:ln>
        </p:spPr>
      </p:pic>
      <p:pic>
        <p:nvPicPr>
          <p:cNvPr id="445" name="Google Shape;445;p30"/>
          <p:cNvPicPr preferRelativeResize="0"/>
          <p:nvPr/>
        </p:nvPicPr>
        <p:blipFill rotWithShape="1">
          <a:blip r:embed="rId5">
            <a:alphaModFix/>
          </a:blip>
          <a:srcRect b="0" l="0" r="0" t="0"/>
          <a:stretch/>
        </p:blipFill>
        <p:spPr>
          <a:xfrm>
            <a:off x="4235278" y="3312799"/>
            <a:ext cx="4491454" cy="82889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Two Methods to Modify an ACL</a:t>
            </a:r>
            <a:endParaRPr/>
          </a:p>
        </p:txBody>
      </p:sp>
      <p:sp>
        <p:nvSpPr>
          <p:cNvPr id="452" name="Google Shape;452;p31"/>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an ACL is configured, it may need to be modified. ACLs with multiple ACEs can be complex to configure. Sometimes the configured ACE does not yield the expected behaviors. </a:t>
            </a:r>
            <a:endParaRPr/>
          </a:p>
          <a:p>
            <a:pPr indent="0" lvl="0" marL="0" rtl="0" algn="l">
              <a:lnSpc>
                <a:spcPct val="100000"/>
              </a:lnSpc>
              <a:spcBef>
                <a:spcPts val="320"/>
              </a:spcBef>
              <a:spcAft>
                <a:spcPts val="0"/>
              </a:spcAft>
              <a:buSzPts val="1600"/>
              <a:buNone/>
            </a:pPr>
            <a:r>
              <a:rPr lang="en-US" sz="1600">
                <a:solidFill>
                  <a:srgbClr val="000000"/>
                </a:solidFill>
              </a:rPr>
              <a:t>There are two methods to use when modifying an ACL:</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Use a text editor.</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Use sequence numbers.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Text Editor Method</a:t>
            </a:r>
            <a:endParaRPr/>
          </a:p>
        </p:txBody>
      </p:sp>
      <p:sp>
        <p:nvSpPr>
          <p:cNvPr id="459" name="Google Shape;459;p32"/>
          <p:cNvSpPr txBox="1"/>
          <p:nvPr>
            <p:ph idx="1" type="body"/>
          </p:nvPr>
        </p:nvSpPr>
        <p:spPr>
          <a:xfrm>
            <a:off x="431971" y="855419"/>
            <a:ext cx="8280057" cy="221227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ACLs with multiple ACEs should be created in a text editor. This allows you to plan the required ACEs, create the ACL, and then paste it into the router interface. It also simplifies the tasks to edit and fix an ACL.</a:t>
            </a:r>
            <a:endParaRPr/>
          </a:p>
          <a:p>
            <a:pPr indent="0" lvl="0" marL="0" rtl="0" algn="l">
              <a:lnSpc>
                <a:spcPct val="100000"/>
              </a:lnSpc>
              <a:spcBef>
                <a:spcPts val="320"/>
              </a:spcBef>
              <a:spcAft>
                <a:spcPts val="0"/>
              </a:spcAft>
              <a:buSzPts val="1600"/>
              <a:buNone/>
            </a:pPr>
            <a:r>
              <a:rPr lang="en-US" sz="1600">
                <a:solidFill>
                  <a:srgbClr val="000000"/>
                </a:solidFill>
              </a:rPr>
              <a:t>To correct an error in an ACL:</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Copy the ACL from the running configuration and paste it into the text editor.</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Make the necessary edits or changes.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Remove the previously configured ACL on the router.</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Copy and paste the edited ACL back to the router.</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460" name="Google Shape;460;p32"/>
          <p:cNvPicPr preferRelativeResize="0"/>
          <p:nvPr/>
        </p:nvPicPr>
        <p:blipFill rotWithShape="1">
          <a:blip r:embed="rId3">
            <a:alphaModFix/>
          </a:blip>
          <a:srcRect b="0" l="0" r="0" t="0"/>
          <a:stretch/>
        </p:blipFill>
        <p:spPr>
          <a:xfrm>
            <a:off x="2500310" y="3067698"/>
            <a:ext cx="4143375" cy="790575"/>
          </a:xfrm>
          <a:prstGeom prst="rect">
            <a:avLst/>
          </a:prstGeom>
          <a:noFill/>
          <a:ln>
            <a:noFill/>
          </a:ln>
        </p:spPr>
      </p:pic>
      <p:pic>
        <p:nvPicPr>
          <p:cNvPr id="461" name="Google Shape;461;p32"/>
          <p:cNvPicPr preferRelativeResize="0"/>
          <p:nvPr/>
        </p:nvPicPr>
        <p:blipFill rotWithShape="1">
          <a:blip r:embed="rId4">
            <a:alphaModFix/>
          </a:blip>
          <a:srcRect b="0" l="0" r="0" t="0"/>
          <a:stretch/>
        </p:blipFill>
        <p:spPr>
          <a:xfrm>
            <a:off x="2500311" y="3929365"/>
            <a:ext cx="4143375" cy="9743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Sequence Number Method</a:t>
            </a:r>
            <a:endParaRPr/>
          </a:p>
        </p:txBody>
      </p:sp>
      <p:sp>
        <p:nvSpPr>
          <p:cNvPr id="468" name="Google Shape;468;p33"/>
          <p:cNvSpPr txBox="1"/>
          <p:nvPr>
            <p:ph idx="1" type="body"/>
          </p:nvPr>
        </p:nvSpPr>
        <p:spPr>
          <a:xfrm>
            <a:off x="431972" y="855419"/>
            <a:ext cx="4229676"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ACL ACE can be deleted or added using the ACL sequence numbers.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ip access-list standard</a:t>
            </a:r>
            <a:r>
              <a:rPr lang="en-US" sz="1600">
                <a:solidFill>
                  <a:srgbClr val="000000"/>
                </a:solidFill>
              </a:rPr>
              <a:t> command to edit an ACL.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Statements cannot be overwritten using an existing sequence number. The current statement must be deleted first with the </a:t>
            </a:r>
            <a:r>
              <a:rPr b="1" lang="en-US" sz="1600">
                <a:solidFill>
                  <a:srgbClr val="000000"/>
                </a:solidFill>
              </a:rPr>
              <a:t>no 10</a:t>
            </a:r>
            <a:r>
              <a:rPr lang="en-US" sz="1600">
                <a:solidFill>
                  <a:srgbClr val="000000"/>
                </a:solidFill>
              </a:rPr>
              <a:t> command. Then the correct ACE can be added using sequence number. </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469" name="Google Shape;469;p33"/>
          <p:cNvPicPr preferRelativeResize="0"/>
          <p:nvPr/>
        </p:nvPicPr>
        <p:blipFill rotWithShape="1">
          <a:blip r:embed="rId3">
            <a:alphaModFix/>
          </a:blip>
          <a:srcRect b="0" l="0" r="0" t="0"/>
          <a:stretch/>
        </p:blipFill>
        <p:spPr>
          <a:xfrm>
            <a:off x="4778203" y="875692"/>
            <a:ext cx="3933825" cy="952500"/>
          </a:xfrm>
          <a:prstGeom prst="rect">
            <a:avLst/>
          </a:prstGeom>
          <a:noFill/>
          <a:ln>
            <a:noFill/>
          </a:ln>
        </p:spPr>
      </p:pic>
      <p:pic>
        <p:nvPicPr>
          <p:cNvPr id="470" name="Google Shape;470;p33"/>
          <p:cNvPicPr preferRelativeResize="0"/>
          <p:nvPr/>
        </p:nvPicPr>
        <p:blipFill rotWithShape="1">
          <a:blip r:embed="rId4">
            <a:alphaModFix/>
          </a:blip>
          <a:srcRect b="0" l="0" r="0" t="0"/>
          <a:stretch/>
        </p:blipFill>
        <p:spPr>
          <a:xfrm>
            <a:off x="4778203" y="1972047"/>
            <a:ext cx="3933825" cy="195731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Secure VTY with Standard ACL</a:t>
            </a:r>
            <a:endParaRPr/>
          </a:p>
        </p:txBody>
      </p:sp>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Secure VTY Ports with a Standard IPv4 ACL</a:t>
            </a:r>
            <a:br>
              <a:rPr lang="en-US"/>
            </a:br>
            <a:r>
              <a:rPr lang="en-US" sz="2400"/>
              <a:t>Secure VTY Access Example</a:t>
            </a:r>
            <a:endParaRPr/>
          </a:p>
        </p:txBody>
      </p:sp>
      <p:sp>
        <p:nvSpPr>
          <p:cNvPr id="483" name="Google Shape;483;p35"/>
          <p:cNvSpPr txBox="1"/>
          <p:nvPr>
            <p:ph idx="1" type="body"/>
          </p:nvPr>
        </p:nvSpPr>
        <p:spPr>
          <a:xfrm>
            <a:off x="431971" y="855419"/>
            <a:ext cx="8280057" cy="12308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example demonstrates how to configure an ACL to filter vty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First, a local database entry for a user </a:t>
            </a:r>
            <a:r>
              <a:rPr b="1" lang="en-US" sz="1600">
                <a:solidFill>
                  <a:srgbClr val="000000"/>
                </a:solidFill>
              </a:rPr>
              <a:t>ADMIN</a:t>
            </a:r>
            <a:r>
              <a:rPr lang="en-US" sz="1600">
                <a:solidFill>
                  <a:srgbClr val="000000"/>
                </a:solidFill>
              </a:rPr>
              <a:t> and password </a:t>
            </a:r>
            <a:r>
              <a:rPr b="1" lang="en-US" sz="1600">
                <a:solidFill>
                  <a:srgbClr val="000000"/>
                </a:solidFill>
              </a:rPr>
              <a:t>class </a:t>
            </a:r>
            <a:r>
              <a:rPr lang="en-US" sz="1600">
                <a:solidFill>
                  <a:srgbClr val="000000"/>
                </a:solidFill>
              </a:rPr>
              <a:t>is configured.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vty lines on R1 are configured to use the local database for authentication, permit SSH traffic, and use the ADMIN-HOST ACL to restrict traffic.</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484" name="Google Shape;484;p35"/>
          <p:cNvPicPr preferRelativeResize="0"/>
          <p:nvPr/>
        </p:nvPicPr>
        <p:blipFill rotWithShape="1">
          <a:blip r:embed="rId3">
            <a:alphaModFix/>
          </a:blip>
          <a:srcRect b="0" l="0" r="0" t="0"/>
          <a:stretch/>
        </p:blipFill>
        <p:spPr>
          <a:xfrm>
            <a:off x="2209799" y="2086255"/>
            <a:ext cx="4724400" cy="2333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Secure VTY Ports with a Standard IPv4 ACL</a:t>
            </a:r>
            <a:br>
              <a:rPr lang="en-US"/>
            </a:br>
            <a:r>
              <a:rPr lang="en-US" sz="2400"/>
              <a:t>Verify the VTY Port is Secured</a:t>
            </a:r>
            <a:endParaRPr/>
          </a:p>
        </p:txBody>
      </p:sp>
      <p:sp>
        <p:nvSpPr>
          <p:cNvPr id="491" name="Google Shape;491;p36"/>
          <p:cNvSpPr txBox="1"/>
          <p:nvPr>
            <p:ph idx="1" type="body"/>
          </p:nvPr>
        </p:nvSpPr>
        <p:spPr>
          <a:xfrm>
            <a:off x="431971" y="855419"/>
            <a:ext cx="8280057" cy="230242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an ACL to restrict access to the vty lines is configured, it is important to verify it works as expected.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To verify the ACL statistics, issue the </a:t>
            </a:r>
            <a:r>
              <a:rPr b="1" lang="en-US" sz="1600">
                <a:solidFill>
                  <a:srgbClr val="000000"/>
                </a:solidFill>
              </a:rPr>
              <a:t>show access-lists</a:t>
            </a:r>
            <a:r>
              <a:rPr lang="en-US" sz="1600">
                <a:solidFill>
                  <a:srgbClr val="000000"/>
                </a:solidFill>
              </a:rPr>
              <a:t> command.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match in the permit line of the output is a result of a successful SSH connection by host with IP address 192.168.10.10.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match in the deny statement is due to the failed attempt to create a SSH connection from a device on another network.</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492" name="Google Shape;492;p36"/>
          <p:cNvPicPr preferRelativeResize="0"/>
          <p:nvPr/>
        </p:nvPicPr>
        <p:blipFill rotWithShape="1">
          <a:blip r:embed="rId3">
            <a:alphaModFix/>
          </a:blip>
          <a:srcRect b="0" l="0" r="0" t="0"/>
          <a:stretch/>
        </p:blipFill>
        <p:spPr>
          <a:xfrm>
            <a:off x="862011" y="3157840"/>
            <a:ext cx="7419975" cy="1543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7"/>
          <p:cNvSpPr txBox="1"/>
          <p:nvPr>
            <p:ph type="ctrTitle"/>
          </p:nvPr>
        </p:nvSpPr>
        <p:spPr>
          <a:xfrm>
            <a:off x="416425" y="1354238"/>
            <a:ext cx="7848344" cy="1363562"/>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Configure Extended IPv4 ACLs</a:t>
            </a:r>
            <a:endParaRPr/>
          </a:p>
        </p:txBody>
      </p:sp>
    </p:spTree>
  </p:cSld>
  <p:clrMapOvr>
    <a:masterClrMapping/>
  </p:clrMapOvr>
  <p:transition spd="slow">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Extended ACLs</a:t>
            </a:r>
            <a:endParaRPr/>
          </a:p>
        </p:txBody>
      </p:sp>
      <p:sp>
        <p:nvSpPr>
          <p:cNvPr id="505" name="Google Shape;505;p38"/>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Extended ACLs provide a greater degree of control. They can filter on source address, destination address, protocol (i.e., IP, TCP, UDP, ICMP), and port number.</a:t>
            </a:r>
            <a:endParaRPr/>
          </a:p>
          <a:p>
            <a:pPr indent="0" lvl="0" marL="0" rtl="0" algn="l">
              <a:lnSpc>
                <a:spcPct val="100000"/>
              </a:lnSpc>
              <a:spcBef>
                <a:spcPts val="360"/>
              </a:spcBef>
              <a:spcAft>
                <a:spcPts val="0"/>
              </a:spcAft>
              <a:buSzPts val="1800"/>
              <a:buNone/>
            </a:pPr>
            <a:r>
              <a:t/>
            </a:r>
            <a:endParaRPr sz="1800">
              <a:solidFill>
                <a:srgbClr val="000000"/>
              </a:solidFill>
            </a:endParaRPr>
          </a:p>
          <a:p>
            <a:pPr indent="0" lvl="0" marL="0" rtl="0" algn="l">
              <a:lnSpc>
                <a:spcPct val="100000"/>
              </a:lnSpc>
              <a:spcBef>
                <a:spcPts val="360"/>
              </a:spcBef>
              <a:spcAft>
                <a:spcPts val="0"/>
              </a:spcAft>
              <a:buSzPts val="1800"/>
              <a:buNone/>
            </a:pPr>
            <a:r>
              <a:rPr lang="en-US" sz="1800">
                <a:solidFill>
                  <a:srgbClr val="000000"/>
                </a:solidFill>
              </a:rPr>
              <a:t>Extended ACLs can be created as: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Numbered Extended ACL</a:t>
            </a:r>
            <a:r>
              <a:rPr lang="en-US" sz="1600">
                <a:solidFill>
                  <a:srgbClr val="000000"/>
                </a:solidFill>
              </a:rPr>
              <a:t> - Created using the </a:t>
            </a:r>
            <a:r>
              <a:rPr b="1" lang="en-US" sz="1600">
                <a:solidFill>
                  <a:srgbClr val="000000"/>
                </a:solidFill>
              </a:rPr>
              <a:t>access-list</a:t>
            </a:r>
            <a:r>
              <a:rPr lang="en-US" sz="1600">
                <a:solidFill>
                  <a:srgbClr val="000000"/>
                </a:solidFill>
              </a:rPr>
              <a:t> </a:t>
            </a:r>
            <a:r>
              <a:rPr i="1" lang="en-US" sz="1600">
                <a:solidFill>
                  <a:srgbClr val="000000"/>
                </a:solidFill>
              </a:rPr>
              <a:t>access-list-number</a:t>
            </a:r>
            <a:r>
              <a:rPr lang="en-US" sz="1600">
                <a:solidFill>
                  <a:srgbClr val="000000"/>
                </a:solidFill>
              </a:rPr>
              <a:t> global configuration command.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Named Extended ACL</a:t>
            </a:r>
            <a:r>
              <a:rPr lang="en-US" sz="1600">
                <a:solidFill>
                  <a:srgbClr val="000000"/>
                </a:solidFill>
              </a:rPr>
              <a:t> - Created using the </a:t>
            </a:r>
            <a:r>
              <a:rPr b="1" lang="en-US" sz="1600">
                <a:solidFill>
                  <a:srgbClr val="000000"/>
                </a:solidFill>
              </a:rPr>
              <a:t>ip access-list extended</a:t>
            </a:r>
            <a:r>
              <a:rPr lang="en-US" sz="1600">
                <a:solidFill>
                  <a:srgbClr val="000000"/>
                </a:solidFill>
              </a:rPr>
              <a:t> </a:t>
            </a:r>
            <a:r>
              <a:rPr i="1" lang="en-US" sz="1600">
                <a:solidFill>
                  <a:srgbClr val="000000"/>
                </a:solidFill>
              </a:rPr>
              <a:t>access-list-name</a:t>
            </a:r>
            <a:r>
              <a:rPr lang="en-US" sz="1600">
                <a:solidFill>
                  <a:srgbClr val="000000"/>
                </a:solidFill>
              </a:rPr>
              <a:t>.</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Protocols and Ports (Cont.)</a:t>
            </a:r>
            <a:endParaRPr/>
          </a:p>
        </p:txBody>
      </p:sp>
      <p:sp>
        <p:nvSpPr>
          <p:cNvPr id="512" name="Google Shape;512;p39"/>
          <p:cNvSpPr txBox="1"/>
          <p:nvPr>
            <p:ph idx="1" type="body"/>
          </p:nvPr>
        </p:nvSpPr>
        <p:spPr>
          <a:xfrm>
            <a:off x="431971" y="855418"/>
            <a:ext cx="1603017" cy="243004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Selecting a protocol influences port options. Many TCP port options are available, as shown in the output.</a:t>
            </a:r>
            <a:endParaRPr/>
          </a:p>
        </p:txBody>
      </p:sp>
      <p:pic>
        <p:nvPicPr>
          <p:cNvPr id="513" name="Google Shape;513;p39"/>
          <p:cNvPicPr preferRelativeResize="0"/>
          <p:nvPr/>
        </p:nvPicPr>
        <p:blipFill rotWithShape="1">
          <a:blip r:embed="rId3">
            <a:alphaModFix/>
          </a:blip>
          <a:srcRect b="0" l="0" r="0" t="0"/>
          <a:stretch/>
        </p:blipFill>
        <p:spPr>
          <a:xfrm>
            <a:off x="4172744" y="365918"/>
            <a:ext cx="2355562" cy="43500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Apply a Numbered Extended IPv4 ACL</a:t>
            </a:r>
            <a:endParaRPr/>
          </a:p>
        </p:txBody>
      </p:sp>
      <p:sp>
        <p:nvSpPr>
          <p:cNvPr id="520" name="Google Shape;520;p40"/>
          <p:cNvSpPr txBox="1"/>
          <p:nvPr>
            <p:ph idx="1" type="body"/>
          </p:nvPr>
        </p:nvSpPr>
        <p:spPr>
          <a:xfrm>
            <a:off x="431971" y="855419"/>
            <a:ext cx="8280057" cy="106797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this example, the ACL permits both HTTP and HTTPS traffic from the 192.168.10.0 network to go to any destination.</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Extended ACLs can be applied in various locations. However, they are commonly applied close to the source. Here ACL 110 is applied inbound on the R1 G0/0/0 interface.</a:t>
            </a:r>
            <a:endParaRPr/>
          </a:p>
        </p:txBody>
      </p:sp>
      <p:pic>
        <p:nvPicPr>
          <p:cNvPr id="521" name="Google Shape;521;p40"/>
          <p:cNvPicPr preferRelativeResize="0"/>
          <p:nvPr/>
        </p:nvPicPr>
        <p:blipFill rotWithShape="1">
          <a:blip r:embed="rId3">
            <a:alphaModFix/>
          </a:blip>
          <a:srcRect b="0" l="0" r="0" t="0"/>
          <a:stretch/>
        </p:blipFill>
        <p:spPr>
          <a:xfrm>
            <a:off x="1876424" y="2634320"/>
            <a:ext cx="5391150" cy="1171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TCP Established Extended ACL</a:t>
            </a:r>
            <a:endParaRPr/>
          </a:p>
        </p:txBody>
      </p:sp>
      <p:sp>
        <p:nvSpPr>
          <p:cNvPr id="528" name="Google Shape;528;p41"/>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TCP can also perform basic stateful firewall services using the TCP </a:t>
            </a:r>
            <a:r>
              <a:rPr b="1" lang="en-US" sz="1600">
                <a:solidFill>
                  <a:srgbClr val="000000"/>
                </a:solidFill>
              </a:rPr>
              <a:t>established</a:t>
            </a:r>
            <a:r>
              <a:rPr lang="en-US" sz="1600">
                <a:solidFill>
                  <a:srgbClr val="000000"/>
                </a:solidFill>
              </a:rPr>
              <a:t> keyword.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established</a:t>
            </a:r>
            <a:r>
              <a:rPr lang="en-US" sz="1600">
                <a:solidFill>
                  <a:srgbClr val="000000"/>
                </a:solidFill>
              </a:rPr>
              <a:t> keyword enables inside traffic to exit the inside private network and permits the returning reply traffic to enter the inside private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TCP traffic generated by an outside host and attempting to communicate with an inside host is denied.</a:t>
            </a:r>
            <a:endParaRPr/>
          </a:p>
        </p:txBody>
      </p:sp>
      <p:pic>
        <p:nvPicPr>
          <p:cNvPr id="529" name="Google Shape;529;p41"/>
          <p:cNvPicPr preferRelativeResize="0"/>
          <p:nvPr/>
        </p:nvPicPr>
        <p:blipFill rotWithShape="1">
          <a:blip r:embed="rId3">
            <a:alphaModFix/>
          </a:blip>
          <a:srcRect b="0" l="0" r="0" t="0"/>
          <a:stretch/>
        </p:blipFill>
        <p:spPr>
          <a:xfrm>
            <a:off x="1801791" y="2301765"/>
            <a:ext cx="4563150" cy="24884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TCP Established Extended ACL (Cont.)</a:t>
            </a:r>
            <a:endParaRPr/>
          </a:p>
        </p:txBody>
      </p:sp>
      <p:sp>
        <p:nvSpPr>
          <p:cNvPr id="536" name="Google Shape;536;p42"/>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ACL 120 is configured to only permit returning web traffic to the inside hosts. The ACL is then applied outbound on the R1 G0/0/0 interface.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show access-lists</a:t>
            </a:r>
            <a:r>
              <a:rPr lang="en-US" sz="1600">
                <a:solidFill>
                  <a:srgbClr val="000000"/>
                </a:solidFill>
              </a:rPr>
              <a:t> command shows that inside hosts are accessing the secure web resources from the internet. </a:t>
            </a:r>
            <a:endParaRPr/>
          </a:p>
          <a:p>
            <a:pPr indent="0" lvl="1" marL="73085" rtl="0" algn="l">
              <a:lnSpc>
                <a:spcPct val="95000"/>
              </a:lnSpc>
              <a:spcBef>
                <a:spcPts val="600"/>
              </a:spcBef>
              <a:spcAft>
                <a:spcPts val="0"/>
              </a:spcAft>
              <a:buSzPts val="1400"/>
              <a:buNone/>
            </a:pPr>
            <a:r>
              <a:rPr b="1" lang="en-US">
                <a:solidFill>
                  <a:srgbClr val="000000"/>
                </a:solidFill>
              </a:rPr>
              <a:t>Note</a:t>
            </a:r>
            <a:r>
              <a:rPr lang="en-US">
                <a:solidFill>
                  <a:srgbClr val="000000"/>
                </a:solidFill>
              </a:rPr>
              <a:t>: A match occurs if the returning TCP segment has the ACK or reset (RST) flag bits set, indicating that the packet belongs to an existing connection.</a:t>
            </a:r>
            <a:endParaRPr/>
          </a:p>
        </p:txBody>
      </p:sp>
      <p:pic>
        <p:nvPicPr>
          <p:cNvPr id="537" name="Google Shape;537;p42"/>
          <p:cNvPicPr preferRelativeResize="0"/>
          <p:nvPr/>
        </p:nvPicPr>
        <p:blipFill rotWithShape="1">
          <a:blip r:embed="rId3">
            <a:alphaModFix/>
          </a:blip>
          <a:srcRect b="0" l="0" r="0" t="0"/>
          <a:stretch/>
        </p:blipFill>
        <p:spPr>
          <a:xfrm>
            <a:off x="1676399" y="2571750"/>
            <a:ext cx="5791200" cy="213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Named Extended IPv4 ACL Syntax</a:t>
            </a:r>
            <a:endParaRPr/>
          </a:p>
        </p:txBody>
      </p:sp>
      <p:sp>
        <p:nvSpPr>
          <p:cNvPr id="544" name="Google Shape;544;p43"/>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Naming an ACL makes it easier to understand its function. To create a named extended ACL, use the </a:t>
            </a:r>
            <a:r>
              <a:rPr b="1" lang="en-US" sz="1600">
                <a:solidFill>
                  <a:srgbClr val="000000"/>
                </a:solidFill>
              </a:rPr>
              <a:t>ip access-list extended </a:t>
            </a:r>
            <a:r>
              <a:rPr lang="en-US" sz="1600">
                <a:solidFill>
                  <a:srgbClr val="000000"/>
                </a:solidFill>
              </a:rPr>
              <a:t>configuration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a named extended ACL called NO-FTP-ACCESS is created and the prompt changed to named extended ACL configuration mode. ACE statements are entered in the named extended ACL sub configuration mode.</a:t>
            </a:r>
            <a:endParaRPr/>
          </a:p>
        </p:txBody>
      </p:sp>
      <p:pic>
        <p:nvPicPr>
          <p:cNvPr id="545" name="Google Shape;545;p43"/>
          <p:cNvPicPr preferRelativeResize="0"/>
          <p:nvPr/>
        </p:nvPicPr>
        <p:blipFill rotWithShape="1">
          <a:blip r:embed="rId3">
            <a:alphaModFix/>
          </a:blip>
          <a:srcRect b="0" l="0" r="0" t="0"/>
          <a:stretch/>
        </p:blipFill>
        <p:spPr>
          <a:xfrm>
            <a:off x="2452686" y="2571750"/>
            <a:ext cx="4238625" cy="276225"/>
          </a:xfrm>
          <a:prstGeom prst="rect">
            <a:avLst/>
          </a:prstGeom>
          <a:noFill/>
          <a:ln>
            <a:noFill/>
          </a:ln>
        </p:spPr>
      </p:pic>
      <p:pic>
        <p:nvPicPr>
          <p:cNvPr id="546" name="Google Shape;546;p43"/>
          <p:cNvPicPr preferRelativeResize="0"/>
          <p:nvPr/>
        </p:nvPicPr>
        <p:blipFill rotWithShape="1">
          <a:blip r:embed="rId4">
            <a:alphaModFix/>
          </a:blip>
          <a:srcRect b="0" l="0" r="0" t="0"/>
          <a:stretch/>
        </p:blipFill>
        <p:spPr>
          <a:xfrm>
            <a:off x="2452686" y="3117960"/>
            <a:ext cx="4238625" cy="4397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a:t>
            </a:r>
            <a:endParaRPr/>
          </a:p>
        </p:txBody>
      </p:sp>
      <p:sp>
        <p:nvSpPr>
          <p:cNvPr id="553" name="Google Shape;553;p44"/>
          <p:cNvSpPr txBox="1"/>
          <p:nvPr>
            <p:ph idx="1" type="body"/>
          </p:nvPr>
        </p:nvSpPr>
        <p:spPr>
          <a:xfrm>
            <a:off x="431971" y="855418"/>
            <a:ext cx="8280057" cy="15094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topology below is used to demonstrate configuring and applying two named extended IPv4 ACLs to an interface:</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SURFING</a:t>
            </a:r>
            <a:r>
              <a:rPr lang="en-US" sz="1400">
                <a:solidFill>
                  <a:srgbClr val="000000"/>
                </a:solidFill>
              </a:rPr>
              <a:t> - This will permit inside HTTP and HTTPS traffic to exit to the internet.</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BROWSING</a:t>
            </a:r>
            <a:r>
              <a:rPr lang="en-US" sz="1400">
                <a:solidFill>
                  <a:srgbClr val="000000"/>
                </a:solidFill>
              </a:rPr>
              <a:t> - This will only permit returning web traffic to the inside hosts while all other traffic exiting the R1 G0/0/0 interface is implicitly denied.</a:t>
            </a:r>
            <a:endParaRPr/>
          </a:p>
        </p:txBody>
      </p:sp>
      <p:pic>
        <p:nvPicPr>
          <p:cNvPr id="554" name="Google Shape;554;p44"/>
          <p:cNvPicPr preferRelativeResize="0"/>
          <p:nvPr/>
        </p:nvPicPr>
        <p:blipFill rotWithShape="1">
          <a:blip r:embed="rId3">
            <a:alphaModFix/>
          </a:blip>
          <a:srcRect b="0" l="0" r="0" t="0"/>
          <a:stretch/>
        </p:blipFill>
        <p:spPr>
          <a:xfrm>
            <a:off x="946359" y="2571750"/>
            <a:ext cx="7251281" cy="19851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 (Cont.)</a:t>
            </a:r>
            <a:endParaRPr/>
          </a:p>
        </p:txBody>
      </p:sp>
      <p:sp>
        <p:nvSpPr>
          <p:cNvPr id="561" name="Google Shape;561;p45"/>
          <p:cNvSpPr txBox="1"/>
          <p:nvPr>
            <p:ph idx="1" type="body"/>
          </p:nvPr>
        </p:nvSpPr>
        <p:spPr>
          <a:xfrm>
            <a:off x="431972" y="855418"/>
            <a:ext cx="2732570" cy="3223523"/>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The SURFING ACL permits HTTP and HTTPS traffic from inside users to exit the G0/0/1 interface connected to the internet. Web traffic returning from the internet is permitted back into the inside private network by the BROWSING ACL.</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SURFING ACL is applied inbound and the BROWSING ACL is applied outbound on the R1 G0/0/0 interface.</a:t>
            </a:r>
            <a:endParaRPr/>
          </a:p>
        </p:txBody>
      </p:sp>
      <p:pic>
        <p:nvPicPr>
          <p:cNvPr id="562" name="Google Shape;562;p45"/>
          <p:cNvPicPr preferRelativeResize="0"/>
          <p:nvPr/>
        </p:nvPicPr>
        <p:blipFill rotWithShape="1">
          <a:blip r:embed="rId3">
            <a:alphaModFix/>
          </a:blip>
          <a:srcRect b="0" l="0" r="0" t="0"/>
          <a:stretch/>
        </p:blipFill>
        <p:spPr>
          <a:xfrm>
            <a:off x="3358978" y="571500"/>
            <a:ext cx="5353050" cy="400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 (Cont.)</a:t>
            </a:r>
            <a:endParaRPr/>
          </a:p>
        </p:txBody>
      </p:sp>
      <p:sp>
        <p:nvSpPr>
          <p:cNvPr id="569" name="Google Shape;569;p46"/>
          <p:cNvSpPr txBox="1"/>
          <p:nvPr>
            <p:ph idx="1" type="body"/>
          </p:nvPr>
        </p:nvSpPr>
        <p:spPr>
          <a:xfrm>
            <a:off x="431971" y="855418"/>
            <a:ext cx="8280057" cy="125716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The show access-lists</a:t>
            </a:r>
            <a:r>
              <a:rPr lang="en-US" sz="1600">
                <a:solidFill>
                  <a:srgbClr val="000000"/>
                </a:solidFill>
              </a:rPr>
              <a:t> command is used to verify the ACL statistics. Notice that the permit secure HTTPS counters (i.e., eq 443) in the SURFING ACL and the return established counters in the BROWSING ACL have increased.</a:t>
            </a:r>
            <a:endParaRPr/>
          </a:p>
        </p:txBody>
      </p:sp>
      <p:pic>
        <p:nvPicPr>
          <p:cNvPr id="570" name="Google Shape;570;p46"/>
          <p:cNvPicPr preferRelativeResize="0"/>
          <p:nvPr/>
        </p:nvPicPr>
        <p:blipFill rotWithShape="1">
          <a:blip r:embed="rId3">
            <a:alphaModFix/>
          </a:blip>
          <a:srcRect b="0" l="0" r="0" t="0"/>
          <a:stretch/>
        </p:blipFill>
        <p:spPr>
          <a:xfrm>
            <a:off x="2419350" y="1881187"/>
            <a:ext cx="4305300" cy="1381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Another Extended IPv4 ACL Example</a:t>
            </a:r>
            <a:endParaRPr/>
          </a:p>
        </p:txBody>
      </p:sp>
      <p:sp>
        <p:nvSpPr>
          <p:cNvPr id="577" name="Google Shape;577;p47"/>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Two named extended ACLs will be created:</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PERMIT-PC1</a:t>
            </a:r>
            <a:r>
              <a:rPr lang="en-US" sz="1400">
                <a:solidFill>
                  <a:srgbClr val="000000"/>
                </a:solidFill>
              </a:rPr>
              <a:t> - This will only permit PC1 TCP access to the internet and deny all other hosts in the private network.</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REPLY-PC1</a:t>
            </a:r>
            <a:r>
              <a:rPr lang="en-US" sz="1400">
                <a:solidFill>
                  <a:srgbClr val="000000"/>
                </a:solidFill>
              </a:rPr>
              <a:t> - This will only permit specified returning TCP traffic to PC1 implicitly deny all other traffic.</a:t>
            </a:r>
            <a:endParaRPr/>
          </a:p>
        </p:txBody>
      </p:sp>
      <p:pic>
        <p:nvPicPr>
          <p:cNvPr id="578" name="Google Shape;578;p47"/>
          <p:cNvPicPr preferRelativeResize="0"/>
          <p:nvPr/>
        </p:nvPicPr>
        <p:blipFill rotWithShape="1">
          <a:blip r:embed="rId3">
            <a:alphaModFix/>
          </a:blip>
          <a:srcRect b="0" l="0" r="0" t="0"/>
          <a:stretch/>
        </p:blipFill>
        <p:spPr>
          <a:xfrm>
            <a:off x="792163" y="2301765"/>
            <a:ext cx="7553325" cy="20193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Another Extended IPv4 ACL Example (Cont.)</a:t>
            </a:r>
            <a:endParaRPr/>
          </a:p>
        </p:txBody>
      </p:sp>
      <p:sp>
        <p:nvSpPr>
          <p:cNvPr id="585" name="Google Shape;585;p48"/>
          <p:cNvSpPr txBox="1"/>
          <p:nvPr>
            <p:ph idx="1" type="body"/>
          </p:nvPr>
        </p:nvSpPr>
        <p:spPr>
          <a:xfrm>
            <a:off x="431972" y="855418"/>
            <a:ext cx="3243558" cy="144634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a:t>
            </a:r>
            <a:r>
              <a:rPr b="1" lang="en-US" sz="1600">
                <a:solidFill>
                  <a:srgbClr val="000000"/>
                </a:solidFill>
              </a:rPr>
              <a:t>PERMIT-PC1</a:t>
            </a:r>
            <a:r>
              <a:rPr lang="en-US" sz="1600">
                <a:solidFill>
                  <a:srgbClr val="000000"/>
                </a:solidFill>
              </a:rPr>
              <a:t> ACL permits PC1 (192.168.10.10) TCP access to the FTP, SSH, Telnet, DNS , HTTP, and HTTPS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REPLY-PC1</a:t>
            </a:r>
            <a:r>
              <a:rPr lang="en-US" sz="1600">
                <a:solidFill>
                  <a:srgbClr val="000000"/>
                </a:solidFill>
              </a:rPr>
              <a:t> ACL will permit return traffic to PC1.</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PERMIT-PC1</a:t>
            </a:r>
            <a:r>
              <a:rPr lang="en-US" sz="1600">
                <a:solidFill>
                  <a:srgbClr val="000000"/>
                </a:solidFill>
              </a:rPr>
              <a:t> ACL is applied inbound and the </a:t>
            </a:r>
            <a:r>
              <a:rPr b="1" lang="en-US" sz="1600">
                <a:solidFill>
                  <a:srgbClr val="000000"/>
                </a:solidFill>
              </a:rPr>
              <a:t>REPLY-PC1</a:t>
            </a:r>
            <a:r>
              <a:rPr lang="en-US" sz="1600">
                <a:solidFill>
                  <a:srgbClr val="000000"/>
                </a:solidFill>
              </a:rPr>
              <a:t> ACL applied outbound on the R1 G0/0/0 interface.</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586" name="Google Shape;586;p48"/>
          <p:cNvPicPr preferRelativeResize="0"/>
          <p:nvPr/>
        </p:nvPicPr>
        <p:blipFill rotWithShape="1">
          <a:blip r:embed="rId3">
            <a:alphaModFix/>
          </a:blip>
          <a:srcRect b="0" l="0" r="0" t="0"/>
          <a:stretch/>
        </p:blipFill>
        <p:spPr>
          <a:xfrm>
            <a:off x="3778078" y="643218"/>
            <a:ext cx="4933950" cy="400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Verify Extended ACLs</a:t>
            </a:r>
            <a:endParaRPr/>
          </a:p>
        </p:txBody>
      </p:sp>
      <p:sp>
        <p:nvSpPr>
          <p:cNvPr id="593" name="Google Shape;593;p49"/>
          <p:cNvSpPr txBox="1"/>
          <p:nvPr>
            <p:ph idx="1" type="body"/>
          </p:nvPr>
        </p:nvSpPr>
        <p:spPr>
          <a:xfrm>
            <a:off x="431971" y="855419"/>
            <a:ext cx="4068311" cy="1036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ip interface</a:t>
            </a:r>
            <a:r>
              <a:rPr lang="en-US" sz="1600">
                <a:solidFill>
                  <a:srgbClr val="000000"/>
                </a:solidFill>
              </a:rPr>
              <a:t> command is used to verify the ACL on the interface and the direction in which it was applied.</a:t>
            </a:r>
            <a:endParaRPr/>
          </a:p>
        </p:txBody>
      </p:sp>
      <p:pic>
        <p:nvPicPr>
          <p:cNvPr id="594" name="Google Shape;594;p49"/>
          <p:cNvPicPr preferRelativeResize="0"/>
          <p:nvPr/>
        </p:nvPicPr>
        <p:blipFill rotWithShape="1">
          <a:blip r:embed="rId3">
            <a:alphaModFix/>
          </a:blip>
          <a:srcRect b="0" l="0" r="0" t="0"/>
          <a:stretch/>
        </p:blipFill>
        <p:spPr>
          <a:xfrm>
            <a:off x="4904325" y="265672"/>
            <a:ext cx="3652667" cy="44116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Verify Extended ACLs (Cont.)</a:t>
            </a:r>
            <a:endParaRPr/>
          </a:p>
        </p:txBody>
      </p:sp>
      <p:sp>
        <p:nvSpPr>
          <p:cNvPr id="601" name="Google Shape;601;p50"/>
          <p:cNvSpPr txBox="1"/>
          <p:nvPr>
            <p:ph idx="1" type="body"/>
          </p:nvPr>
        </p:nvSpPr>
        <p:spPr>
          <a:xfrm>
            <a:off x="431971" y="855419"/>
            <a:ext cx="8280057" cy="1036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access-lists</a:t>
            </a:r>
            <a:r>
              <a:rPr lang="en-US" sz="1600">
                <a:solidFill>
                  <a:srgbClr val="000000"/>
                </a:solidFill>
              </a:rPr>
              <a:t> command can be used to confirm that the ACLs work as expected. The command displays statistic counters that increase whenever an ACE is matched.</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Traffic must be generated to verify the operation of the ACL.</a:t>
            </a:r>
            <a:endParaRPr/>
          </a:p>
        </p:txBody>
      </p:sp>
      <p:pic>
        <p:nvPicPr>
          <p:cNvPr id="602" name="Google Shape;602;p50"/>
          <p:cNvPicPr preferRelativeResize="0"/>
          <p:nvPr/>
        </p:nvPicPr>
        <p:blipFill rotWithShape="1">
          <a:blip r:embed="rId3">
            <a:alphaModFix/>
          </a:blip>
          <a:srcRect b="0" l="0" r="0" t="0"/>
          <a:stretch/>
        </p:blipFill>
        <p:spPr>
          <a:xfrm>
            <a:off x="2747961" y="2094940"/>
            <a:ext cx="3648075" cy="2495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