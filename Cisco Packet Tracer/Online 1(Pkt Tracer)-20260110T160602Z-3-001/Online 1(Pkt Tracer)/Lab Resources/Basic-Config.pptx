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igMNmr+on0o7TO3mERLkH6/IxH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C47AFC-CE5C-4154-BB7C-312DB67798BE}">
  <a:tblStyle styleId="{7BC47AFC-CE5C-4154-BB7C-312DB67798B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8EA"/>
          </a:solidFill>
        </a:fill>
      </a:tcStyle>
    </a:wholeTbl>
    <a:band1H>
      <a:tcTxStyle/>
      <a:tcStyle>
        <a:fill>
          <a:solidFill>
            <a:srgbClr val="CACED3"/>
          </a:solidFill>
        </a:fill>
      </a:tcStyle>
    </a:band1H>
    <a:band2H>
      <a:tcTxStyle/>
    </a:band2H>
    <a:band1V>
      <a:tcTxStyle/>
      <a:tcStyle>
        <a:fill>
          <a:solidFill>
            <a:srgbClr val="CACED3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756EE32-DCF3-4A2B-BCA5-86A0281830E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3"/>
          </a:solidFill>
        </a:fill>
      </a:tcStyle>
    </a:wholeTbl>
    <a:band1H>
      <a:tcTxStyle/>
      <a:tcStyle>
        <a:fill>
          <a:solidFill>
            <a:schemeClr val="accent3"/>
          </a:solidFill>
        </a:fill>
      </a:tcStyle>
    </a:band1H>
    <a:band2H>
      <a:tcTxStyle/>
    </a:band2H>
    <a:band1V>
      <a:tcTxStyle/>
      <a:tcStyle>
        <a:fill>
          <a:solidFill>
            <a:schemeClr val="accent3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3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2.1 – </a:t>
            </a:r>
            <a:r>
              <a:rPr lang="en-US" sz="1200">
                <a:solidFill>
                  <a:srgbClr val="B6DDE7"/>
                </a:solidFill>
                <a:latin typeface="Arial"/>
                <a:ea typeface="Arial"/>
                <a:cs typeface="Arial"/>
                <a:sym typeface="Arial"/>
              </a:rPr>
              <a:t>Cisco IOS Access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2.1.5 – Terminal Emulation Programs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2.1.6 – Check Your Understanding - Cisco IOS Access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/>
          </a:p>
        </p:txBody>
      </p:sp>
      <p:sp>
        <p:nvSpPr>
          <p:cNvPr id="272" name="Google Shape;27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2.2 – IOS </a:t>
            </a:r>
            <a:r>
              <a:rPr lang="en-US" sz="1200">
                <a:solidFill>
                  <a:srgbClr val="B6DDE7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2.2.1 – Primary Command Modes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2.2 – IOS </a:t>
            </a:r>
            <a:r>
              <a:rPr lang="en-US" sz="1200">
                <a:solidFill>
                  <a:srgbClr val="B6DDE7"/>
                </a:solidFill>
                <a:latin typeface="Arial"/>
                <a:ea typeface="Arial"/>
                <a:cs typeface="Arial"/>
                <a:sym typeface="Arial"/>
              </a:rPr>
              <a:t>Navigation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2.2.4 – Navigate Between IOS Modes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2.3 – The Command Structure</a:t>
            </a:r>
            <a:endParaRPr b="0"/>
          </a:p>
        </p:txBody>
      </p:sp>
      <p:sp>
        <p:nvSpPr>
          <p:cNvPr id="300" name="Google Shape;30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2.3 – The Command Structure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2.3.1 – Basic IOS Command 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2.3 – The Command Structure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2.3.5 – Hot Keys and Shortcuts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2.3 – The Command Structure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2.3.5 – Hot Keys and Shortcuts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2.4 – Basic Device Configuration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2.4.1 – Device Names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2.4 – Basic Device Configuration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2.4.3 – Configure Passwords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2.4 – Basic Device Configuration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2.4.3 – Configure Passwords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2.4 – Basic Device Configuration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2.4.4 – Encrypt Passwords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2.4 – Basic Device Configuration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2.4.5 – Banner Messages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2.5 – Save Configurations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7" name="Google Shape;387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2.5 – Save Configurations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2.5.2 – Alter the Running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2.6 – Ports and Addresses</a:t>
            </a:r>
            <a:endParaRPr b="0"/>
          </a:p>
        </p:txBody>
      </p:sp>
      <p:sp>
        <p:nvSpPr>
          <p:cNvPr id="411" name="Google Shape;411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2.6 – Ports and Addresses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2.6.1 – IP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2.6 – Ports and Addresses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2.6.1 – IP Addresses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2.7 – Configure IP Addressing</a:t>
            </a:r>
            <a:endParaRPr b="0"/>
          </a:p>
        </p:txBody>
      </p:sp>
      <p:sp>
        <p:nvSpPr>
          <p:cNvPr id="433" name="Google Shape;433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2.7 – Configure IP Addressing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2.7.1 – Manual IP Address Configuration for End Devices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2.7 – Configure IP Addressing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2.7.2 – Automatic IP Address Configuration for End Devices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2.7.3 – Syntax Checker – Verify Windows PC IP Configuration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Basic Switch and End Device Configuration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2.7 – Configure IP Addressing</a:t>
            </a:r>
            <a:endParaRPr b="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2.7.4 – Switch Virtual Interface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2.7.5 – Syntax Checker – Configure a Switch Virtual interface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10.1 Configure Initial Router Settings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10.1 – Configure Initial Router Settings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10.1.1 – Basic Routing Configuration Steps</a:t>
            </a:r>
            <a:endParaRPr/>
          </a:p>
        </p:txBody>
      </p:sp>
      <p:sp>
        <p:nvSpPr>
          <p:cNvPr id="471" name="Google Shape;47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10.1 – Configure Initial Router Settings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10.1.2 – Basic Routing Configuration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10.1.3 - Syntax Checker – Configure Initial Router Settings</a:t>
            </a:r>
            <a:endParaRPr/>
          </a:p>
        </p:txBody>
      </p:sp>
      <p:sp>
        <p:nvSpPr>
          <p:cNvPr id="484" name="Google Shape;484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10.2.1 – Configure Router Interfaces</a:t>
            </a:r>
            <a:endParaRPr/>
          </a:p>
        </p:txBody>
      </p:sp>
      <p:sp>
        <p:nvSpPr>
          <p:cNvPr id="498" name="Google Shape;498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10.2.2 – Configure Router Interfaces Example</a:t>
            </a:r>
            <a:endParaRPr/>
          </a:p>
        </p:txBody>
      </p:sp>
      <p:sp>
        <p:nvSpPr>
          <p:cNvPr id="508" name="Google Shape;508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10.2.2 – Configure Router Interfaces Example (Cont.)</a:t>
            </a:r>
            <a:endParaRPr/>
          </a:p>
        </p:txBody>
      </p:sp>
      <p:sp>
        <p:nvSpPr>
          <p:cNvPr id="518" name="Google Shape;518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10.2.3 – Verify Interface Configuration</a:t>
            </a:r>
            <a:endParaRPr/>
          </a:p>
        </p:txBody>
      </p:sp>
      <p:sp>
        <p:nvSpPr>
          <p:cNvPr id="528" name="Google Shape;528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10.2.4 – Configuration Verification Commands</a:t>
            </a:r>
            <a:endParaRPr/>
          </a:p>
        </p:txBody>
      </p:sp>
      <p:sp>
        <p:nvSpPr>
          <p:cNvPr id="538" name="Google Shape;538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10.2.4 – Configuration Verification Commands (Cont.)</a:t>
            </a:r>
            <a:endParaRPr/>
          </a:p>
        </p:txBody>
      </p:sp>
      <p:sp>
        <p:nvSpPr>
          <p:cNvPr id="546" name="Google Shape;546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10.2.4 – Configuration Verification Commands (Cont.)</a:t>
            </a:r>
            <a:endParaRPr/>
          </a:p>
        </p:txBody>
      </p:sp>
      <p:sp>
        <p:nvSpPr>
          <p:cNvPr id="555" name="Google Shape;555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– Basic Router Configuration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 – Configure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10.2.4 – Configuration Verification Commands (Cont.)</a:t>
            </a:r>
            <a:endParaRPr/>
          </a:p>
        </p:txBody>
      </p:sp>
      <p:sp>
        <p:nvSpPr>
          <p:cNvPr id="564" name="Google Shape;564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/>
          <p:nvPr>
            <p:ph idx="12" type="sldNum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52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44"/>
          <p:cNvSpPr txBox="1"/>
          <p:nvPr>
            <p:ph idx="1" type="body"/>
          </p:nvPr>
        </p:nvSpPr>
        <p:spPr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>
            <a:lvl1pPr indent="-314325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Noto Sans Symbols"/>
              <a:buChar char="▪"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4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gue" showMasterSp="0">
  <p:cSld name="3_Segue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5"/>
          <p:cNvSpPr txBox="1"/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600"/>
              <a:buFont typeface="Arial"/>
              <a:buNone/>
              <a:defRPr b="0" i="0" sz="4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/>
          <p:nvPr/>
        </p:nvSpPr>
        <p:spPr>
          <a:xfrm>
            <a:off x="8515707" y="4742907"/>
            <a:ext cx="218414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">
                <a:solidFill>
                  <a:srgbClr val="076D8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00">
              <a:solidFill>
                <a:srgbClr val="076D8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5"/>
          <p:cNvSpPr/>
          <p:nvPr/>
        </p:nvSpPr>
        <p:spPr>
          <a:xfrm>
            <a:off x="5867508" y="4741653"/>
            <a:ext cx="2658018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076D8E"/>
                </a:solidFill>
                <a:latin typeface="Arial"/>
                <a:ea typeface="Arial"/>
                <a:cs typeface="Arial"/>
                <a:sym typeface="Arial"/>
              </a:rPr>
              <a:t>© 2016  Cisco and/or its affiliates. All rights reserved.   Cisco Confidential</a:t>
            </a:r>
            <a:endParaRPr/>
          </a:p>
        </p:txBody>
      </p:sp>
      <p:grpSp>
        <p:nvGrpSpPr>
          <p:cNvPr id="37" name="Google Shape;37;p45"/>
          <p:cNvGrpSpPr/>
          <p:nvPr/>
        </p:nvGrpSpPr>
        <p:grpSpPr>
          <a:xfrm>
            <a:off x="508039" y="4715197"/>
            <a:ext cx="340257" cy="180974"/>
            <a:chOff x="310" y="249"/>
            <a:chExt cx="502" cy="267"/>
          </a:xfrm>
        </p:grpSpPr>
        <p:sp>
          <p:nvSpPr>
            <p:cNvPr id="38" name="Google Shape;38;p45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5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5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5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5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5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5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5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5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5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5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5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5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5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_Slide">
  <p:cSld name="Multi_Sli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idx="1" type="body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6"/>
          <p:cNvSpPr txBox="1"/>
          <p:nvPr>
            <p:ph type="title"/>
          </p:nvPr>
        </p:nvSpPr>
        <p:spPr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4C69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-animated gradient" showMasterSp="0">
  <p:cSld name="3_Title Slide-animated gradient">
    <p:bg>
      <p:bgPr>
        <a:solidFill>
          <a:schemeClr val="accent5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7"/>
          <p:cNvSpPr txBox="1"/>
          <p:nvPr>
            <p:ph idx="1" type="subTitle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600"/>
              </a:spcBef>
              <a:spcAft>
                <a:spcPts val="0"/>
              </a:spcAft>
              <a:buClr>
                <a:srgbClr val="98989A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600"/>
              </a:spcBef>
              <a:spcAft>
                <a:spcPts val="0"/>
              </a:spcAft>
              <a:buClr>
                <a:srgbClr val="98989A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300"/>
              </a:spcBef>
              <a:spcAft>
                <a:spcPts val="0"/>
              </a:spcAft>
              <a:buClr>
                <a:srgbClr val="98989A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300"/>
              </a:spcBef>
              <a:spcAft>
                <a:spcPts val="0"/>
              </a:spcAft>
              <a:buClr>
                <a:srgbClr val="98989A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47"/>
          <p:cNvSpPr txBox="1"/>
          <p:nvPr>
            <p:ph idx="2" type="body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7"/>
          <p:cNvSpPr txBox="1"/>
          <p:nvPr>
            <p:ph idx="3" type="body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7"/>
          <p:cNvSpPr txBox="1"/>
          <p:nvPr>
            <p:ph idx="4" type="body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7"/>
          <p:cNvSpPr txBox="1"/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C6F4"/>
              </a:buClr>
              <a:buSzPts val="3600"/>
              <a:buFont typeface="Arial"/>
              <a:buNone/>
              <a:defRPr b="0" i="0" sz="3600">
                <a:solidFill>
                  <a:srgbClr val="38C6F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2" name="Google Shape;62;p47"/>
          <p:cNvGrpSpPr/>
          <p:nvPr/>
        </p:nvGrpSpPr>
        <p:grpSpPr>
          <a:xfrm>
            <a:off x="492125" y="395288"/>
            <a:ext cx="796924" cy="423863"/>
            <a:chOff x="310" y="249"/>
            <a:chExt cx="502" cy="267"/>
          </a:xfrm>
        </p:grpSpPr>
        <p:sp>
          <p:nvSpPr>
            <p:cNvPr id="63" name="Google Shape;63;p47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47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7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47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7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7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7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7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7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7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7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7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7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7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  <p:extLst>
    <p:ext uri="{DCECCB84-F9BA-43D5-87BE-67443E8EF086}">
      <p15:sldGuideLst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-animated gradient" showMasterSp="0">
  <p:cSld name="5_Title Slide-animated gradient">
    <p:bg>
      <p:bgPr>
        <a:solidFill>
          <a:schemeClr val="accent5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8"/>
          <p:cNvSpPr txBox="1"/>
          <p:nvPr>
            <p:ph idx="1" type="subTitle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600"/>
              </a:spcBef>
              <a:spcAft>
                <a:spcPts val="0"/>
              </a:spcAft>
              <a:buClr>
                <a:srgbClr val="98989A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600"/>
              </a:spcBef>
              <a:spcAft>
                <a:spcPts val="0"/>
              </a:spcAft>
              <a:buClr>
                <a:srgbClr val="98989A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300"/>
              </a:spcBef>
              <a:spcAft>
                <a:spcPts val="0"/>
              </a:spcAft>
              <a:buClr>
                <a:srgbClr val="98989A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300"/>
              </a:spcBef>
              <a:spcAft>
                <a:spcPts val="0"/>
              </a:spcAft>
              <a:buClr>
                <a:srgbClr val="98989A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48"/>
          <p:cNvSpPr txBox="1"/>
          <p:nvPr>
            <p:ph idx="2" type="body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8"/>
          <p:cNvSpPr txBox="1"/>
          <p:nvPr>
            <p:ph idx="3" type="body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1" name="Google Shape;81;p48"/>
          <p:cNvGrpSpPr/>
          <p:nvPr/>
        </p:nvGrpSpPr>
        <p:grpSpPr>
          <a:xfrm>
            <a:off x="492125" y="395288"/>
            <a:ext cx="796924" cy="423863"/>
            <a:chOff x="310" y="249"/>
            <a:chExt cx="502" cy="267"/>
          </a:xfrm>
        </p:grpSpPr>
        <p:sp>
          <p:nvSpPr>
            <p:cNvPr id="82" name="Google Shape;82;p48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8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8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8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8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8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8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8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48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8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8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8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8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8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4C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48"/>
          <p:cNvSpPr txBox="1"/>
          <p:nvPr>
            <p:ph idx="4" type="body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48"/>
          <p:cNvSpPr txBox="1"/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0" i="0"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wipe dir="l"/>
  </p:transition>
  <p:extLst>
    <p:ext uri="{DCECCB84-F9BA-43D5-87BE-67443E8EF086}">
      <p15:sldGuideLst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-animated gradient" showMasterSp="0">
  <p:cSld name="6_Title Slide-animated gradient">
    <p:bg>
      <p:bgPr>
        <a:solidFill>
          <a:schemeClr val="accent5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9"/>
          <p:cNvSpPr txBox="1"/>
          <p:nvPr>
            <p:ph idx="1" type="subTitle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98989A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600"/>
              </a:spcBef>
              <a:spcAft>
                <a:spcPts val="0"/>
              </a:spcAft>
              <a:buClr>
                <a:srgbClr val="98989A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600"/>
              </a:spcBef>
              <a:spcAft>
                <a:spcPts val="0"/>
              </a:spcAft>
              <a:buClr>
                <a:srgbClr val="98989A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300"/>
              </a:spcBef>
              <a:spcAft>
                <a:spcPts val="0"/>
              </a:spcAft>
              <a:buClr>
                <a:srgbClr val="98989A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300"/>
              </a:spcBef>
              <a:spcAft>
                <a:spcPts val="0"/>
              </a:spcAft>
              <a:buClr>
                <a:srgbClr val="98989A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898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49"/>
          <p:cNvSpPr txBox="1"/>
          <p:nvPr>
            <p:ph idx="2" type="body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49"/>
          <p:cNvSpPr txBox="1"/>
          <p:nvPr>
            <p:ph idx="3" type="body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080"/>
              <a:buFont typeface="Arial"/>
              <a:buNone/>
              <a:defRPr b="0" i="0" sz="1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3" name="Google Shape;103;p49"/>
          <p:cNvGrpSpPr/>
          <p:nvPr/>
        </p:nvGrpSpPr>
        <p:grpSpPr>
          <a:xfrm>
            <a:off x="492125" y="395288"/>
            <a:ext cx="796924" cy="423863"/>
            <a:chOff x="310" y="249"/>
            <a:chExt cx="502" cy="267"/>
          </a:xfrm>
        </p:grpSpPr>
        <p:sp>
          <p:nvSpPr>
            <p:cNvPr id="104" name="Google Shape;104;p49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9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9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9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9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9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9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9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9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9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9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9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9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9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49"/>
          <p:cNvSpPr txBox="1"/>
          <p:nvPr>
            <p:ph idx="4" type="body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49"/>
          <p:cNvSpPr txBox="1"/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C6F4"/>
              </a:buClr>
              <a:buSzPts val="3600"/>
              <a:buFont typeface="Arial"/>
              <a:buNone/>
              <a:defRPr b="0" i="0" sz="3600">
                <a:solidFill>
                  <a:srgbClr val="38C6F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wipe dir="l"/>
  </p:transition>
  <p:extLst>
    <p:ext uri="{DCECCB84-F9BA-43D5-87BE-67443E8EF086}">
      <p15:sldGuideLst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ircled_Bullets">
  <p:cSld name="2_Circled_Bulle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1"/>
          <p:cNvSpPr txBox="1"/>
          <p:nvPr>
            <p:ph type="title"/>
          </p:nvPr>
        </p:nvSpPr>
        <p:spPr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1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49F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1"/>
          <p:cNvSpPr txBox="1"/>
          <p:nvPr>
            <p:ph idx="1" type="body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51"/>
          <p:cNvSpPr txBox="1"/>
          <p:nvPr>
            <p:ph idx="2" type="body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51"/>
          <p:cNvSpPr txBox="1"/>
          <p:nvPr>
            <p:ph idx="3" type="body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1"/>
          <p:cNvSpPr txBox="1"/>
          <p:nvPr>
            <p:ph idx="4" type="body"/>
          </p:nvPr>
        </p:nvSpPr>
        <p:spPr>
          <a:xfrm>
            <a:off x="575610" y="2552550"/>
            <a:ext cx="698624" cy="69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1"/>
          <p:cNvSpPr txBox="1"/>
          <p:nvPr>
            <p:ph idx="5" type="body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1"/>
          <p:cNvSpPr txBox="1"/>
          <p:nvPr>
            <p:ph idx="6" type="body"/>
          </p:nvPr>
        </p:nvSpPr>
        <p:spPr>
          <a:xfrm>
            <a:off x="575610" y="1427248"/>
            <a:ext cx="698624" cy="693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i="0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ircled_Bullets">
  <p:cSld name="5_Circled_Bullet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2"/>
          <p:cNvSpPr txBox="1"/>
          <p:nvPr>
            <p:ph type="title"/>
          </p:nvPr>
        </p:nvSpPr>
        <p:spPr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2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2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2"/>
          <p:cNvSpPr txBox="1"/>
          <p:nvPr>
            <p:ph idx="1" type="body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52"/>
          <p:cNvSpPr txBox="1"/>
          <p:nvPr>
            <p:ph idx="2" type="body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52"/>
          <p:cNvSpPr txBox="1"/>
          <p:nvPr>
            <p:ph idx="3" type="body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2"/>
          <p:cNvSpPr txBox="1"/>
          <p:nvPr>
            <p:ph idx="4" type="body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2"/>
          <p:cNvSpPr txBox="1"/>
          <p:nvPr>
            <p:ph idx="5" type="body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2"/>
          <p:cNvSpPr txBox="1"/>
          <p:nvPr>
            <p:ph idx="6" type="body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5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2"/>
          <p:cNvSpPr txBox="1"/>
          <p:nvPr>
            <p:ph idx="7" type="body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2"/>
          <p:cNvSpPr txBox="1"/>
          <p:nvPr>
            <p:ph idx="8" type="body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2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2"/>
          <p:cNvSpPr txBox="1"/>
          <p:nvPr>
            <p:ph idx="9" type="body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2"/>
          <p:cNvSpPr txBox="1"/>
          <p:nvPr>
            <p:ph idx="13" type="body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ircled_Bullets">
  <p:cSld name="6_Circled_Bulle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3"/>
          <p:cNvSpPr txBox="1"/>
          <p:nvPr>
            <p:ph type="title"/>
          </p:nvPr>
        </p:nvSpPr>
        <p:spPr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4C69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3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3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3"/>
          <p:cNvSpPr txBox="1"/>
          <p:nvPr>
            <p:ph idx="1" type="body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3"/>
          <p:cNvSpPr txBox="1"/>
          <p:nvPr>
            <p:ph idx="2" type="body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3"/>
          <p:cNvSpPr txBox="1"/>
          <p:nvPr>
            <p:ph idx="3" type="body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3"/>
          <p:cNvSpPr txBox="1"/>
          <p:nvPr>
            <p:ph idx="4" type="body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3"/>
          <p:cNvSpPr txBox="1"/>
          <p:nvPr>
            <p:ph idx="5" type="body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53"/>
          <p:cNvSpPr txBox="1"/>
          <p:nvPr>
            <p:ph idx="6" type="body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53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3"/>
          <p:cNvSpPr txBox="1"/>
          <p:nvPr>
            <p:ph idx="7" type="body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53"/>
          <p:cNvSpPr txBox="1"/>
          <p:nvPr>
            <p:ph idx="8" type="body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84E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3"/>
          <p:cNvSpPr txBox="1"/>
          <p:nvPr>
            <p:ph idx="9" type="body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53"/>
          <p:cNvSpPr txBox="1"/>
          <p:nvPr>
            <p:ph idx="13" type="body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53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3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3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3"/>
          <p:cNvSpPr txBox="1"/>
          <p:nvPr>
            <p:ph idx="14" type="body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53"/>
          <p:cNvSpPr txBox="1"/>
          <p:nvPr>
            <p:ph idx="15" type="body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53"/>
          <p:cNvSpPr txBox="1"/>
          <p:nvPr>
            <p:ph idx="16" type="body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53"/>
          <p:cNvSpPr txBox="1"/>
          <p:nvPr>
            <p:ph idx="17" type="body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53"/>
          <p:cNvSpPr txBox="1"/>
          <p:nvPr>
            <p:ph idx="18" type="body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53"/>
          <p:cNvSpPr txBox="1"/>
          <p:nvPr>
            <p:ph idx="19" type="body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53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3"/>
          <p:cNvSpPr txBox="1"/>
          <p:nvPr>
            <p:ph idx="20" type="body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53"/>
          <p:cNvSpPr txBox="1"/>
          <p:nvPr>
            <p:ph idx="21" type="body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53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rgbClr val="00384E"/>
          </a:solidFill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3"/>
          <p:cNvSpPr txBox="1"/>
          <p:nvPr>
            <p:ph idx="22" type="body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l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004C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53"/>
          <p:cNvSpPr txBox="1"/>
          <p:nvPr>
            <p:ph idx="23" type="body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75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5000"/>
              </a:lnSpc>
              <a:spcBef>
                <a:spcPts val="625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losing Slide" showMasterSp="0">
  <p:cSld name="1_Closing Slide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3999" cy="5165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54"/>
          <p:cNvGrpSpPr/>
          <p:nvPr/>
        </p:nvGrpSpPr>
        <p:grpSpPr>
          <a:xfrm>
            <a:off x="3746294" y="2129856"/>
            <a:ext cx="1617944" cy="860542"/>
            <a:chOff x="310" y="249"/>
            <a:chExt cx="502" cy="267"/>
          </a:xfrm>
        </p:grpSpPr>
        <p:sp>
          <p:nvSpPr>
            <p:cNvPr id="184" name="Google Shape;184;p54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4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54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4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4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4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4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4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4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54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4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4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54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54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showMasterSp="0">
  <p:cSld name="Closing Slide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55"/>
          <p:cNvGrpSpPr/>
          <p:nvPr/>
        </p:nvGrpSpPr>
        <p:grpSpPr>
          <a:xfrm>
            <a:off x="3746294" y="2129856"/>
            <a:ext cx="1617944" cy="860542"/>
            <a:chOff x="310" y="249"/>
            <a:chExt cx="502" cy="267"/>
          </a:xfrm>
        </p:grpSpPr>
        <p:sp>
          <p:nvSpPr>
            <p:cNvPr id="201" name="Google Shape;201;p55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55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55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55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5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5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5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55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55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55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55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5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5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5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losing Slide" showMasterSp="0">
  <p:cSld name="3_Closing Slide">
    <p:bg>
      <p:bgPr>
        <a:solidFill>
          <a:schemeClr val="accent5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56"/>
          <p:cNvGrpSpPr/>
          <p:nvPr/>
        </p:nvGrpSpPr>
        <p:grpSpPr>
          <a:xfrm>
            <a:off x="3746294" y="2129856"/>
            <a:ext cx="1617944" cy="860542"/>
            <a:chOff x="310" y="249"/>
            <a:chExt cx="502" cy="267"/>
          </a:xfrm>
        </p:grpSpPr>
        <p:sp>
          <p:nvSpPr>
            <p:cNvPr id="217" name="Google Shape;217;p56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56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6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56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56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56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6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6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6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6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56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6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6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6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0384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7"/>
          <p:cNvSpPr txBox="1"/>
          <p:nvPr>
            <p:ph type="title"/>
          </p:nvPr>
        </p:nvSpPr>
        <p:spPr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type="title"/>
          </p:nvPr>
        </p:nvSpPr>
        <p:spPr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67676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3"/>
          <p:cNvSpPr/>
          <p:nvPr/>
        </p:nvSpPr>
        <p:spPr>
          <a:xfrm>
            <a:off x="8515707" y="4742907"/>
            <a:ext cx="218414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/>
          <p:nvPr/>
        </p:nvSpPr>
        <p:spPr>
          <a:xfrm>
            <a:off x="5867508" y="4741653"/>
            <a:ext cx="2658018" cy="154518"/>
          </a:xfrm>
          <a:prstGeom prst="rect">
            <a:avLst/>
          </a:prstGeom>
          <a:noFill/>
          <a:ln>
            <a:noFill/>
          </a:ln>
        </p:spPr>
        <p:txBody>
          <a:bodyPr anchorCtr="0" anchor="b" bIns="30775" lIns="61575" spcFirstLastPara="1" rIns="61575" wrap="square" tIns="30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© 2016  Cisco and/or its affiliates. All rights reserved.   Cisco Confidential</a:t>
            </a:r>
            <a:endParaRPr/>
          </a:p>
        </p:txBody>
      </p:sp>
      <p:grpSp>
        <p:nvGrpSpPr>
          <p:cNvPr id="13" name="Google Shape;13;p43"/>
          <p:cNvGrpSpPr/>
          <p:nvPr/>
        </p:nvGrpSpPr>
        <p:grpSpPr>
          <a:xfrm>
            <a:off x="508039" y="4715197"/>
            <a:ext cx="340257" cy="180974"/>
            <a:chOff x="310" y="249"/>
            <a:chExt cx="502" cy="267"/>
          </a:xfrm>
        </p:grpSpPr>
        <p:sp>
          <p:nvSpPr>
            <p:cNvPr id="14" name="Google Shape;14;p43"/>
            <p:cNvSpPr/>
            <p:nvPr/>
          </p:nvSpPr>
          <p:spPr>
            <a:xfrm>
              <a:off x="452" y="426"/>
              <a:ext cx="22" cy="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3"/>
            <p:cNvSpPr/>
            <p:nvPr/>
          </p:nvSpPr>
          <p:spPr>
            <a:xfrm>
              <a:off x="585" y="425"/>
              <a:ext cx="66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3"/>
            <p:cNvSpPr/>
            <p:nvPr/>
          </p:nvSpPr>
          <p:spPr>
            <a:xfrm>
              <a:off x="355" y="425"/>
              <a:ext cx="67" cy="91"/>
            </a:xfrm>
            <a:custGeom>
              <a:rect b="b" l="l" r="r" t="t"/>
              <a:pathLst>
                <a:path extrusionOk="0" h="69" w="51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43"/>
            <p:cNvSpPr/>
            <p:nvPr/>
          </p:nvSpPr>
          <p:spPr>
            <a:xfrm>
              <a:off x="675" y="425"/>
              <a:ext cx="91" cy="91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3"/>
            <p:cNvSpPr/>
            <p:nvPr/>
          </p:nvSpPr>
          <p:spPr>
            <a:xfrm>
              <a:off x="503" y="425"/>
              <a:ext cx="60" cy="91"/>
            </a:xfrm>
            <a:custGeom>
              <a:rect b="b" l="l" r="r" t="t"/>
              <a:pathLst>
                <a:path extrusionOk="0" h="69" w="46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3"/>
            <p:cNvSpPr/>
            <p:nvPr/>
          </p:nvSpPr>
          <p:spPr>
            <a:xfrm>
              <a:off x="31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43"/>
            <p:cNvSpPr/>
            <p:nvPr/>
          </p:nvSpPr>
          <p:spPr>
            <a:xfrm>
              <a:off x="37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3"/>
            <p:cNvSpPr/>
            <p:nvPr/>
          </p:nvSpPr>
          <p:spPr>
            <a:xfrm>
              <a:off x="43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3"/>
            <p:cNvSpPr/>
            <p:nvPr/>
          </p:nvSpPr>
          <p:spPr>
            <a:xfrm>
              <a:off x="49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43"/>
            <p:cNvSpPr/>
            <p:nvPr/>
          </p:nvSpPr>
          <p:spPr>
            <a:xfrm>
              <a:off x="55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43"/>
            <p:cNvSpPr/>
            <p:nvPr/>
          </p:nvSpPr>
          <p:spPr>
            <a:xfrm>
              <a:off x="61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3"/>
            <p:cNvSpPr/>
            <p:nvPr/>
          </p:nvSpPr>
          <p:spPr>
            <a:xfrm>
              <a:off x="670" y="249"/>
              <a:ext cx="22" cy="139"/>
            </a:xfrm>
            <a:custGeom>
              <a:rect b="b" l="l" r="r" t="t"/>
              <a:pathLst>
                <a:path extrusionOk="0" h="106" w="17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3"/>
            <p:cNvSpPr/>
            <p:nvPr/>
          </p:nvSpPr>
          <p:spPr>
            <a:xfrm>
              <a:off x="730" y="291"/>
              <a:ext cx="22" cy="75"/>
            </a:xfrm>
            <a:custGeom>
              <a:rect b="b" l="l" r="r" t="t"/>
              <a:pathLst>
                <a:path extrusionOk="0" h="57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3"/>
            <p:cNvSpPr/>
            <p:nvPr/>
          </p:nvSpPr>
          <p:spPr>
            <a:xfrm>
              <a:off x="790" y="321"/>
              <a:ext cx="22" cy="45"/>
            </a:xfrm>
            <a:custGeom>
              <a:rect b="b" l="l" r="r" t="t"/>
              <a:pathLst>
                <a:path extrusionOk="0" h="34" w="1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3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1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"/>
          <p:cNvSpPr txBox="1"/>
          <p:nvPr>
            <p:ph type="title"/>
          </p:nvPr>
        </p:nvSpPr>
        <p:spPr>
          <a:xfrm>
            <a:off x="693175" y="2290522"/>
            <a:ext cx="6393425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Basic Switch and End Device Configuration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"/>
          <p:cNvSpPr txBox="1"/>
          <p:nvPr>
            <p:ph type="ctrTitle"/>
          </p:nvPr>
        </p:nvSpPr>
        <p:spPr>
          <a:xfrm>
            <a:off x="416425" y="1788160"/>
            <a:ext cx="7598042" cy="929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600"/>
              <a:buFont typeface="Arial"/>
              <a:buNone/>
            </a:pPr>
            <a:r>
              <a:rPr lang="en-US">
                <a:solidFill>
                  <a:srgbClr val="AEE8FA"/>
                </a:solidFill>
              </a:rPr>
              <a:t>   Cisco IOS Access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Cisco IOS Access</a:t>
            </a:r>
            <a:br>
              <a:rPr lang="en-US"/>
            </a:br>
            <a:r>
              <a:rPr lang="en-US"/>
              <a:t>Operating Systems</a:t>
            </a:r>
            <a:endParaRPr/>
          </a:p>
        </p:txBody>
      </p:sp>
      <p:sp>
        <p:nvSpPr>
          <p:cNvPr id="250" name="Google Shape;250;p3"/>
          <p:cNvSpPr txBox="1"/>
          <p:nvPr>
            <p:ph idx="1" type="body"/>
          </p:nvPr>
        </p:nvSpPr>
        <p:spPr>
          <a:xfrm>
            <a:off x="144065" y="888396"/>
            <a:ext cx="3950857" cy="296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1" lang="en-US" sz="1600"/>
              <a:t>Shell</a:t>
            </a:r>
            <a:r>
              <a:rPr lang="en-US" sz="1600"/>
              <a:t> - The user interface that allows users to request specific tasks from the computer. These requests can be made either through the CLI or GUI interfaces.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1" lang="en-US" sz="1600"/>
              <a:t>Kernel</a:t>
            </a:r>
            <a:r>
              <a:rPr lang="en-US" sz="1600"/>
              <a:t> - Communicates between the hardware and software of a computer and manages how hardware resources are used to meet software requirements.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b="1" lang="en-US" sz="1600"/>
              <a:t>Hardware</a:t>
            </a:r>
            <a:r>
              <a:rPr lang="en-US" sz="1600"/>
              <a:t> - The physical part of a computer including underlying electronics.</a:t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251" name="Google Shape;2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6497" y="798944"/>
            <a:ext cx="4673438" cy="2722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Cisco IOS Access</a:t>
            </a:r>
            <a:br>
              <a:rPr lang="en-US"/>
            </a:br>
            <a:r>
              <a:rPr lang="en-US"/>
              <a:t>Access Methods</a:t>
            </a:r>
            <a:endParaRPr/>
          </a:p>
        </p:txBody>
      </p:sp>
      <p:sp>
        <p:nvSpPr>
          <p:cNvPr id="258" name="Google Shape;258;p4"/>
          <p:cNvSpPr txBox="1"/>
          <p:nvPr>
            <p:ph idx="1" type="body"/>
          </p:nvPr>
        </p:nvSpPr>
        <p:spPr>
          <a:xfrm>
            <a:off x="145357" y="823049"/>
            <a:ext cx="3939626" cy="3848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•"/>
            </a:pPr>
            <a:r>
              <a:rPr b="1" lang="en-US"/>
              <a:t>Console</a:t>
            </a:r>
            <a:r>
              <a:rPr lang="en-US"/>
              <a:t> – A physical management port used to access a device in order to provide maintenance, such as performing the initial configurations.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Arial"/>
              <a:buChar char="•"/>
            </a:pPr>
            <a:r>
              <a:rPr b="1" lang="en-US"/>
              <a:t>Secure Shell (SSH) </a:t>
            </a:r>
            <a:r>
              <a:rPr lang="en-US"/>
              <a:t>– Establishes a secure remote CLI connection to a device, through a virtual interface, over a network. (</a:t>
            </a:r>
            <a:r>
              <a:rPr lang="en-US" sz="1400"/>
              <a:t>Note: This is the recommended method for remotely connecting to a device.)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Arial"/>
              <a:buChar char="•"/>
            </a:pPr>
            <a:r>
              <a:rPr b="1" lang="en-US"/>
              <a:t>Telnet</a:t>
            </a:r>
            <a:r>
              <a:rPr lang="en-US"/>
              <a:t> – Establishes an insecure remote CLI connection to a device over the network. </a:t>
            </a:r>
            <a:r>
              <a:rPr lang="en-US" sz="1400"/>
              <a:t>(Note: User authentication, passwords and commands are sent over the network in plaintext.) </a:t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Computer, Utp, Network, Cisco, Color, Jack, Electronics" id="259" name="Google Shape;2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719" y="420168"/>
            <a:ext cx="2255201" cy="1689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5114" y="2455883"/>
            <a:ext cx="4805378" cy="2041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Terminal Emulation Programs</a:t>
            </a:r>
            <a:endParaRPr/>
          </a:p>
        </p:txBody>
      </p:sp>
      <p:sp>
        <p:nvSpPr>
          <p:cNvPr id="267" name="Google Shape;267;p5"/>
          <p:cNvSpPr txBox="1"/>
          <p:nvPr>
            <p:ph idx="1" type="body"/>
          </p:nvPr>
        </p:nvSpPr>
        <p:spPr>
          <a:xfrm>
            <a:off x="145356" y="713931"/>
            <a:ext cx="8710408" cy="1125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Terminal emulation programs are used to connect to a network device by either a console port or by an SSH/Telnet connection. 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There are several terminal emulation programs to chose from such as PuTTY, Tera Term, etc</a:t>
            </a:r>
            <a:endParaRPr/>
          </a:p>
        </p:txBody>
      </p:sp>
      <p:pic>
        <p:nvPicPr>
          <p:cNvPr id="268" name="Google Shape;2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7546" y="1709694"/>
            <a:ext cx="3866027" cy="3809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 txBox="1"/>
          <p:nvPr>
            <p:ph type="ctrTitle"/>
          </p:nvPr>
        </p:nvSpPr>
        <p:spPr>
          <a:xfrm>
            <a:off x="416425" y="1788160"/>
            <a:ext cx="8231464" cy="929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AEE8FA"/>
                </a:solidFill>
              </a:rPr>
              <a:t>IOS Navigation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IOS Navigation</a:t>
            </a:r>
            <a:br>
              <a:rPr lang="en-US"/>
            </a:br>
            <a:r>
              <a:rPr lang="en-US"/>
              <a:t>Primary Command Modes</a:t>
            </a:r>
            <a:endParaRPr/>
          </a:p>
        </p:txBody>
      </p:sp>
      <p:sp>
        <p:nvSpPr>
          <p:cNvPr id="281" name="Google Shape;281;p7"/>
          <p:cNvSpPr txBox="1"/>
          <p:nvPr>
            <p:ph idx="1" type="body"/>
          </p:nvPr>
        </p:nvSpPr>
        <p:spPr>
          <a:xfrm>
            <a:off x="522435" y="798944"/>
            <a:ext cx="3085941" cy="1574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b="1" lang="en-US"/>
              <a:t>User EXEC Mode: 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Allows access to only a limited number of basic monitoring commands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Identified by the CLI prompt that ends with the &gt; symbol</a:t>
            </a:r>
            <a:endParaRPr/>
          </a:p>
          <a:p>
            <a:pPr indent="-127000" lvl="1" marL="3587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522434" y="2575244"/>
            <a:ext cx="3085941" cy="1574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Noto Sans Symbols"/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Privileged EXEC Mode: </a:t>
            </a:r>
            <a:endParaRPr/>
          </a:p>
          <a:p>
            <a:pPr indent="-215900" lvl="1" marL="35877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access to all commands and features</a:t>
            </a:r>
            <a:endParaRPr/>
          </a:p>
          <a:p>
            <a:pPr indent="-215900" lvl="1" marL="358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Identified by the CLI prompt that ends with the # symbol</a:t>
            </a:r>
            <a:endParaRPr/>
          </a:p>
          <a:p>
            <a:pPr indent="-127000" lvl="1" marL="358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4138" lvl="0" marL="169863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Noto Sans Symbols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Noto Sans Symbols"/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7694" y="988595"/>
            <a:ext cx="2121408" cy="694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7948" y="1448758"/>
            <a:ext cx="21209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4994" y="2898392"/>
            <a:ext cx="2133600" cy="6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4994" y="3362546"/>
            <a:ext cx="21336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IOS Navigation</a:t>
            </a:r>
            <a:br>
              <a:rPr lang="en-US" sz="1600"/>
            </a:br>
            <a:r>
              <a:rPr lang="en-US"/>
              <a:t>Navigation Between IOS Modes</a:t>
            </a:r>
            <a:endParaRPr/>
          </a:p>
        </p:txBody>
      </p:sp>
      <p:sp>
        <p:nvSpPr>
          <p:cNvPr id="293" name="Google Shape;293;p8"/>
          <p:cNvSpPr txBox="1"/>
          <p:nvPr>
            <p:ph idx="1" type="body"/>
          </p:nvPr>
        </p:nvSpPr>
        <p:spPr>
          <a:xfrm>
            <a:off x="134337" y="896222"/>
            <a:ext cx="4096002" cy="3675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Noto Sans Symbols"/>
              <a:buChar char="▪"/>
            </a:pPr>
            <a:r>
              <a:rPr b="1" lang="en-US"/>
              <a:t>Privileged EXEC Mode: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To move from user EXEC mode to privilege EXEC mode, use the </a:t>
            </a:r>
            <a:r>
              <a:rPr b="1" lang="en-US"/>
              <a:t>enabled </a:t>
            </a:r>
            <a:r>
              <a:rPr lang="en-US"/>
              <a:t>command.</a:t>
            </a:r>
            <a:endParaRPr b="1"/>
          </a:p>
          <a:p>
            <a:pPr indent="-169863" lvl="0" marL="1698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50"/>
              <a:buFont typeface="Noto Sans Symbols"/>
              <a:buChar char="▪"/>
            </a:pPr>
            <a:r>
              <a:rPr b="1" lang="en-US"/>
              <a:t>Global Configuration Mode: 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To move in and out of global configuration mode, use the </a:t>
            </a:r>
            <a:r>
              <a:rPr b="1" lang="en-US"/>
              <a:t>configure terminal </a:t>
            </a:r>
            <a:r>
              <a:rPr lang="en-US"/>
              <a:t>command. To return to privilege EXEC mode, use the </a:t>
            </a:r>
            <a:r>
              <a:rPr b="1" lang="en-US"/>
              <a:t>exit</a:t>
            </a:r>
            <a:r>
              <a:rPr lang="en-US"/>
              <a:t> command. 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350"/>
              <a:buFont typeface="Noto Sans Symbols"/>
              <a:buChar char="▪"/>
            </a:pPr>
            <a:r>
              <a:rPr b="1" lang="en-US"/>
              <a:t>Line Configuration Mode: 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To move in and out of line configuration mode, use the </a:t>
            </a:r>
            <a:r>
              <a:rPr b="1" lang="en-US"/>
              <a:t>line </a:t>
            </a:r>
            <a:r>
              <a:rPr lang="en-US"/>
              <a:t>command followed by the management line type. To return to global configuration mode, use the </a:t>
            </a:r>
            <a:r>
              <a:rPr b="1" lang="en-US"/>
              <a:t>exit</a:t>
            </a:r>
            <a:r>
              <a:rPr lang="en-US"/>
              <a:t> command. </a:t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294" name="Google Shape;2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4461" y="1019733"/>
            <a:ext cx="29083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2736" y="2120447"/>
            <a:ext cx="2991751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3662" y="3528446"/>
            <a:ext cx="3009900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 txBox="1"/>
          <p:nvPr>
            <p:ph type="ctrTitle"/>
          </p:nvPr>
        </p:nvSpPr>
        <p:spPr>
          <a:xfrm>
            <a:off x="416425" y="1798320"/>
            <a:ext cx="8231464" cy="91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AEE8FA"/>
                </a:solidFill>
              </a:rPr>
              <a:t>The Command Structure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The Command Structure</a:t>
            </a:r>
            <a:br>
              <a:rPr lang="en-US"/>
            </a:br>
            <a:r>
              <a:rPr lang="en-US"/>
              <a:t>Basic IOS Command Structure</a:t>
            </a:r>
            <a:endParaRPr/>
          </a:p>
        </p:txBody>
      </p:sp>
      <p:sp>
        <p:nvSpPr>
          <p:cNvPr id="309" name="Google Shape;309;p10"/>
          <p:cNvSpPr txBox="1"/>
          <p:nvPr>
            <p:ph idx="1" type="body"/>
          </p:nvPr>
        </p:nvSpPr>
        <p:spPr>
          <a:xfrm>
            <a:off x="800099" y="3123949"/>
            <a:ext cx="7543801" cy="1201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•"/>
            </a:pPr>
            <a:r>
              <a:rPr b="1" lang="en-US"/>
              <a:t>Keyword</a:t>
            </a:r>
            <a:r>
              <a:rPr lang="en-US"/>
              <a:t> – </a:t>
            </a:r>
            <a:r>
              <a:rPr lang="en-US" sz="1400"/>
              <a:t>This is a specific parameter defined in the operating system (in the figure, </a:t>
            </a:r>
            <a:r>
              <a:rPr b="1" lang="en-US" sz="1400"/>
              <a:t>ip protocols</a:t>
            </a:r>
            <a:r>
              <a:rPr lang="en-US" sz="1400"/>
              <a:t>).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Arial"/>
              <a:buChar char="•"/>
            </a:pPr>
            <a:r>
              <a:rPr b="1" lang="en-US"/>
              <a:t>Argument</a:t>
            </a:r>
            <a:r>
              <a:rPr lang="en-US"/>
              <a:t> - </a:t>
            </a:r>
            <a:r>
              <a:rPr lang="en-US" sz="1400"/>
              <a:t>This is not predefined; it is a value or variable defined by the user (in the figure, </a:t>
            </a:r>
            <a:r>
              <a:rPr b="1" lang="en-US" sz="1400"/>
              <a:t>192.168.10.5</a:t>
            </a:r>
            <a:r>
              <a:rPr lang="en-US" sz="1400"/>
              <a:t>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310" name="Google Shape;3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150" y="818033"/>
            <a:ext cx="5219700" cy="2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The Command Structure</a:t>
            </a:r>
            <a:br>
              <a:rPr lang="en-US"/>
            </a:br>
            <a:r>
              <a:rPr lang="en-US"/>
              <a:t>Hot Keys and Shortcuts</a:t>
            </a:r>
            <a:endParaRPr/>
          </a:p>
        </p:txBody>
      </p:sp>
      <p:sp>
        <p:nvSpPr>
          <p:cNvPr id="317" name="Google Shape;317;p11"/>
          <p:cNvSpPr txBox="1"/>
          <p:nvPr>
            <p:ph idx="1" type="body"/>
          </p:nvPr>
        </p:nvSpPr>
        <p:spPr>
          <a:xfrm>
            <a:off x="660399" y="852663"/>
            <a:ext cx="8107681" cy="1463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The IOS CLI provides hot keys and shortcuts that make configuring, monitoring, and troubleshooting easier.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Commands and keywords can be shortened to the minimum number of characters that identify a unique selection. For example, the </a:t>
            </a:r>
            <a:r>
              <a:rPr b="1" lang="en-US" sz="1600"/>
              <a:t>configure</a:t>
            </a:r>
            <a:r>
              <a:rPr lang="en-US" sz="1600"/>
              <a:t> command can be shortened to </a:t>
            </a:r>
            <a:r>
              <a:rPr b="1" lang="en-US" sz="1600"/>
              <a:t>conf</a:t>
            </a:r>
            <a:r>
              <a:rPr lang="en-US" sz="1600"/>
              <a:t> because </a:t>
            </a:r>
            <a:r>
              <a:rPr b="1" lang="en-US" sz="1600"/>
              <a:t>configure</a:t>
            </a:r>
            <a:r>
              <a:rPr lang="en-US" sz="1600"/>
              <a:t> is the only command that begins with </a:t>
            </a:r>
            <a:r>
              <a:rPr b="1" lang="en-US" sz="1600"/>
              <a:t>conf</a:t>
            </a:r>
            <a:r>
              <a:rPr lang="en-US" sz="1600"/>
              <a:t>.</a:t>
            </a:r>
            <a:endParaRPr/>
          </a:p>
          <a:p>
            <a:pPr indent="-7842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t/>
            </a:r>
            <a:endParaRPr sz="1600"/>
          </a:p>
          <a:p>
            <a:pPr indent="-84138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318" name="Google Shape;3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1020" y="2571750"/>
            <a:ext cx="27178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7250" y="3401060"/>
            <a:ext cx="4889500" cy="5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Hot Keys and Shortcuts</a:t>
            </a:r>
            <a:endParaRPr/>
          </a:p>
        </p:txBody>
      </p:sp>
      <p:sp>
        <p:nvSpPr>
          <p:cNvPr id="326" name="Google Shape;326;p12"/>
          <p:cNvSpPr txBox="1"/>
          <p:nvPr>
            <p:ph idx="1" type="body"/>
          </p:nvPr>
        </p:nvSpPr>
        <p:spPr>
          <a:xfrm>
            <a:off x="447037" y="852663"/>
            <a:ext cx="4043687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Font typeface="Arial"/>
              <a:buChar char="•"/>
            </a:pPr>
            <a:r>
              <a:rPr lang="en-US" sz="1400"/>
              <a:t>When a command output produces more text than can be displayed in a terminal window, the IOS will display a </a:t>
            </a:r>
            <a:r>
              <a:rPr b="1" lang="en-US" sz="1400"/>
              <a:t>“--More--”</a:t>
            </a:r>
            <a:r>
              <a:rPr lang="en-US" sz="1400"/>
              <a:t> prompt. The table below describes the keystrokes that can be used when this prompt is displayed.</a:t>
            </a:r>
            <a:endParaRPr sz="1400"/>
          </a:p>
        </p:txBody>
      </p:sp>
      <p:sp>
        <p:nvSpPr>
          <p:cNvPr id="327" name="Google Shape;327;p12"/>
          <p:cNvSpPr txBox="1"/>
          <p:nvPr/>
        </p:nvSpPr>
        <p:spPr>
          <a:xfrm>
            <a:off x="4937762" y="1092891"/>
            <a:ext cx="3759201" cy="757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table below lists commands that can be used to exit out of an operation.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8" name="Google Shape;328;p12"/>
          <p:cNvGraphicFramePr/>
          <p:nvPr/>
        </p:nvGraphicFramePr>
        <p:xfrm>
          <a:off x="4571998" y="21630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{7BC47AFC-CE5C-4154-BB7C-312DB67798BE}</a:tableStyleId>
              </a:tblPr>
              <a:tblGrid>
                <a:gridCol w="1319125"/>
                <a:gridCol w="3171600"/>
              </a:tblGrid>
              <a:tr h="2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Keystroke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Description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/>
                        <a:t>Ctrl-C</a:t>
                      </a:r>
                      <a:endParaRPr b="0" sz="1050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/>
                        <a:t>When in any configuration mode, ends the configuration mode and returns to privileged EXEC mode. </a:t>
                      </a:r>
                      <a:endParaRPr/>
                    </a:p>
                  </a:txBody>
                  <a:tcPr marT="47625" marB="47625" marR="47625" marL="47625" anchor="ctr"/>
                </a:tc>
              </a:tr>
              <a:tr h="47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/>
                        <a:t>Ctrl-Z</a:t>
                      </a:r>
                      <a:endParaRPr b="0" sz="1050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/>
                        <a:t>When in any configuration mode, ends the configuration mode and returns to privileged EXEC mode.</a:t>
                      </a:r>
                      <a:endParaRPr/>
                    </a:p>
                  </a:txBody>
                  <a:tcPr marT="47625" marB="47625" marR="47625" marL="47625" anchor="ctr"/>
                </a:tc>
              </a:tr>
              <a:tr h="47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/>
                        <a:t>Ctrl-Shift-6</a:t>
                      </a:r>
                      <a:endParaRPr b="0" sz="1050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/>
                        <a:t>All-purpose break sequence used to abort DNS lookups, traceroutes, pings, etc.</a:t>
                      </a:r>
                      <a:endParaRPr/>
                    </a:p>
                  </a:txBody>
                  <a:tcPr marT="47625" marB="47625" marR="47625" marL="47625" anchor="ctr"/>
                </a:tc>
              </a:tr>
            </a:tbl>
          </a:graphicData>
        </a:graphic>
      </p:graphicFrame>
      <p:graphicFrame>
        <p:nvGraphicFramePr>
          <p:cNvPr id="329" name="Google Shape;329;p12"/>
          <p:cNvGraphicFramePr/>
          <p:nvPr/>
        </p:nvGraphicFramePr>
        <p:xfrm>
          <a:off x="447037" y="21630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{7BC47AFC-CE5C-4154-BB7C-312DB67798BE}</a:tableStyleId>
              </a:tblPr>
              <a:tblGrid>
                <a:gridCol w="1470025"/>
                <a:gridCol w="2391450"/>
              </a:tblGrid>
              <a:tr h="30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Keystroke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Description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5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/>
                        <a:t>Enter</a:t>
                      </a:r>
                      <a:r>
                        <a:rPr b="0" lang="en-US" sz="1050"/>
                        <a:t> Key</a:t>
                      </a:r>
                      <a:endParaRPr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/>
                        <a:t>Displays the next line.</a:t>
                      </a:r>
                      <a:endParaRPr/>
                    </a:p>
                  </a:txBody>
                  <a:tcPr marT="47625" marB="47625" marR="47625" marL="47625" anchor="ctr"/>
                </a:tc>
              </a:tr>
              <a:tr h="52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/>
                        <a:t>Space</a:t>
                      </a:r>
                      <a:r>
                        <a:rPr b="0" lang="en-US" sz="1050"/>
                        <a:t> Bar</a:t>
                      </a:r>
                      <a:endParaRPr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/>
                        <a:t>Displays the next screen.</a:t>
                      </a:r>
                      <a:endParaRPr/>
                    </a:p>
                  </a:txBody>
                  <a:tcPr marT="47625" marB="47625" marR="47625" marL="47625" anchor="ctr"/>
                </a:tc>
              </a:tr>
              <a:tr h="52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/>
                        <a:t>Any other key</a:t>
                      </a:r>
                      <a:endParaRPr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/>
                        <a:t>Ends the display string, returning to privileged EXEC mode.</a:t>
                      </a:r>
                      <a:endParaRPr/>
                    </a:p>
                  </a:txBody>
                  <a:tcPr marT="47625" marB="47625" marR="47625" marL="47625" anchor="ctr"/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 txBox="1"/>
          <p:nvPr>
            <p:ph type="ctrTitle"/>
          </p:nvPr>
        </p:nvSpPr>
        <p:spPr>
          <a:xfrm>
            <a:off x="416425" y="1788160"/>
            <a:ext cx="8280314" cy="929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600"/>
              <a:buFont typeface="Arial"/>
              <a:buNone/>
            </a:pPr>
            <a:r>
              <a:rPr lang="en-US">
                <a:solidFill>
                  <a:srgbClr val="AEE8FA"/>
                </a:solidFill>
              </a:rPr>
              <a:t>   Basic Device Configuration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Basic Device Configuration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Device Names</a:t>
            </a:r>
            <a:endParaRPr/>
          </a:p>
        </p:txBody>
      </p:sp>
      <p:sp>
        <p:nvSpPr>
          <p:cNvPr id="342" name="Google Shape;342;p14"/>
          <p:cNvSpPr txBox="1"/>
          <p:nvPr>
            <p:ph idx="1" type="body"/>
          </p:nvPr>
        </p:nvSpPr>
        <p:spPr>
          <a:xfrm>
            <a:off x="277839" y="855701"/>
            <a:ext cx="7819026" cy="1102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The first configuration command on any device : unique hostname. 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By default, all devices are assigned a factory default name. For example, a Cisco IOS switch is "</a:t>
            </a:r>
            <a:r>
              <a:rPr lang="en-US" sz="1600">
                <a:solidFill>
                  <a:srgbClr val="FF0000"/>
                </a:solidFill>
              </a:rPr>
              <a:t>Switch</a:t>
            </a:r>
            <a:r>
              <a:rPr lang="en-US" sz="1600"/>
              <a:t>.”</a:t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343" name="Google Shape;3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714" y="2180680"/>
            <a:ext cx="3797300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Configure Passwords</a:t>
            </a:r>
            <a:endParaRPr/>
          </a:p>
        </p:txBody>
      </p:sp>
      <p:sp>
        <p:nvSpPr>
          <p:cNvPr id="350" name="Google Shape;350;p15"/>
          <p:cNvSpPr txBox="1"/>
          <p:nvPr>
            <p:ph idx="1" type="body"/>
          </p:nvPr>
        </p:nvSpPr>
        <p:spPr>
          <a:xfrm>
            <a:off x="145356" y="938987"/>
            <a:ext cx="4426644" cy="1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en-US"/>
              <a:t>Securing user EXEC mode access:</a:t>
            </a:r>
            <a:endParaRPr/>
          </a:p>
          <a:p>
            <a:pPr indent="-169863" lvl="2" marL="431800" rtl="0" algn="l">
              <a:lnSpc>
                <a:spcPct val="85000"/>
              </a:lnSpc>
              <a:spcBef>
                <a:spcPts val="102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First enter line console configuration mode using the </a:t>
            </a:r>
            <a:r>
              <a:rPr b="1" lang="en-US" sz="1400"/>
              <a:t>line console 0 </a:t>
            </a:r>
            <a:r>
              <a:rPr lang="en-US" sz="1400"/>
              <a:t>command in global configuration mode.</a:t>
            </a:r>
            <a:endParaRPr/>
          </a:p>
          <a:p>
            <a:pPr indent="-169863" lvl="2" marL="43180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Next, specify the user EXEC mode password using the </a:t>
            </a:r>
            <a:r>
              <a:rPr b="1" lang="en-US" sz="1400"/>
              <a:t>password</a:t>
            </a:r>
            <a:r>
              <a:rPr lang="en-US" sz="1400"/>
              <a:t> </a:t>
            </a:r>
            <a:r>
              <a:rPr i="1" lang="en-US" sz="1400"/>
              <a:t>password</a:t>
            </a:r>
            <a:r>
              <a:rPr lang="en-US" sz="1400"/>
              <a:t> command. </a:t>
            </a:r>
            <a:endParaRPr/>
          </a:p>
          <a:p>
            <a:pPr indent="-169863" lvl="2" marL="431800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-US" sz="1400"/>
              <a:t>Finally, enable user EXEC access using the </a:t>
            </a:r>
            <a:r>
              <a:rPr b="1" lang="en-US" sz="1400"/>
              <a:t>login</a:t>
            </a:r>
            <a:r>
              <a:rPr lang="en-US" sz="1400"/>
              <a:t> command.</a:t>
            </a:r>
            <a:endParaRPr/>
          </a:p>
        </p:txBody>
      </p:sp>
      <p:sp>
        <p:nvSpPr>
          <p:cNvPr id="351" name="Google Shape;351;p15"/>
          <p:cNvSpPr txBox="1"/>
          <p:nvPr/>
        </p:nvSpPr>
        <p:spPr>
          <a:xfrm>
            <a:off x="145356" y="2944203"/>
            <a:ext cx="4426644" cy="1079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Securing privileged EXEC mode access:</a:t>
            </a:r>
            <a:endParaRPr/>
          </a:p>
          <a:p>
            <a:pPr indent="-169863" lvl="2" marL="431800" marR="0" rtl="0" algn="l">
              <a:lnSpc>
                <a:spcPct val="85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First enter global configuration mode.</a:t>
            </a:r>
            <a:endParaRPr/>
          </a:p>
          <a:p>
            <a:pPr indent="-169863" lvl="2" marL="431800" marR="0" rtl="0" algn="l">
              <a:lnSpc>
                <a:spcPct val="85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Next, use the </a:t>
            </a: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 secret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1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command. </a:t>
            </a:r>
            <a:endParaRPr/>
          </a:p>
        </p:txBody>
      </p:sp>
      <p:pic>
        <p:nvPicPr>
          <p:cNvPr id="352" name="Google Shape;3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3" y="1223873"/>
            <a:ext cx="39370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3" y="2944203"/>
            <a:ext cx="3937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Configure Passwords: VTY</a:t>
            </a:r>
            <a:endParaRPr/>
          </a:p>
        </p:txBody>
      </p:sp>
      <p:sp>
        <p:nvSpPr>
          <p:cNvPr id="360" name="Google Shape;360;p16"/>
          <p:cNvSpPr txBox="1"/>
          <p:nvPr>
            <p:ph idx="1" type="body"/>
          </p:nvPr>
        </p:nvSpPr>
        <p:spPr>
          <a:xfrm>
            <a:off x="145356" y="938987"/>
            <a:ext cx="4426644" cy="1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1600"/>
              <a:t>Securing VTY line access:</a:t>
            </a:r>
            <a:endParaRPr/>
          </a:p>
          <a:p>
            <a:pPr indent="-169863" lvl="2" marL="43180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/>
              <a:t>First enter line VTY configuration mode using the </a:t>
            </a:r>
            <a:r>
              <a:rPr b="1" lang="en-US" sz="1600"/>
              <a:t>line vty 0 15 </a:t>
            </a:r>
            <a:r>
              <a:rPr lang="en-US" sz="1600"/>
              <a:t>command in global configuration mode.</a:t>
            </a:r>
            <a:endParaRPr/>
          </a:p>
          <a:p>
            <a:pPr indent="-169863" lvl="2" marL="431800" rtl="0" algn="l">
              <a:lnSpc>
                <a:spcPct val="85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/>
              <a:t>Next, specify the VTY password using the </a:t>
            </a:r>
            <a:r>
              <a:rPr b="1" lang="en-US" sz="1600"/>
              <a:t>password</a:t>
            </a:r>
            <a:r>
              <a:rPr lang="en-US" sz="1600"/>
              <a:t> </a:t>
            </a:r>
            <a:r>
              <a:rPr i="1" lang="en-US" sz="1600"/>
              <a:t>password</a:t>
            </a:r>
            <a:r>
              <a:rPr lang="en-US" sz="1600"/>
              <a:t> command. </a:t>
            </a:r>
            <a:endParaRPr/>
          </a:p>
          <a:p>
            <a:pPr indent="-169863" lvl="2" marL="431800" rtl="0" algn="l">
              <a:lnSpc>
                <a:spcPct val="85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/>
              <a:t>Finally, enable VTY access using the </a:t>
            </a:r>
            <a:r>
              <a:rPr b="1" lang="en-US" sz="1600"/>
              <a:t>login</a:t>
            </a:r>
            <a:r>
              <a:rPr lang="en-US" sz="1600"/>
              <a:t> command.</a:t>
            </a:r>
            <a:endParaRPr/>
          </a:p>
        </p:txBody>
      </p:sp>
      <p:sp>
        <p:nvSpPr>
          <p:cNvPr id="361" name="Google Shape;361;p16"/>
          <p:cNvSpPr txBox="1"/>
          <p:nvPr/>
        </p:nvSpPr>
        <p:spPr>
          <a:xfrm>
            <a:off x="615142" y="3505895"/>
            <a:ext cx="8242329" cy="867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Noto Sans Symbols"/>
              <a:buChar char="▪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VTY lines enable remote access using Telnet or SSH to the device. Many Cisco switches support up to 16 VTY lines that are numbered 0 to 15. </a:t>
            </a:r>
            <a:endParaRPr/>
          </a:p>
        </p:txBody>
      </p:sp>
      <p:pic>
        <p:nvPicPr>
          <p:cNvPr id="362" name="Google Shape;3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8060" y="1325473"/>
            <a:ext cx="3937000" cy="10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Encrypt Passwords</a:t>
            </a:r>
            <a:endParaRPr/>
          </a:p>
        </p:txBody>
      </p:sp>
      <p:sp>
        <p:nvSpPr>
          <p:cNvPr id="369" name="Google Shape;369;p17"/>
          <p:cNvSpPr txBox="1"/>
          <p:nvPr>
            <p:ph idx="1" type="body"/>
          </p:nvPr>
        </p:nvSpPr>
        <p:spPr>
          <a:xfrm>
            <a:off x="145357" y="938988"/>
            <a:ext cx="4572000" cy="1286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▪"/>
            </a:pPr>
            <a:r>
              <a:rPr lang="en-US"/>
              <a:t>The startup-config and running-config files display most passwords in plaintext.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50"/>
              </a:spcBef>
              <a:spcAft>
                <a:spcPts val="0"/>
              </a:spcAft>
              <a:buSzPts val="1350"/>
              <a:buChar char="▪"/>
            </a:pPr>
            <a:r>
              <a:rPr lang="en-US"/>
              <a:t>To encrypt all plaintext passwords, use the </a:t>
            </a:r>
            <a:r>
              <a:rPr b="1" lang="en-US"/>
              <a:t>service password-encryption</a:t>
            </a:r>
            <a:r>
              <a:rPr lang="en-US"/>
              <a:t> global config command.</a:t>
            </a:r>
            <a:endParaRPr/>
          </a:p>
        </p:txBody>
      </p:sp>
      <p:pic>
        <p:nvPicPr>
          <p:cNvPr id="370" name="Google Shape;3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57" y="2649220"/>
            <a:ext cx="4572000" cy="77637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7"/>
          <p:cNvSpPr txBox="1"/>
          <p:nvPr/>
        </p:nvSpPr>
        <p:spPr>
          <a:xfrm>
            <a:off x="4815434" y="938988"/>
            <a:ext cx="4040563" cy="757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Noto Sans Symbols"/>
              <a:buChar char="▪"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running-config 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 to verify that the passwords on the device are now encrypted. </a:t>
            </a:r>
            <a:endParaRPr/>
          </a:p>
        </p:txBody>
      </p:sp>
      <p:pic>
        <p:nvPicPr>
          <p:cNvPr id="372" name="Google Shape;3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515" y="2031878"/>
            <a:ext cx="3200400" cy="201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Banner Messages</a:t>
            </a:r>
            <a:endParaRPr/>
          </a:p>
        </p:txBody>
      </p:sp>
      <p:sp>
        <p:nvSpPr>
          <p:cNvPr id="379" name="Google Shape;379;p18"/>
          <p:cNvSpPr txBox="1"/>
          <p:nvPr>
            <p:ph idx="1" type="body"/>
          </p:nvPr>
        </p:nvSpPr>
        <p:spPr>
          <a:xfrm>
            <a:off x="145357" y="953416"/>
            <a:ext cx="3857686" cy="1656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Char char="▪"/>
            </a:pPr>
            <a:r>
              <a:rPr lang="en-US"/>
              <a:t>A banner message is important </a:t>
            </a:r>
            <a:r>
              <a:rPr lang="en-US">
                <a:solidFill>
                  <a:srgbClr val="FF0000"/>
                </a:solidFill>
              </a:rPr>
              <a:t>to warn unauthorized personnel </a:t>
            </a:r>
            <a:r>
              <a:rPr lang="en-US"/>
              <a:t>from attempting to access the device. 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50"/>
              </a:spcBef>
              <a:spcAft>
                <a:spcPts val="0"/>
              </a:spcAft>
              <a:buSzPts val="1350"/>
              <a:buChar char="▪"/>
            </a:pPr>
            <a:r>
              <a:rPr lang="en-US"/>
              <a:t>To create a banner message of the day on a network device, use the </a:t>
            </a:r>
            <a:r>
              <a:rPr b="1" lang="en-US"/>
              <a:t>banner motd #</a:t>
            </a:r>
            <a:r>
              <a:rPr lang="en-US"/>
              <a:t> </a:t>
            </a:r>
            <a:r>
              <a:rPr i="1" lang="en-US"/>
              <a:t>the message of the day</a:t>
            </a:r>
            <a:r>
              <a:rPr lang="en-US"/>
              <a:t> </a:t>
            </a:r>
            <a:r>
              <a:rPr b="1" lang="en-US"/>
              <a:t>#</a:t>
            </a:r>
            <a:r>
              <a:rPr lang="en-US"/>
              <a:t> global config command. </a:t>
            </a:r>
            <a:endParaRPr/>
          </a:p>
        </p:txBody>
      </p:sp>
      <p:sp>
        <p:nvSpPr>
          <p:cNvPr id="380" name="Google Shape;380;p18"/>
          <p:cNvSpPr txBox="1"/>
          <p:nvPr/>
        </p:nvSpPr>
        <p:spPr>
          <a:xfrm>
            <a:off x="4268947" y="1849911"/>
            <a:ext cx="487505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banner will be displayed on attempts to access the device. </a:t>
            </a:r>
            <a:endParaRPr/>
          </a:p>
        </p:txBody>
      </p:sp>
      <p:pic>
        <p:nvPicPr>
          <p:cNvPr id="381" name="Google Shape;3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3119" y="1155127"/>
            <a:ext cx="4114800" cy="44192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8"/>
          <p:cNvSpPr/>
          <p:nvPr/>
        </p:nvSpPr>
        <p:spPr>
          <a:xfrm>
            <a:off x="6512558" y="2210830"/>
            <a:ext cx="187961" cy="29238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6A4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0958" y="2571750"/>
            <a:ext cx="2743200" cy="1633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 txBox="1"/>
          <p:nvPr>
            <p:ph type="ctrTitle"/>
          </p:nvPr>
        </p:nvSpPr>
        <p:spPr>
          <a:xfrm>
            <a:off x="416425" y="1849120"/>
            <a:ext cx="8280314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600"/>
              <a:buFont typeface="Arial"/>
              <a:buNone/>
            </a:pPr>
            <a:r>
              <a:rPr lang="en-US">
                <a:solidFill>
                  <a:srgbClr val="AEE8FA"/>
                </a:solidFill>
              </a:rPr>
              <a:t>Save Configurations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Save Configurations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Configuration Files</a:t>
            </a:r>
            <a:endParaRPr/>
          </a:p>
        </p:txBody>
      </p:sp>
      <p:sp>
        <p:nvSpPr>
          <p:cNvPr id="396" name="Google Shape;396;p20"/>
          <p:cNvSpPr txBox="1"/>
          <p:nvPr>
            <p:ph idx="1" type="body"/>
          </p:nvPr>
        </p:nvSpPr>
        <p:spPr>
          <a:xfrm>
            <a:off x="145357" y="938988"/>
            <a:ext cx="8853286" cy="1844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Noto Sans Symbols"/>
              <a:buChar char="▪"/>
            </a:pPr>
            <a:r>
              <a:rPr lang="en-US"/>
              <a:t>There are two system files that store the device configuration:</a:t>
            </a:r>
            <a:endParaRPr/>
          </a:p>
          <a:p>
            <a:pPr indent="-169863" lvl="2" marL="431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b="1" lang="en-US"/>
              <a:t>startup-config</a:t>
            </a:r>
            <a:r>
              <a:rPr lang="en-US"/>
              <a:t> - This is the saved configuration file that is stored in</a:t>
            </a:r>
            <a:r>
              <a:rPr lang="en-US">
                <a:solidFill>
                  <a:srgbClr val="FF0000"/>
                </a:solidFill>
              </a:rPr>
              <a:t> NVRAM</a:t>
            </a:r>
            <a:r>
              <a:rPr lang="en-US"/>
              <a:t>. It contains all the commands that will be used by the device upon startup or reboot. Flash does not lose its contents when the device is powered off. </a:t>
            </a:r>
            <a:endParaRPr/>
          </a:p>
          <a:p>
            <a:pPr indent="-169863" lvl="2" marL="431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b="1" lang="en-US"/>
              <a:t>running-config</a:t>
            </a:r>
            <a:r>
              <a:rPr lang="en-US"/>
              <a:t> - This is stored in Random Access Memory (</a:t>
            </a:r>
            <a:r>
              <a:rPr lang="en-US">
                <a:solidFill>
                  <a:srgbClr val="FF0000"/>
                </a:solidFill>
              </a:rPr>
              <a:t>RAM</a:t>
            </a:r>
            <a:r>
              <a:rPr lang="en-US"/>
              <a:t>). It reflects the current configuration. Modifying a running configuration affects the operation of a Cisco device immediately. RAM is volatile memory. It loses all of its content when the device is powered off or restarted.</a:t>
            </a:r>
            <a:endParaRPr/>
          </a:p>
          <a:p>
            <a:pPr indent="-169863" lvl="2" marL="431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-US"/>
              <a:t>To save changes made to the running configuration to the startup configuration file, use: </a:t>
            </a:r>
            <a:endParaRPr/>
          </a:p>
          <a:p>
            <a:pPr indent="-169863" lvl="2" marL="4318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b="1" lang="en-US"/>
              <a:t>copy running-config startup-config</a:t>
            </a:r>
            <a:r>
              <a:rPr lang="en-US"/>
              <a:t> </a:t>
            </a:r>
            <a:endParaRPr/>
          </a:p>
        </p:txBody>
      </p:sp>
      <p:pic>
        <p:nvPicPr>
          <p:cNvPr id="397" name="Google Shape;3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49" y="2923884"/>
            <a:ext cx="37973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5351" y="2923884"/>
            <a:ext cx="3797300" cy="15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Save Configurations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Alter the Running Configurations</a:t>
            </a:r>
            <a:endParaRPr/>
          </a:p>
        </p:txBody>
      </p:sp>
      <p:sp>
        <p:nvSpPr>
          <p:cNvPr id="405" name="Google Shape;405;p21"/>
          <p:cNvSpPr txBox="1"/>
          <p:nvPr>
            <p:ph idx="1" type="body"/>
          </p:nvPr>
        </p:nvSpPr>
        <p:spPr>
          <a:xfrm>
            <a:off x="155517" y="798944"/>
            <a:ext cx="4411993" cy="3693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en-US"/>
              <a:t>If changes made to the running config do not have the desired effect and the running-config has not yet been saved, you can restore the device to its previous configuration. To do this you can: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10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Remove the changed commands individually.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Reload the device using the </a:t>
            </a:r>
            <a:r>
              <a:rPr b="1" lang="en-US"/>
              <a:t>reload</a:t>
            </a:r>
            <a:r>
              <a:rPr lang="en-US"/>
              <a:t> command in privilege EXEC mode. </a:t>
            </a:r>
            <a:r>
              <a:rPr i="1" lang="en-US"/>
              <a:t>Note: This will cause the device to briefly go offline, leading to network downtime. 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rPr lang="en-US"/>
              <a:t>If the undesired changes were saved to the startup-config, it may be necessary to clear all the configurations using the </a:t>
            </a:r>
            <a:r>
              <a:rPr b="1" lang="en-US"/>
              <a:t>erase startup-config </a:t>
            </a:r>
            <a:r>
              <a:rPr lang="en-US"/>
              <a:t>command in privilege EXEC mode. 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10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After erasing the startup-config, reload the device to clear the running-config file from RAM. </a:t>
            </a:r>
            <a:endParaRPr/>
          </a:p>
        </p:txBody>
      </p:sp>
      <p:pic>
        <p:nvPicPr>
          <p:cNvPr id="406" name="Google Shape;4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492" y="1279716"/>
            <a:ext cx="4403011" cy="578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7510" y="3220977"/>
            <a:ext cx="4411993" cy="642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"/>
          <p:cNvSpPr txBox="1"/>
          <p:nvPr>
            <p:ph type="ctrTitle"/>
          </p:nvPr>
        </p:nvSpPr>
        <p:spPr>
          <a:xfrm>
            <a:off x="416425" y="1798320"/>
            <a:ext cx="8280314" cy="919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600"/>
              <a:buFont typeface="Arial"/>
              <a:buNone/>
            </a:pPr>
            <a:r>
              <a:rPr lang="en-US">
                <a:solidFill>
                  <a:srgbClr val="AEE8FA"/>
                </a:solidFill>
              </a:rPr>
              <a:t>Ports and Addresses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Ports and Addresses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IP Addresses</a:t>
            </a:r>
            <a:endParaRPr/>
          </a:p>
        </p:txBody>
      </p:sp>
      <p:sp>
        <p:nvSpPr>
          <p:cNvPr id="420" name="Google Shape;420;p23"/>
          <p:cNvSpPr txBox="1"/>
          <p:nvPr>
            <p:ph idx="1" type="body"/>
          </p:nvPr>
        </p:nvSpPr>
        <p:spPr>
          <a:xfrm>
            <a:off x="145357" y="878028"/>
            <a:ext cx="4966970" cy="3470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The use of IP addresses is the primary means of enabling devices to locate one another and establish end-to-end communication on the internet. 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The structure of an IPv4 address is called dotted decimal notation and is represented by four decimal numbers between 0 and 255.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An IPv4 subnet mask is a 32-bit value that differentiates the network portion of the address from the host portion. Coupled with the IPv4 address, the subnet mask determines to which subnet the device is a member.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The default gateway address is the IP address of the router that the host will use to access remote networks, including the internet.</a:t>
            </a:r>
            <a:endParaRPr/>
          </a:p>
        </p:txBody>
      </p:sp>
      <p:pic>
        <p:nvPicPr>
          <p:cNvPr id="421" name="Google Shape;4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1789" y="798944"/>
            <a:ext cx="2805347" cy="3185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IPv6 Addresses</a:t>
            </a:r>
            <a:endParaRPr/>
          </a:p>
        </p:txBody>
      </p:sp>
      <p:sp>
        <p:nvSpPr>
          <p:cNvPr id="428" name="Google Shape;428;p24"/>
          <p:cNvSpPr txBox="1"/>
          <p:nvPr>
            <p:ph idx="1" type="body"/>
          </p:nvPr>
        </p:nvSpPr>
        <p:spPr>
          <a:xfrm>
            <a:off x="145357" y="878028"/>
            <a:ext cx="4426643" cy="248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IPv6 addresses are 128 bits in length and written as a string of hexadecimal values. Every four bits is represented by a single hexadecimal digit; for a total of 32 hexadecimal values. Groups of four hexadecimal digits are separated by a colon “:”. 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IPv6 addresses are not case-sensitive and can be written in either lowercase or uppercase.</a:t>
            </a:r>
            <a:endParaRPr/>
          </a:p>
        </p:txBody>
      </p:sp>
      <p:pic>
        <p:nvPicPr>
          <p:cNvPr id="429" name="Google Shape;4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8730" y="798944"/>
            <a:ext cx="3562384" cy="2992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5"/>
          <p:cNvSpPr txBox="1"/>
          <p:nvPr>
            <p:ph type="ctrTitle"/>
          </p:nvPr>
        </p:nvSpPr>
        <p:spPr>
          <a:xfrm>
            <a:off x="416425" y="1828800"/>
            <a:ext cx="8280314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600"/>
              <a:buFont typeface="Arial"/>
              <a:buNone/>
            </a:pPr>
            <a:r>
              <a:rPr lang="en-US">
                <a:solidFill>
                  <a:srgbClr val="AEE8FA"/>
                </a:solidFill>
              </a:rPr>
              <a:t>Configure IP Addressing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6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Configure IP Addressing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Manual IP Address Configuration for End Devices</a:t>
            </a:r>
            <a:endParaRPr/>
          </a:p>
        </p:txBody>
      </p:sp>
      <p:sp>
        <p:nvSpPr>
          <p:cNvPr id="442" name="Google Shape;442;p26"/>
          <p:cNvSpPr txBox="1"/>
          <p:nvPr>
            <p:ph idx="1" type="body"/>
          </p:nvPr>
        </p:nvSpPr>
        <p:spPr>
          <a:xfrm>
            <a:off x="145357" y="938988"/>
            <a:ext cx="5066723" cy="3511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•"/>
            </a:pPr>
            <a:r>
              <a:rPr lang="en-US"/>
              <a:t>End devices on the network need an IP address in order to communicate with other devices on the network. 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50"/>
              </a:spcBef>
              <a:spcAft>
                <a:spcPts val="0"/>
              </a:spcAft>
              <a:buSzPts val="1350"/>
              <a:buFont typeface="Arial"/>
              <a:buChar char="•"/>
            </a:pPr>
            <a:r>
              <a:rPr lang="en-US"/>
              <a:t>IPv4 address information can be entered into end devices manually, or automatically using Dynamic Host Configuration Protocol (DHCP).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10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To manually configure an IPv4 address on a Windows PC, open the </a:t>
            </a:r>
            <a:r>
              <a:rPr b="1" lang="en-US"/>
              <a:t>Control Panel &gt; Network Sharing Center &gt; Change adapter settings</a:t>
            </a:r>
            <a:r>
              <a:rPr lang="en-US"/>
              <a:t> and choose the adapter. Next right-click and select </a:t>
            </a:r>
            <a:r>
              <a:rPr b="1" lang="en-US"/>
              <a:t>Properties</a:t>
            </a:r>
            <a:r>
              <a:rPr lang="en-US"/>
              <a:t> to display the </a:t>
            </a:r>
            <a:r>
              <a:rPr b="1" lang="en-US"/>
              <a:t>Local Area Connection Properties</a:t>
            </a:r>
            <a:r>
              <a:rPr lang="en-US"/>
              <a:t>.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Next, click </a:t>
            </a:r>
            <a:r>
              <a:rPr b="1" lang="en-US"/>
              <a:t>Properties</a:t>
            </a:r>
            <a:r>
              <a:rPr lang="en-US"/>
              <a:t> to open the </a:t>
            </a:r>
            <a:r>
              <a:rPr b="1" lang="en-US"/>
              <a:t>Internet Protocol Version 4 (TCP/IPv4) Properties</a:t>
            </a:r>
            <a:r>
              <a:rPr lang="en-US"/>
              <a:t> window. Then configure the IPv4 address and subnet mask information, and default gateway.</a:t>
            </a:r>
            <a:endParaRPr/>
          </a:p>
          <a:p>
            <a:pPr indent="-84138" lvl="0" marL="169863" rtl="0" algn="l">
              <a:lnSpc>
                <a:spcPct val="85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5521613" y="3949232"/>
            <a:ext cx="31604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IPv6 addressing and configuration options are similar to IPv4.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190" y="938988"/>
            <a:ext cx="2527300" cy="28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7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Configure IP Addressing 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Automatic IP Address Configuration for End Devices</a:t>
            </a:r>
            <a:endParaRPr/>
          </a:p>
        </p:txBody>
      </p:sp>
      <p:sp>
        <p:nvSpPr>
          <p:cNvPr id="451" name="Google Shape;451;p27"/>
          <p:cNvSpPr txBox="1"/>
          <p:nvPr>
            <p:ph idx="1" type="body"/>
          </p:nvPr>
        </p:nvSpPr>
        <p:spPr>
          <a:xfrm>
            <a:off x="145357" y="938988"/>
            <a:ext cx="4142163" cy="3663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DHCP enables automatic IPv4 address configuration for every end device that is DHCP-enabled.</a:t>
            </a:r>
            <a:endParaRPr/>
          </a:p>
          <a:p>
            <a:pPr indent="-169863" lvl="0" marL="169863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End devices are typically by default using DHCP for automatic IPv4 address configuration.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10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To configure DHCP on a Windows PC, open the </a:t>
            </a:r>
            <a:r>
              <a:rPr b="1" lang="en-US"/>
              <a:t>Control Panel &gt; Network Sharing Center &gt; Change adapter settings</a:t>
            </a:r>
            <a:r>
              <a:rPr lang="en-US"/>
              <a:t> and choose the adapter. Next right-click and select </a:t>
            </a:r>
            <a:r>
              <a:rPr b="1" lang="en-US"/>
              <a:t>Properties</a:t>
            </a:r>
            <a:r>
              <a:rPr lang="en-US"/>
              <a:t> to display the </a:t>
            </a:r>
            <a:r>
              <a:rPr b="1" lang="en-US"/>
              <a:t>Local Area Connection Properties</a:t>
            </a:r>
            <a:r>
              <a:rPr lang="en-US"/>
              <a:t>.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Next, click </a:t>
            </a:r>
            <a:r>
              <a:rPr b="1" lang="en-US"/>
              <a:t>Properties</a:t>
            </a:r>
            <a:r>
              <a:rPr lang="en-US"/>
              <a:t> to open the </a:t>
            </a:r>
            <a:r>
              <a:rPr b="1" lang="en-US"/>
              <a:t>Internet Protocol Version 4 (TCP/IPv4) Properties</a:t>
            </a:r>
            <a:r>
              <a:rPr lang="en-US"/>
              <a:t> window, then select </a:t>
            </a:r>
            <a:r>
              <a:rPr b="1" lang="en-US"/>
              <a:t>Obtain an IP address automatically</a:t>
            </a:r>
            <a:r>
              <a:rPr lang="en-US"/>
              <a:t> and </a:t>
            </a:r>
            <a:r>
              <a:rPr b="1" lang="en-US"/>
              <a:t>Obtain DNS server address automatically</a:t>
            </a:r>
            <a:r>
              <a:rPr lang="en-US"/>
              <a:t>.</a:t>
            </a:r>
            <a:endParaRPr/>
          </a:p>
          <a:p>
            <a:pPr indent="-84138" lvl="0" marL="169863" rtl="0" algn="l">
              <a:lnSpc>
                <a:spcPct val="85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/>
          <p:nvPr/>
        </p:nvSpPr>
        <p:spPr>
          <a:xfrm>
            <a:off x="4856480" y="3961932"/>
            <a:ext cx="41421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IPv6 uses DHCPv6 and SLAAC (Stateless Address Autoconfiguration) for dynamic address allocation.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9440" y="938988"/>
            <a:ext cx="2540000" cy="288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8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Switch Virtual Interface Configuration</a:t>
            </a:r>
            <a:endParaRPr/>
          </a:p>
        </p:txBody>
      </p:sp>
      <p:sp>
        <p:nvSpPr>
          <p:cNvPr id="460" name="Google Shape;460;p28"/>
          <p:cNvSpPr txBox="1"/>
          <p:nvPr>
            <p:ph idx="1" type="body"/>
          </p:nvPr>
        </p:nvSpPr>
        <p:spPr>
          <a:xfrm>
            <a:off x="661958" y="982574"/>
            <a:ext cx="7820083" cy="1763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lang="en-US"/>
              <a:t>To access the switch remotely, an IP address and a subnet mask must be configured on the SVI. 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1050"/>
              </a:spcBef>
              <a:spcAft>
                <a:spcPts val="0"/>
              </a:spcAft>
              <a:buSzPts val="1350"/>
              <a:buNone/>
            </a:pPr>
            <a:r>
              <a:rPr lang="en-US"/>
              <a:t>To configure an </a:t>
            </a:r>
            <a:r>
              <a:rPr lang="en-US">
                <a:solidFill>
                  <a:srgbClr val="FF0000"/>
                </a:solidFill>
              </a:rPr>
              <a:t>SVI</a:t>
            </a:r>
            <a:r>
              <a:rPr lang="en-US"/>
              <a:t> on a switch: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10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Enter the </a:t>
            </a:r>
            <a:r>
              <a:rPr b="1" lang="en-US"/>
              <a:t>interface vlan 1 </a:t>
            </a:r>
            <a:r>
              <a:rPr lang="en-US"/>
              <a:t>command in global configuration mode.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Next assign an IPv4 address using the </a:t>
            </a:r>
            <a:r>
              <a:rPr b="1" lang="en-US"/>
              <a:t>ip address</a:t>
            </a:r>
            <a:r>
              <a:rPr lang="en-US"/>
              <a:t> </a:t>
            </a:r>
            <a:r>
              <a:rPr i="1" lang="en-US"/>
              <a:t>ip-address subnet-mask command.</a:t>
            </a:r>
            <a:endParaRPr/>
          </a:p>
          <a:p>
            <a:pPr indent="-215900" lvl="1" marL="358775" rtl="0" algn="l">
              <a:lnSpc>
                <a:spcPct val="85000"/>
              </a:lnSpc>
              <a:spcBef>
                <a:spcPts val="720"/>
              </a:spcBef>
              <a:spcAft>
                <a:spcPts val="0"/>
              </a:spcAft>
              <a:buSzPts val="1400"/>
              <a:buChar char="•"/>
            </a:pPr>
            <a:r>
              <a:rPr lang="en-US"/>
              <a:t>Finally, enable the virtual interface using the </a:t>
            </a:r>
            <a:r>
              <a:rPr b="1" lang="en-US"/>
              <a:t>no shutdown </a:t>
            </a:r>
            <a:r>
              <a:rPr lang="en-US"/>
              <a:t>command. </a:t>
            </a:r>
            <a:endParaRPr/>
          </a:p>
          <a:p>
            <a:pPr indent="-84138" lvl="0" marL="169863" rtl="0" algn="l">
              <a:lnSpc>
                <a:spcPct val="85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  <p:pic>
        <p:nvPicPr>
          <p:cNvPr id="461" name="Google Shape;4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5799" y="3203284"/>
            <a:ext cx="52324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"/>
          <p:cNvSpPr txBox="1"/>
          <p:nvPr>
            <p:ph type="ctrTitle"/>
          </p:nvPr>
        </p:nvSpPr>
        <p:spPr>
          <a:xfrm>
            <a:off x="416425" y="1788160"/>
            <a:ext cx="7598042" cy="929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600"/>
              <a:buFont typeface="Arial"/>
              <a:buNone/>
            </a:pPr>
            <a:r>
              <a:rPr lang="en-US">
                <a:solidFill>
                  <a:srgbClr val="AEE8FA"/>
                </a:solidFill>
              </a:rPr>
              <a:t>Configure Router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0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Initial Router Settings</a:t>
            </a:r>
            <a:br>
              <a:rPr lang="en-US"/>
            </a:br>
            <a:r>
              <a:rPr lang="en-US" sz="2400"/>
              <a:t>Basic Router Configuration Steps</a:t>
            </a:r>
            <a:endParaRPr/>
          </a:p>
        </p:txBody>
      </p:sp>
      <p:sp>
        <p:nvSpPr>
          <p:cNvPr id="474" name="Google Shape;474;p30"/>
          <p:cNvSpPr txBox="1"/>
          <p:nvPr>
            <p:ph idx="1" type="body"/>
          </p:nvPr>
        </p:nvSpPr>
        <p:spPr>
          <a:xfrm>
            <a:off x="419367" y="855419"/>
            <a:ext cx="3265419" cy="3517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</a:rPr>
              <a:t>Configure the device name.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</a:rPr>
              <a:t>Secure privileged EXEC mode.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</a:rPr>
              <a:t>Secure user EXEC mode.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</a:rPr>
              <a:t>Secure remote Telnet / SSH access.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</a:rPr>
              <a:t>Encrypt all plaintext passwords.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</a:rPr>
              <a:t>Provide legal notification and save the configuration.</a:t>
            </a:r>
            <a:endParaRPr/>
          </a:p>
        </p:txBody>
      </p:sp>
      <p:sp>
        <p:nvSpPr>
          <p:cNvPr id="475" name="Google Shape;475;p30"/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hostname </a:t>
            </a:r>
            <a:r>
              <a:rPr i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hostname</a:t>
            </a:r>
            <a:endParaRPr/>
          </a:p>
        </p:txBody>
      </p:sp>
      <p:sp>
        <p:nvSpPr>
          <p:cNvPr id="476" name="Google Shape;476;p30"/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enable secret </a:t>
            </a:r>
            <a:r>
              <a:rPr i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endParaRPr/>
          </a:p>
        </p:txBody>
      </p:sp>
      <p:sp>
        <p:nvSpPr>
          <p:cNvPr id="477" name="Google Shape;477;p30"/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line console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Router(config-line)# password </a:t>
            </a:r>
            <a:r>
              <a:rPr i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Router(config-line)# login</a:t>
            </a:r>
            <a:endParaRPr i="1" sz="1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8" name="Google Shape;478;p30"/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line vty 0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Router(config-line)# password </a:t>
            </a:r>
            <a:r>
              <a:rPr i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Router(config-line)# login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Router(config-line)# transport input {ssh | telnet}</a:t>
            </a:r>
            <a:endParaRPr i="1" sz="1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9" name="Google Shape;479;p30"/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service password encryption</a:t>
            </a:r>
            <a:endParaRPr/>
          </a:p>
        </p:txBody>
      </p:sp>
      <p:sp>
        <p:nvSpPr>
          <p:cNvPr id="480" name="Google Shape;480;p30"/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banner motd </a:t>
            </a:r>
            <a:r>
              <a:rPr b="1" i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message 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end</a:t>
            </a:r>
            <a:endParaRPr i="1" sz="1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Router# copy running-config startup-config</a:t>
            </a:r>
            <a:endParaRPr i="1" sz="1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Initial Router Settings</a:t>
            </a:r>
            <a:br>
              <a:rPr lang="en-US"/>
            </a:br>
            <a:r>
              <a:rPr lang="en-US" sz="2400"/>
              <a:t>Basic Router Configuration Example</a:t>
            </a:r>
            <a:endParaRPr/>
          </a:p>
        </p:txBody>
      </p:sp>
      <p:sp>
        <p:nvSpPr>
          <p:cNvPr id="487" name="Google Shape;487;p31"/>
          <p:cNvSpPr txBox="1"/>
          <p:nvPr>
            <p:ph idx="1" type="body"/>
          </p:nvPr>
        </p:nvSpPr>
        <p:spPr>
          <a:xfrm>
            <a:off x="281246" y="855419"/>
            <a:ext cx="3135194" cy="61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</a:rPr>
              <a:t>Commands for basic router configuration on R1.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</a:rPr>
              <a:t>Configuration is saved to NVRAM.</a:t>
            </a:r>
            <a:endParaRPr/>
          </a:p>
        </p:txBody>
      </p:sp>
      <p:sp>
        <p:nvSpPr>
          <p:cNvPr id="488" name="Google Shape;488;p31"/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hostname R1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enable secret class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line console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R1(config-line)#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password cisco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R1(config-line)#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config-line)#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line vty 0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R1(config-line)#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password cisco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R1(config-line)#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R1(config-line)#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transport input ssh telnet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R1(config-line)#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service password encryption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banner motd 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TEXT message. End with a new line and the 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***********************************************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WARNING: Unauthorized access is prohibited!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**********************************************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</a:t>
            </a:r>
            <a:r>
              <a:rPr b="1" lang="en-US" sz="1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copy running-config startup-config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"/>
          <p:cNvSpPr txBox="1"/>
          <p:nvPr>
            <p:ph type="ctrTitle"/>
          </p:nvPr>
        </p:nvSpPr>
        <p:spPr>
          <a:xfrm>
            <a:off x="416425" y="1788160"/>
            <a:ext cx="7848344" cy="929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E8FA"/>
              </a:buClr>
              <a:buSzPts val="4600"/>
              <a:buFont typeface="Arial"/>
              <a:buNone/>
            </a:pPr>
            <a:r>
              <a:rPr lang="en-US">
                <a:solidFill>
                  <a:srgbClr val="AEE8FA"/>
                </a:solidFill>
              </a:rPr>
              <a:t>Configure Interfaces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3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Configure Router Interfaces</a:t>
            </a:r>
            <a:endParaRPr/>
          </a:p>
        </p:txBody>
      </p:sp>
      <p:sp>
        <p:nvSpPr>
          <p:cNvPr id="501" name="Google Shape;501;p33"/>
          <p:cNvSpPr txBox="1"/>
          <p:nvPr>
            <p:ph idx="1" type="body"/>
          </p:nvPr>
        </p:nvSpPr>
        <p:spPr>
          <a:xfrm>
            <a:off x="299258" y="806335"/>
            <a:ext cx="8455461" cy="590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0000"/>
                </a:solidFill>
              </a:rPr>
              <a:t>Configuring a router interface includes issuing the following commands:</a:t>
            </a:r>
            <a:endParaRPr/>
          </a:p>
        </p:txBody>
      </p:sp>
      <p:sp>
        <p:nvSpPr>
          <p:cNvPr id="502" name="Google Shape;502;p33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3"/>
          <p:cNvSpPr/>
          <p:nvPr/>
        </p:nvSpPr>
        <p:spPr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type-and-number</a:t>
            </a:r>
            <a:b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Router(config-if)#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description-text</a:t>
            </a:r>
            <a:b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Router(config-if)#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 address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ipv4-address subnet-mask</a:t>
            </a:r>
            <a:b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Router(config-if)#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ipv6 address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1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ipv6-address/prefix-length</a:t>
            </a:r>
            <a:b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Router(config-if)#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 shutdown</a:t>
            </a:r>
            <a:r>
              <a:rPr b="0" i="0" lang="en-US" sz="9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2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4" name="Google Shape;504;p33"/>
          <p:cNvSpPr txBox="1"/>
          <p:nvPr/>
        </p:nvSpPr>
        <p:spPr>
          <a:xfrm>
            <a:off x="474661" y="2932333"/>
            <a:ext cx="8280057" cy="1175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a good practice to use the </a:t>
            </a:r>
            <a:r>
              <a:rPr b="1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b="0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command to add information about the network connected to the interface.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b="0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shutdown </a:t>
            </a:r>
            <a:r>
              <a:rPr b="0"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 activates the interface.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4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Configure Router Interfaces Example</a:t>
            </a:r>
            <a:endParaRPr/>
          </a:p>
        </p:txBody>
      </p:sp>
      <p:sp>
        <p:nvSpPr>
          <p:cNvPr id="511" name="Google Shape;511;p34"/>
          <p:cNvSpPr txBox="1"/>
          <p:nvPr>
            <p:ph idx="1" type="body"/>
          </p:nvPr>
        </p:nvSpPr>
        <p:spPr>
          <a:xfrm>
            <a:off x="474662" y="844062"/>
            <a:ext cx="7870825" cy="409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0000"/>
                </a:solidFill>
              </a:rPr>
              <a:t>The commands to configure interface G0/0/0 on R1 are shown here:</a:t>
            </a:r>
            <a:endParaRPr/>
          </a:p>
        </p:txBody>
      </p:sp>
      <p:sp>
        <p:nvSpPr>
          <p:cNvPr id="512" name="Google Shape;512;p34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0307" y="1338851"/>
            <a:ext cx="4998966" cy="1505949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4"/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gigabitEthernet 0/0/0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Link to LAN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 address 192.168.10.1 255.255.255.0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ipv6 address 2001:db8:acad:10::1/64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 shutdown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*Aug  1 01:43:53.435: %LINK-3-UPDOWN: Interface GigabitEthernet0/0/0, changed state to down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*Aug  1 01:43:56.447: %LINK-3-UPDOWN: Interface GigabitEthernet0/0/0, changed state to 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*Aug  1 01:43:57.447: %LINEPROTO-5-UPDOWN: Line protocol on Interface GigabitEthernet0/0/0, changed state to up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Configure Router Interfaces Example (Cont.)</a:t>
            </a:r>
            <a:endParaRPr/>
          </a:p>
        </p:txBody>
      </p:sp>
      <p:sp>
        <p:nvSpPr>
          <p:cNvPr id="521" name="Google Shape;521;p35"/>
          <p:cNvSpPr txBox="1"/>
          <p:nvPr>
            <p:ph idx="1" type="body"/>
          </p:nvPr>
        </p:nvSpPr>
        <p:spPr>
          <a:xfrm>
            <a:off x="474662" y="844062"/>
            <a:ext cx="7870825" cy="409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0000"/>
                </a:solidFill>
              </a:rPr>
              <a:t>The commands to configure interface G0/0/1 on R1 are shown here:</a:t>
            </a:r>
            <a:endParaRPr/>
          </a:p>
        </p:txBody>
      </p:sp>
      <p:sp>
        <p:nvSpPr>
          <p:cNvPr id="522" name="Google Shape;522;p35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0307" y="1338851"/>
            <a:ext cx="4998966" cy="150594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5"/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gigabitEthernet 0/0/1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 Link to R2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 address 209.165.200.225 255.255.255.252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ipv6 address 2001:db8:feed:224::1/64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no shutdown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*Aug  1 01:46:29.170: %LINK-3-UPDOWN: Interface GigabitEthernet0/0/1, changed state to down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*Aug  1 01:46:32.171: %LINK-3-UPDOWN: Interface GigabitEthernet0/0/1, changed state to 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*Aug  1 01:46:33.171: %LINEPROTO-5-UPDOWN: Line protocol on Interface GigabitEthernet0/0/1, changed state to up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6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Verify Interface Configuration</a:t>
            </a:r>
            <a:endParaRPr/>
          </a:p>
        </p:txBody>
      </p:sp>
      <p:sp>
        <p:nvSpPr>
          <p:cNvPr id="531" name="Google Shape;531;p36"/>
          <p:cNvSpPr txBox="1"/>
          <p:nvPr>
            <p:ph idx="1" type="body"/>
          </p:nvPr>
        </p:nvSpPr>
        <p:spPr>
          <a:xfrm>
            <a:off x="474662" y="844062"/>
            <a:ext cx="7870825" cy="884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0000"/>
                </a:solidFill>
              </a:rPr>
              <a:t>To verify interface configuration use the </a:t>
            </a:r>
            <a:r>
              <a:rPr b="1" lang="en-US">
                <a:solidFill>
                  <a:srgbClr val="000000"/>
                </a:solidFill>
              </a:rPr>
              <a:t>show ip interface brief </a:t>
            </a:r>
            <a:r>
              <a:rPr lang="en-US">
                <a:solidFill>
                  <a:srgbClr val="000000"/>
                </a:solidFill>
              </a:rPr>
              <a:t>and </a:t>
            </a:r>
            <a:r>
              <a:rPr b="1" lang="en-US">
                <a:solidFill>
                  <a:srgbClr val="000000"/>
                </a:solidFill>
              </a:rPr>
              <a:t>show ipv6 interface brief </a:t>
            </a:r>
            <a:r>
              <a:rPr lang="en-US">
                <a:solidFill>
                  <a:srgbClr val="000000"/>
                </a:solidFill>
              </a:rPr>
              <a:t>commands shown here:</a:t>
            </a:r>
            <a:endParaRPr/>
          </a:p>
        </p:txBody>
      </p:sp>
      <p:sp>
        <p:nvSpPr>
          <p:cNvPr id="532" name="Google Shape;532;p36"/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show ip interface brief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             IP-Address      OK? Method Status                Protocol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GigabitEthernet0/0/0   192.168.10.1    YES manual up                    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GigabitEthernet0/0/1   209.165.200.225 YES manual up                    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Vlan1                  unassigned      YES unset  administratively down down </a:t>
            </a:r>
            <a:endParaRPr/>
          </a:p>
        </p:txBody>
      </p:sp>
      <p:sp>
        <p:nvSpPr>
          <p:cNvPr id="534" name="Google Shape;534;p36"/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show ipv6 interface brief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GigabitEthernet0/0/0       [up/up]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FE80::201:C9FF:FE89:4501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2001:DB8:ACAD:10::1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GigabitEthernet0/0/1       [up/up]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FE80::201:C9FF:FE89:4502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2001:DB8:FEED:224::1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Vlan1                      [administratively down/down]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unassigned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7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Configure Verification Commands</a:t>
            </a:r>
            <a:endParaRPr/>
          </a:p>
        </p:txBody>
      </p:sp>
      <p:sp>
        <p:nvSpPr>
          <p:cNvPr id="541" name="Google Shape;541;p37"/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table summarizes show commands used to verify interface configuration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aphicFrame>
        <p:nvGraphicFramePr>
          <p:cNvPr id="542" name="Google Shape;542;p37"/>
          <p:cNvGraphicFramePr/>
          <p:nvPr/>
        </p:nvGraphicFramePr>
        <p:xfrm>
          <a:off x="675861" y="14194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{7BC47AFC-CE5C-4154-BB7C-312DB67798BE}</a:tableStyleId>
              </a:tblPr>
              <a:tblGrid>
                <a:gridCol w="3056225"/>
                <a:gridCol w="4837500"/>
              </a:tblGrid>
              <a:tr h="45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Commands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Description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 interface brief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ipv6 interface brief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Displays all interfaces, their IP addresses, and their current status.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0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 route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ipv6 route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Displays the contents of the IP routing tables stored in RAM.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interfaces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Displays statistics for all interfaces on the device. Only displays the IPv4 addressing information.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 interfaces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Displays the IPv4 statistics for all interfaces on a router.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5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 ipv6 interfaces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Displays the IPv6 statistics for all interfaces on a router.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8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Configure Verification Commands (Cont.)</a:t>
            </a:r>
            <a:endParaRPr/>
          </a:p>
        </p:txBody>
      </p:sp>
      <p:sp>
        <p:nvSpPr>
          <p:cNvPr id="549" name="Google Shape;549;p38"/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 status of all interfaces with the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ip interface brief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ipv6 interface brief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commands, shown here:</a:t>
            </a:r>
            <a:endParaRPr/>
          </a:p>
        </p:txBody>
      </p:sp>
      <p:sp>
        <p:nvSpPr>
          <p:cNvPr id="550" name="Google Shape;550;p38"/>
          <p:cNvSpPr txBox="1"/>
          <p:nvPr/>
        </p:nvSpPr>
        <p:spPr>
          <a:xfrm>
            <a:off x="1721391" y="1785521"/>
            <a:ext cx="5701218" cy="9233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show ip interface brief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Interface              IP-Address      OK? Method Status                Protocol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GigabitEthernet0/0/0   192.168.10.1    YES manual up                    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GigabitEthernet0/0/1   209.165.200.225 YES manual up                    up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Vlan1                  unassigned      YES unset  administratively down down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</a:t>
            </a:r>
            <a:endParaRPr/>
          </a:p>
        </p:txBody>
      </p:sp>
      <p:sp>
        <p:nvSpPr>
          <p:cNvPr id="551" name="Google Shape;551;p38"/>
          <p:cNvSpPr txBox="1"/>
          <p:nvPr/>
        </p:nvSpPr>
        <p:spPr>
          <a:xfrm>
            <a:off x="1721391" y="2929108"/>
            <a:ext cx="5701218" cy="14773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show ipv6 interface brief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GigabitEthernet0/0/0       [up/up]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FE80::201:C9FF:FE89:4501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2001:DB8:ACAD:10::1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GigabitEthernet0/0/1       [up/up]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FE80::201:C9FF:FE89:4502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2001:DB8:FEED:224::1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Vlan1                      [administratively down/down]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unassigned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9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Configure Verification Commands (Cont.)</a:t>
            </a:r>
            <a:endParaRPr/>
          </a:p>
        </p:txBody>
      </p:sp>
      <p:sp>
        <p:nvSpPr>
          <p:cNvPr id="558" name="Google Shape;558;p39"/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the contents of the IP routing tables with the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ip route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ipv6 route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commands as shown here:</a:t>
            </a:r>
            <a:endParaRPr/>
          </a:p>
        </p:txBody>
      </p:sp>
      <p:sp>
        <p:nvSpPr>
          <p:cNvPr id="559" name="Google Shape;559;p39"/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</a:t>
            </a:r>
            <a:r>
              <a:rPr b="1"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show ip route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 output omitted&gt;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Gateway of last resort is not 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192.168.10.0/24 is variably subnetted, 2 subnets, 2 masks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        192.168.10.0/24 is directly connected, GigabitEthernet0/0/0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        192.168.10.1/32 is directly connected, GigabitEthernet0/0/0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209.165.200.0/24 is variably subnetted, 2 subnets, 2 masks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        209.165.200.224/30 is directly connected, GigabitEthernet0/0/1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        209.165.200.225/32 is directly connected, GigabitEthernet0/0/1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</a:t>
            </a:r>
            <a:endParaRPr/>
          </a:p>
        </p:txBody>
      </p:sp>
      <p:sp>
        <p:nvSpPr>
          <p:cNvPr id="560" name="Google Shape;560;p39"/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show ipv6 route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&lt;output omitted&gt;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   2001:DB8:ACAD:10::/64 [0/0]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via GigabitEthernet0/0/0, directly connected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   2001:DB8:ACAD:10::1/128 [0/0]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via GigabitEthernet0/0/0, receive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   2001:DB8:FEED:224::/64 [0/0]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via GigabitEthernet0/0/1, directly connected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   2001:DB8:FEED:224::1/128 [0/0]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via GigabitEthernet0/0/1, receive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   FF00::/8 [0/0]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via Null0, receive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0"/>
          <p:cNvSpPr txBox="1"/>
          <p:nvPr>
            <p:ph type="title"/>
          </p:nvPr>
        </p:nvSpPr>
        <p:spPr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Configure Interfaces</a:t>
            </a:r>
            <a:br>
              <a:rPr lang="en-US"/>
            </a:br>
            <a:r>
              <a:rPr lang="en-US" sz="2400"/>
              <a:t>Configure Verification Commands (Cont.)</a:t>
            </a:r>
            <a:endParaRPr/>
          </a:p>
        </p:txBody>
      </p:sp>
      <p:sp>
        <p:nvSpPr>
          <p:cNvPr id="567" name="Google Shape;567;p40"/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IPv4 statistics for router interfaces with the </a:t>
            </a:r>
            <a:r>
              <a:rPr b="1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ip interface 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command, as shown here:</a:t>
            </a:r>
            <a:endParaRPr/>
          </a:p>
        </p:txBody>
      </p:sp>
      <p:sp>
        <p:nvSpPr>
          <p:cNvPr id="568" name="Google Shape;568;p40"/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 </a:t>
            </a:r>
            <a:r>
              <a:rPr b="1"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show ip interface g0/0/0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GigabitEthernet0/0/0 is up, line protocol is 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Internet address is 192.168.10.1/24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Broadcast address is 255.255.255.255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Address determined by setup command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MTU is 1500 bytes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Helper address is not 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Directed broadcast forwarding is disabled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Outgoing Common access list is not set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Outgoing access list is not 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Inbound Common access list is not set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Inbound  access list is not 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Proxy ARP is enabled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Local Proxy ARP is disabled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Security level is default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Split horizon is enabled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ICMP redirects are always 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ICMP unreachables are always 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ICMP mask replies are never sent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IP fast switching is enabled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IP Flow switching is disabled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&lt;output omitted&gt;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R1#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1"/>
          <p:cNvSpPr txBox="1"/>
          <p:nvPr>
            <p:ph type="title"/>
          </p:nvPr>
        </p:nvSpPr>
        <p:spPr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Topics Learned</a:t>
            </a:r>
            <a:endParaRPr/>
          </a:p>
        </p:txBody>
      </p:sp>
      <p:sp>
        <p:nvSpPr>
          <p:cNvPr id="575" name="Google Shape;575;p41"/>
          <p:cNvSpPr txBox="1"/>
          <p:nvPr>
            <p:ph idx="1" type="body"/>
          </p:nvPr>
        </p:nvSpPr>
        <p:spPr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182875" wrap="square" tIns="45700">
            <a:noAutofit/>
          </a:bodyPr>
          <a:lstStyle/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The tasks that should be completed when configuring initial settings on a router.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Configure the device name.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Secure privileged EXEC mode.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Secure user EXEC mode.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Secure remote Telnet / SSH access.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Secure all passwords in the config file.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Provide legal notification.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Save the configuration.</a:t>
            </a:r>
            <a:endParaRPr/>
          </a:p>
          <a:p>
            <a:pPr indent="-169863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•"/>
            </a:pPr>
            <a:r>
              <a:rPr lang="en-US" sz="1600"/>
              <a:t>For routers to be reachable, the router interfaces must be configured.</a:t>
            </a:r>
            <a:endParaRPr/>
          </a:p>
          <a:p>
            <a:pPr indent="-215900" lvl="1" marL="358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/>
              <a:t>Using the </a:t>
            </a:r>
            <a:r>
              <a:rPr b="1" lang="en-US" sz="1600"/>
              <a:t>no shutdown</a:t>
            </a:r>
            <a:r>
              <a:rPr lang="en-US" sz="1600"/>
              <a:t> command activates the interface. The interface must also be connected to another device, such as a switch or a router, for the physical layer to be active. There are several commands that can be used to verify interface configuration including the </a:t>
            </a:r>
            <a:r>
              <a:rPr b="1" lang="en-US" sz="1600"/>
              <a:t>show ip interface brief</a:t>
            </a:r>
            <a:r>
              <a:rPr lang="en-US" sz="1600"/>
              <a:t> and </a:t>
            </a:r>
            <a:r>
              <a:rPr b="1" lang="en-US" sz="1600"/>
              <a:t>show ipv6 interface brief</a:t>
            </a:r>
            <a:r>
              <a:rPr lang="en-US" sz="1600"/>
              <a:t>, the </a:t>
            </a:r>
            <a:r>
              <a:rPr b="1" lang="en-US" sz="1600"/>
              <a:t>show ip route</a:t>
            </a:r>
            <a:r>
              <a:rPr lang="en-US" sz="1600"/>
              <a:t> and </a:t>
            </a:r>
            <a:r>
              <a:rPr b="1" lang="en-US" sz="1600"/>
              <a:t>show ipv6 route</a:t>
            </a:r>
            <a:r>
              <a:rPr lang="en-US" sz="1600"/>
              <a:t>, as well as </a:t>
            </a:r>
            <a:r>
              <a:rPr b="1" lang="en-US" sz="1600"/>
              <a:t>show interfaces</a:t>
            </a:r>
            <a:r>
              <a:rPr lang="en-US" sz="1600"/>
              <a:t>, </a:t>
            </a:r>
            <a:r>
              <a:rPr b="1" lang="en-US" sz="1600"/>
              <a:t>show ip interface</a:t>
            </a:r>
            <a:r>
              <a:rPr lang="en-US" sz="1600"/>
              <a:t> and </a:t>
            </a:r>
            <a:r>
              <a:rPr b="1" lang="en-US" sz="1600"/>
              <a:t>show ipv6 interface.</a:t>
            </a:r>
            <a:endParaRPr/>
          </a:p>
          <a:p>
            <a:pPr indent="-84138" lvl="0" marL="1698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2"/>
          <p:cNvSpPr txBox="1"/>
          <p:nvPr>
            <p:ph type="title"/>
          </p:nvPr>
        </p:nvSpPr>
        <p:spPr>
          <a:xfrm>
            <a:off x="1" y="41394"/>
            <a:ext cx="9144000" cy="60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New Terms and Commands</a:t>
            </a:r>
            <a:endParaRPr/>
          </a:p>
        </p:txBody>
      </p:sp>
      <p:graphicFrame>
        <p:nvGraphicFramePr>
          <p:cNvPr id="582" name="Google Shape;582;p42"/>
          <p:cNvGraphicFramePr/>
          <p:nvPr/>
        </p:nvGraphicFramePr>
        <p:xfrm>
          <a:off x="144463" y="7985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{D756EE32-DCF3-4A2B-BCA5-86A0281830EB}</a:tableStyleId>
              </a:tblPr>
              <a:tblGrid>
                <a:gridCol w="8853475"/>
              </a:tblGrid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show ip interface brief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show ip route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show ipv6 route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show interfaces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show ip interface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show ipv6 interface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1" lang="en-US" sz="1400">
                          <a:solidFill>
                            <a:srgbClr val="000000"/>
                          </a:solidFill>
                        </a:rPr>
                        <a:t>ip default-gateway</a:t>
                      </a:r>
                      <a:endParaRPr/>
                    </a:p>
                    <a:p>
                      <a:pPr indent="-1968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>
                        <a:solidFill>
                          <a:srgbClr val="000000"/>
                        </a:solidFill>
                      </a:endParaRPr>
                    </a:p>
                    <a:p>
                      <a:pPr indent="-1968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4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2019-10-18T06:21:22Z</dcterms:created>
  <dc:creator>Stephanie Harvey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