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Gilda Display" charset="1" panose="02000000000000000000"/>
      <p:regular r:id="rId28"/>
    </p:embeddedFont>
    <p:embeddedFont>
      <p:font typeface="HK Grotesk" charset="1" panose="00000500000000000000"/>
      <p:regular r:id="rId29"/>
    </p:embeddedFont>
    <p:embeddedFont>
      <p:font typeface="HK Grotesk Bold" charset="1" panose="00000800000000000000"/>
      <p:regular r:id="rId30"/>
    </p:embeddedFont>
    <p:embeddedFont>
      <p:font typeface="HK Grotesk Bold Italics" charset="1" panose="00000800000000000000"/>
      <p:regular r:id="rId31"/>
    </p:embeddedFont>
    <p:embeddedFont>
      <p:font typeface="Poppins Bold" charset="1" panose="00000800000000000000"/>
      <p:regular r:id="rId32"/>
    </p:embeddedFont>
    <p:embeddedFont>
      <p:font typeface="Glacial Indifference Bold" charset="1" panose="00000800000000000000"/>
      <p:regular r:id="rId33"/>
    </p:embeddedFont>
    <p:embeddedFont>
      <p:font typeface="Glacial Indifference" charset="1" panose="00000000000000000000"/>
      <p:regular r:id="rId34"/>
    </p:embeddedFont>
    <p:embeddedFont>
      <p:font typeface="Open Sans 1 Bold" charset="1" panose="00000000000000000000"/>
      <p:regular r:id="rId35"/>
    </p:embeddedFont>
    <p:embeddedFont>
      <p:font typeface="Open Sans 1" charset="1" panose="00000000000000000000"/>
      <p:regular r:id="rId36"/>
    </p:embeddedFont>
    <p:embeddedFont>
      <p:font typeface="Open Sans 2" charset="1" panose="020B0606030504020204"/>
      <p:regular r:id="rId37"/>
    </p:embeddedFont>
    <p:embeddedFont>
      <p:font typeface="Open Sans 2 Bold" charset="1" panose="020B08060305040202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697" y="793573"/>
            <a:ext cx="16458607" cy="8699854"/>
            <a:chOff x="0" y="0"/>
            <a:chExt cx="8277467" cy="43753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77467" cy="4375386"/>
            </a:xfrm>
            <a:custGeom>
              <a:avLst/>
              <a:gdLst/>
              <a:ahLst/>
              <a:cxnLst/>
              <a:rect r="r" b="b" t="t" l="l"/>
              <a:pathLst>
                <a:path h="4375386" w="8277467">
                  <a:moveTo>
                    <a:pt x="0" y="0"/>
                  </a:moveTo>
                  <a:lnTo>
                    <a:pt x="0" y="4375386"/>
                  </a:lnTo>
                  <a:lnTo>
                    <a:pt x="8277467" y="4375386"/>
                  </a:lnTo>
                  <a:lnTo>
                    <a:pt x="8277467" y="0"/>
                  </a:lnTo>
                  <a:lnTo>
                    <a:pt x="0" y="0"/>
                  </a:lnTo>
                  <a:close/>
                  <a:moveTo>
                    <a:pt x="8216507" y="4314426"/>
                  </a:moveTo>
                  <a:lnTo>
                    <a:pt x="59690" y="4314426"/>
                  </a:lnTo>
                  <a:lnTo>
                    <a:pt x="59690" y="59690"/>
                  </a:lnTo>
                  <a:lnTo>
                    <a:pt x="8216507" y="59690"/>
                  </a:lnTo>
                  <a:lnTo>
                    <a:pt x="8216507" y="4314426"/>
                  </a:lnTo>
                  <a:close/>
                </a:path>
              </a:pathLst>
            </a:custGeom>
            <a:solidFill>
              <a:srgbClr val="E4E6EB"/>
            </a:solidFill>
          </p:spPr>
        </p:sp>
      </p:grpSp>
      <p:sp>
        <p:nvSpPr>
          <p:cNvPr name="AutoShape 4" id="4"/>
          <p:cNvSpPr/>
          <p:nvPr/>
        </p:nvSpPr>
        <p:spPr>
          <a:xfrm rot="0">
            <a:off x="1320464" y="1213786"/>
            <a:ext cx="15647072" cy="7641502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5" id="5"/>
          <p:cNvGrpSpPr/>
          <p:nvPr/>
        </p:nvGrpSpPr>
        <p:grpSpPr>
          <a:xfrm rot="-5400000">
            <a:off x="10532590" y="2233300"/>
            <a:ext cx="5602474" cy="5602474"/>
            <a:chOff x="0" y="0"/>
            <a:chExt cx="6350000" cy="63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A1A2E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762313" y="2463033"/>
            <a:ext cx="5080014" cy="5079994"/>
            <a:chOff x="0" y="0"/>
            <a:chExt cx="6350000" cy="63499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49975"/>
            </a:xfrm>
            <a:custGeom>
              <a:avLst/>
              <a:gdLst/>
              <a:ahLst/>
              <a:cxnLst/>
              <a:rect r="r" b="b" t="t" l="l"/>
              <a:pathLst>
                <a:path h="6349975" w="6350000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-25046" t="0" r="-2504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288409" y="2946150"/>
            <a:ext cx="8282312" cy="4718402"/>
            <a:chOff x="0" y="0"/>
            <a:chExt cx="11043083" cy="629120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1366964" y="19050"/>
              <a:ext cx="9596552" cy="34474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92"/>
                </a:lnSpc>
              </a:pPr>
              <a:r>
                <a:rPr lang="en-US" sz="4428">
                  <a:solidFill>
                    <a:srgbClr val="1A1A2E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Understanding and Evaluating BLUE: An Active Queue Management Algorithm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366964" y="5863282"/>
              <a:ext cx="5793618" cy="4279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91"/>
                </a:lnSpc>
              </a:pPr>
              <a:r>
                <a:rPr lang="en-US" sz="2166">
                  <a:solidFill>
                    <a:srgbClr val="1A1A2E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February 7, 2026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366964" y="4477289"/>
              <a:ext cx="8805772" cy="9954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54"/>
                </a:lnSpc>
              </a:pPr>
              <a:r>
                <a:rPr lang="en-US" sz="1699">
                  <a:solidFill>
                    <a:srgbClr val="1A1A2E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Shatabdi Dutta Chowdhury</a:t>
              </a:r>
            </a:p>
            <a:p>
              <a:pPr algn="l" marL="0" indent="0" lvl="0">
                <a:lnSpc>
                  <a:spcPts val="1954"/>
                </a:lnSpc>
              </a:pPr>
              <a:r>
                <a:rPr lang="en-US" sz="1699">
                  <a:solidFill>
                    <a:srgbClr val="1A1A2E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Student ID - 2105123</a:t>
              </a:r>
            </a:p>
            <a:p>
              <a:pPr algn="l" marL="0" indent="0" lvl="0">
                <a:lnSpc>
                  <a:spcPts val="1954"/>
                </a:lnSpc>
              </a:pPr>
              <a:r>
                <a:rPr lang="en-US" sz="1699">
                  <a:solidFill>
                    <a:srgbClr val="1A1A2E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Section - C</a:t>
              </a:r>
            </a:p>
          </p:txBody>
        </p:sp>
        <p:sp>
          <p:nvSpPr>
            <p:cNvPr name="AutoShape 13" id="13"/>
            <p:cNvSpPr/>
            <p:nvPr/>
          </p:nvSpPr>
          <p:spPr>
            <a:xfrm rot="0">
              <a:off x="0" y="3842496"/>
              <a:ext cx="11043083" cy="158885"/>
            </a:xfrm>
            <a:prstGeom prst="rect">
              <a:avLst/>
            </a:prstGeom>
            <a:solidFill>
              <a:srgbClr val="1A1A2E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96193" y="2054145"/>
            <a:ext cx="12741423" cy="6178711"/>
            <a:chOff x="0" y="0"/>
            <a:chExt cx="16988563" cy="823828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833142"/>
              <a:ext cx="16988563" cy="6405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70"/>
                </a:lnSpc>
                <a:spcBef>
                  <a:spcPct val="0"/>
                </a:spcBef>
              </a:pPr>
              <a:r>
                <a:rPr lang="en-US" b="true" sz="212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Skyrocketing Internet Traffic :</a:t>
              </a:r>
            </a:p>
            <a:p>
              <a:pPr algn="l" marL="0" indent="0" lvl="0">
                <a:lnSpc>
                  <a:spcPts val="2970"/>
                </a:lnSpc>
                <a:spcBef>
                  <a:spcPct val="0"/>
                </a:spcBef>
              </a:pPr>
              <a:r>
                <a:rPr lang="en-US" b="true" sz="212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 Global data demands are outpacing hardware capabilities.</a:t>
              </a:r>
            </a:p>
            <a:p>
              <a:pPr algn="l" marL="0" indent="0" lvl="0">
                <a:lnSpc>
                  <a:spcPts val="2970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970"/>
                </a:lnSpc>
                <a:spcBef>
                  <a:spcPct val="0"/>
                </a:spcBef>
              </a:pPr>
              <a:r>
                <a:rPr lang="en-US" b="true" sz="212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Buffer Limitations:       </a:t>
              </a:r>
            </a:p>
            <a:p>
              <a:pPr algn="l" marL="0" indent="0" lvl="0">
                <a:lnSpc>
                  <a:spcPts val="2970"/>
                </a:lnSpc>
                <a:spcBef>
                  <a:spcPct val="0"/>
                </a:spcBef>
              </a:pPr>
              <a:r>
                <a:rPr lang="en-US" b="true" sz="212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  Routers have physical memory limits; they cannot hold "infinite" data.</a:t>
              </a:r>
            </a:p>
            <a:p>
              <a:pPr algn="l" marL="0" indent="0" lvl="0">
                <a:lnSpc>
                  <a:spcPts val="2970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970"/>
                </a:lnSpc>
                <a:spcBef>
                  <a:spcPct val="0"/>
                </a:spcBef>
              </a:pPr>
              <a:r>
                <a:rPr lang="en-US" b="true" sz="212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The Triple Threat of Congestion:</a:t>
              </a:r>
            </a:p>
            <a:p>
              <a:pPr algn="l" marL="0" indent="0" lvl="0">
                <a:lnSpc>
                  <a:spcPts val="2970"/>
                </a:lnSpc>
                <a:spcBef>
                  <a:spcPct val="0"/>
                </a:spcBef>
              </a:pPr>
            </a:p>
            <a:p>
              <a:pPr algn="l" marL="458110" indent="-229055" lvl="1">
                <a:lnSpc>
                  <a:spcPts val="297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12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Packet Loss : Data disappears, requiring retransmission.</a:t>
              </a:r>
            </a:p>
            <a:p>
              <a:pPr algn="l" marL="458110" indent="-229055" lvl="1">
                <a:lnSpc>
                  <a:spcPts val="297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b="true" sz="212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High Latency/Delay : Significant lag in data delivery.</a:t>
              </a:r>
            </a:p>
            <a:p>
              <a:pPr algn="l" marL="0" indent="0" lvl="0">
                <a:lnSpc>
                  <a:spcPts val="2970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2970"/>
                </a:lnSpc>
                <a:spcBef>
                  <a:spcPct val="0"/>
                </a:spcBef>
              </a:pPr>
              <a:r>
                <a:rPr lang="en-US" b="true" sz="212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Jitter : </a:t>
              </a:r>
            </a:p>
            <a:p>
              <a:pPr algn="l" marL="0" indent="0" lvl="0">
                <a:lnSpc>
                  <a:spcPts val="2970"/>
                </a:lnSpc>
                <a:spcBef>
                  <a:spcPct val="0"/>
                </a:spcBef>
              </a:pPr>
              <a:r>
                <a:rPr lang="en-US" b="true" sz="2121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   Inconsistent timing between packets, ruining real-time communication (like VoIP or Gaming).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85725"/>
              <a:ext cx="16988563" cy="8896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800"/>
                </a:lnSpc>
              </a:pPr>
              <a:r>
                <a:rPr lang="en-US" b="true" sz="480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The Problem – Why This Research Matters?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66626" y="3777249"/>
            <a:ext cx="1367991" cy="2732501"/>
          </a:xfrm>
          <a:custGeom>
            <a:avLst/>
            <a:gdLst/>
            <a:ahLst/>
            <a:cxnLst/>
            <a:rect r="r" b="b" t="t" l="l"/>
            <a:pathLst>
              <a:path h="2732501" w="1367991">
                <a:moveTo>
                  <a:pt x="0" y="0"/>
                </a:moveTo>
                <a:lnTo>
                  <a:pt x="1367991" y="0"/>
                </a:lnTo>
                <a:lnTo>
                  <a:pt x="1367991" y="2732502"/>
                </a:lnTo>
                <a:lnTo>
                  <a:pt x="0" y="2732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533C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16535" y="1095375"/>
            <a:ext cx="14742765" cy="1129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690"/>
              </a:lnSpc>
            </a:pPr>
            <a:r>
              <a:rPr lang="en-US" sz="7900" u="none">
                <a:solidFill>
                  <a:srgbClr val="E4E6EB"/>
                </a:solidFill>
                <a:latin typeface="Gilda Display"/>
                <a:ea typeface="Gilda Display"/>
                <a:cs typeface="Gilda Display"/>
                <a:sym typeface="Gilda Display"/>
              </a:rPr>
              <a:t>The Critical Consequences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050920" y="3709752"/>
            <a:ext cx="12186161" cy="958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870"/>
              </a:lnSpc>
            </a:pPr>
            <a:r>
              <a:rPr lang="en-US" b="true" sz="2764" u="none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Resource Wastage: When a packet drops , resources to send that packet (bandwidth, power, time)  are wasted.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50920" y="7652724"/>
            <a:ext cx="12186161" cy="958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870"/>
              </a:lnSpc>
            </a:pPr>
            <a:r>
              <a:rPr lang="en-US" b="true" sz="2764" u="none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Congestion Collapse: This inefficiency can lead to a total network shutdown where no useful data gets through.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16555308" y="4088276"/>
            <a:ext cx="74483" cy="3973647"/>
          </a:xfrm>
          <a:prstGeom prst="rect">
            <a:avLst/>
          </a:prstGeom>
          <a:solidFill>
            <a:srgbClr val="1A1A2E"/>
          </a:solidFill>
        </p:spPr>
      </p:sp>
      <p:sp>
        <p:nvSpPr>
          <p:cNvPr name="Freeform 6" id="6"/>
          <p:cNvSpPr/>
          <p:nvPr/>
        </p:nvSpPr>
        <p:spPr>
          <a:xfrm flipH="false" flipV="false" rot="0">
            <a:off x="16306800" y="3830843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306800" y="5864864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06800" y="7745498"/>
            <a:ext cx="571500" cy="571500"/>
          </a:xfrm>
          <a:custGeom>
            <a:avLst/>
            <a:gdLst/>
            <a:ahLst/>
            <a:cxnLst/>
            <a:rect r="r" b="b" t="t" l="l"/>
            <a:pathLst>
              <a:path h="571500" w="571500">
                <a:moveTo>
                  <a:pt x="0" y="0"/>
                </a:moveTo>
                <a:lnTo>
                  <a:pt x="571500" y="0"/>
                </a:lnTo>
                <a:lnTo>
                  <a:pt x="571500" y="571500"/>
                </a:lnTo>
                <a:lnTo>
                  <a:pt x="0" y="5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50920" y="5696575"/>
            <a:ext cx="12186161" cy="958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870"/>
              </a:lnSpc>
            </a:pPr>
            <a:r>
              <a:rPr lang="en-US" b="true" sz="2764" u="none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Downward Spiral: High packet loss rates lead to constant re-sending, which further chokes the network.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628038">
            <a:off x="12564793" y="-1386196"/>
            <a:ext cx="2729333" cy="13687572"/>
          </a:xfrm>
          <a:prstGeom prst="rect">
            <a:avLst/>
          </a:prstGeom>
          <a:solidFill>
            <a:srgbClr val="F3F3F3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0599620" y="1817471"/>
            <a:ext cx="6659680" cy="7003524"/>
            <a:chOff x="0" y="0"/>
            <a:chExt cx="812800" cy="85476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54765"/>
            </a:xfrm>
            <a:custGeom>
              <a:avLst/>
              <a:gdLst/>
              <a:ahLst/>
              <a:cxnLst/>
              <a:rect r="r" b="b" t="t" l="l"/>
              <a:pathLst>
                <a:path h="85476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54765"/>
                  </a:lnTo>
                  <a:lnTo>
                    <a:pt x="0" y="854765"/>
                  </a:lnTo>
                  <a:close/>
                </a:path>
              </a:pathLst>
            </a:custGeom>
            <a:blipFill>
              <a:blip r:embed="rId2"/>
              <a:stretch>
                <a:fillRect l="-22903" t="0" r="-22903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028700" y="1822707"/>
            <a:ext cx="9309038" cy="6993052"/>
            <a:chOff x="0" y="0"/>
            <a:chExt cx="12412051" cy="932407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1055" y="-47625"/>
              <a:ext cx="12410996" cy="2001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04"/>
                </a:lnSpc>
              </a:pPr>
              <a:r>
                <a:rPr lang="en-US" sz="4618">
                  <a:solidFill>
                    <a:srgbClr val="E4E6EB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Understanding Network Congestion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3885470"/>
              <a:ext cx="12396297" cy="5438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04"/>
                </a:lnSpc>
              </a:pPr>
              <a:r>
                <a:rPr lang="en-US" b="true" sz="169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Definition:</a:t>
              </a:r>
            </a:p>
            <a:p>
              <a:pPr algn="l" marL="0" indent="0" lvl="0">
                <a:lnSpc>
                  <a:spcPts val="2704"/>
                </a:lnSpc>
              </a:pPr>
            </a:p>
            <a:p>
              <a:pPr algn="l" marL="0" indent="0" lvl="0">
                <a:lnSpc>
                  <a:spcPts val="2704"/>
                </a:lnSpc>
              </a:pPr>
              <a:r>
                <a:rPr lang="en-US" b="true" sz="169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A state in which the number of packets being transmitted through the network approaches or exceeds the packet-handling capacity of the network nodes (routers).</a:t>
              </a:r>
            </a:p>
            <a:p>
              <a:pPr algn="l" marL="0" indent="0" lvl="0">
                <a:lnSpc>
                  <a:spcPts val="2704"/>
                </a:lnSpc>
              </a:pPr>
            </a:p>
            <a:p>
              <a:pPr algn="l" marL="0" indent="0" lvl="0">
                <a:lnSpc>
                  <a:spcPts val="2704"/>
                </a:lnSpc>
              </a:pPr>
              <a:r>
                <a:rPr lang="en-US" b="true" sz="169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The Chain Reaction:</a:t>
              </a:r>
            </a:p>
            <a:p>
              <a:pPr algn="l" marL="0" indent="0" lvl="0">
                <a:lnSpc>
                  <a:spcPts val="2704"/>
                </a:lnSpc>
              </a:pPr>
            </a:p>
            <a:p>
              <a:pPr algn="l" marL="364888" indent="-182444" lvl="1">
                <a:lnSpc>
                  <a:spcPts val="2704"/>
                </a:lnSpc>
                <a:buAutoNum type="arabicPeriod" startAt="1"/>
              </a:pPr>
              <a:r>
                <a:rPr lang="en-US" b="true" sz="169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Queue Accumulation: Incoming data exceeds outgoing capacity, causing the router's buffer (queue) to fill up.</a:t>
              </a:r>
            </a:p>
            <a:p>
              <a:pPr algn="l" marL="364888" indent="-182444" lvl="1">
                <a:lnSpc>
                  <a:spcPts val="2704"/>
                </a:lnSpc>
                <a:buAutoNum type="arabicPeriod" startAt="1"/>
              </a:pPr>
              <a:r>
                <a:rPr lang="en-US" b="true" sz="169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Increased Latency: Packets are forced to wait in the queue, causing significant delays.</a:t>
              </a:r>
            </a:p>
            <a:p>
              <a:pPr algn="l" marL="364888" indent="-182444" lvl="1">
                <a:lnSpc>
                  <a:spcPts val="2704"/>
                </a:lnSpc>
                <a:buAutoNum type="arabicPeriod" startAt="1"/>
              </a:pPr>
              <a:r>
                <a:rPr lang="en-US" b="true" sz="1690">
                  <a:solidFill>
                    <a:srgbClr val="FFFFFF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Packet Dropping: Once the buffer is 100% full, the router has no choice but to discard incoming packets (Tail Drop).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055" y="2424378"/>
              <a:ext cx="12395242" cy="7831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900"/>
                </a:lnSpc>
              </a:pPr>
              <a:r>
                <a:rPr lang="en-US" b="true" sz="3500">
                  <a:solidFill>
                    <a:srgbClr val="BEC1C7"/>
                  </a:solidFill>
                  <a:latin typeface="HK Grotesk Bold"/>
                  <a:ea typeface="HK Grotesk Bold"/>
                  <a:cs typeface="HK Grotesk Bold"/>
                  <a:sym typeface="HK Grotesk Bold"/>
                </a:rPr>
                <a:t>What is Congestion ?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14275228" y="-6577016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35638" y="4025979"/>
            <a:ext cx="7090031" cy="4791142"/>
          </a:xfrm>
          <a:custGeom>
            <a:avLst/>
            <a:gdLst/>
            <a:ahLst/>
            <a:cxnLst/>
            <a:rect r="r" b="b" t="t" l="l"/>
            <a:pathLst>
              <a:path h="4791142" w="7090031">
                <a:moveTo>
                  <a:pt x="0" y="0"/>
                </a:moveTo>
                <a:lnTo>
                  <a:pt x="7090031" y="0"/>
                </a:lnTo>
                <a:lnTo>
                  <a:pt x="7090031" y="4791142"/>
                </a:lnTo>
                <a:lnTo>
                  <a:pt x="0" y="47911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762000"/>
            <a:ext cx="15806522" cy="77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00"/>
              </a:lnSpc>
            </a:pPr>
            <a:r>
              <a:rPr lang="en-US" sz="5700">
                <a:solidFill>
                  <a:srgbClr val="E4E6EB"/>
                </a:solidFill>
                <a:latin typeface="Gilda Display"/>
                <a:ea typeface="Gilda Display"/>
                <a:cs typeface="Gilda Display"/>
                <a:sym typeface="Gilda Display"/>
              </a:rPr>
              <a:t>Tra</a:t>
            </a:r>
            <a:r>
              <a:rPr lang="en-US" sz="5700">
                <a:solidFill>
                  <a:srgbClr val="E4E6EB"/>
                </a:solidFill>
                <a:latin typeface="Gilda Display"/>
                <a:ea typeface="Gilda Display"/>
                <a:cs typeface="Gilda Display"/>
                <a:sym typeface="Gilda Display"/>
              </a:rPr>
              <a:t>ditional Solution – The DropTail Mechanism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7503" y="1764196"/>
            <a:ext cx="5621889" cy="528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64"/>
              </a:lnSpc>
            </a:pPr>
            <a:r>
              <a:rPr lang="en-US" b="true" sz="3499" spc="318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How DropTail Works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2511591"/>
            <a:ext cx="10727770" cy="7620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1252" indent="-320626" lvl="1">
              <a:lnSpc>
                <a:spcPts val="3564"/>
              </a:lnSpc>
              <a:buFont typeface="Arial"/>
              <a:buChar char="•"/>
            </a:pPr>
            <a:r>
              <a:rPr lang="en-US" b="true" sz="2970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Passive Management: Packets are accepted until the maximum buffer capacity is reached.</a:t>
            </a:r>
          </a:p>
          <a:p>
            <a:pPr algn="l">
              <a:lnSpc>
                <a:spcPts val="3564"/>
              </a:lnSpc>
            </a:pPr>
          </a:p>
          <a:p>
            <a:pPr algn="l" marL="641252" indent="-320626" lvl="1">
              <a:lnSpc>
                <a:spcPts val="3564"/>
              </a:lnSpc>
              <a:buFont typeface="Arial"/>
              <a:buChar char="•"/>
            </a:pPr>
            <a:r>
              <a:rPr lang="en-US" b="true" sz="2970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Full Buffer Drops: New incoming packets are only discarded </a:t>
            </a:r>
          </a:p>
          <a:p>
            <a:pPr algn="l">
              <a:lnSpc>
                <a:spcPts val="3564"/>
              </a:lnSpc>
            </a:pPr>
            <a:r>
              <a:rPr lang="en-US" b="true" sz="2970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   </a:t>
            </a:r>
            <a:r>
              <a:rPr lang="en-US" b="true" sz="2970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after the queue is 100% full.</a:t>
            </a:r>
          </a:p>
          <a:p>
            <a:pPr algn="l">
              <a:lnSpc>
                <a:spcPts val="3564"/>
              </a:lnSpc>
            </a:pPr>
          </a:p>
          <a:p>
            <a:pPr algn="l" marL="641252" indent="-320626" lvl="1">
              <a:lnSpc>
                <a:spcPts val="3564"/>
              </a:lnSpc>
              <a:buFont typeface="Arial"/>
              <a:buChar char="•"/>
            </a:pPr>
            <a:r>
              <a:rPr lang="en-US" b="true" sz="2970" i="true" u="sng">
                <a:solidFill>
                  <a:srgbClr val="E4E6EB"/>
                </a:solidFill>
                <a:latin typeface="HK Grotesk Bold Italics"/>
                <a:ea typeface="HK Grotesk Bold Italics"/>
                <a:cs typeface="HK Grotesk Bold Italics"/>
                <a:sym typeface="HK Grotesk Bold Italics"/>
              </a:rPr>
              <a:t>Key Drawbacks:</a:t>
            </a:r>
          </a:p>
          <a:p>
            <a:pPr algn="l">
              <a:lnSpc>
                <a:spcPts val="3564"/>
              </a:lnSpc>
            </a:pPr>
          </a:p>
          <a:p>
            <a:pPr algn="l">
              <a:lnSpc>
                <a:spcPts val="3564"/>
              </a:lnSpc>
            </a:pPr>
            <a:r>
              <a:rPr lang="en-US" b="true" sz="2970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   Delayed Detection: It ignores congestion until the system is</a:t>
            </a:r>
          </a:p>
          <a:p>
            <a:pPr algn="l">
              <a:lnSpc>
                <a:spcPts val="3564"/>
              </a:lnSpc>
            </a:pPr>
            <a:r>
              <a:rPr lang="en-US" b="true" sz="2970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already overwhelmed.</a:t>
            </a:r>
          </a:p>
          <a:p>
            <a:pPr algn="l">
              <a:lnSpc>
                <a:spcPts val="3564"/>
              </a:lnSpc>
            </a:pPr>
          </a:p>
          <a:p>
            <a:pPr algn="l">
              <a:lnSpc>
                <a:spcPts val="3564"/>
              </a:lnSpc>
            </a:pPr>
            <a:r>
              <a:rPr lang="en-US" b="true" sz="2970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   </a:t>
            </a:r>
            <a:r>
              <a:rPr lang="en-US" b="true" sz="2970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Sudden Packet Loss: Leads to "bursty" drops rather than                                                                                                                           smooth traffic management.</a:t>
            </a:r>
          </a:p>
          <a:p>
            <a:pPr algn="l">
              <a:lnSpc>
                <a:spcPts val="3564"/>
              </a:lnSpc>
            </a:pPr>
          </a:p>
          <a:p>
            <a:pPr algn="l">
              <a:lnSpc>
                <a:spcPts val="3564"/>
              </a:lnSpc>
              <a:spcBef>
                <a:spcPct val="0"/>
              </a:spcBef>
            </a:pPr>
            <a:r>
              <a:rPr lang="en-US" b="true" sz="2970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   </a:t>
            </a:r>
            <a:r>
              <a:rPr lang="en-US" b="true" sz="2970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TCP Global Synchronization: Multiple senders reduce their speed at the exact same time, causing significant network under utilization.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14275228" y="-6577016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750" y="742950"/>
            <a:ext cx="15806522" cy="633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00"/>
              </a:lnSpc>
            </a:pPr>
            <a:r>
              <a:rPr lang="en-US" sz="4700">
                <a:solidFill>
                  <a:srgbClr val="E4E6EB"/>
                </a:solidFill>
                <a:latin typeface="Gilda Display"/>
                <a:ea typeface="Gilda Display"/>
                <a:cs typeface="Gilda Display"/>
                <a:sym typeface="Gilda Display"/>
              </a:rPr>
              <a:t>RED (Ran</a:t>
            </a:r>
            <a:r>
              <a:rPr lang="en-US" sz="4700">
                <a:solidFill>
                  <a:srgbClr val="E4E6EB"/>
                </a:solidFill>
                <a:latin typeface="Gilda Display"/>
                <a:ea typeface="Gilda Display"/>
                <a:cs typeface="Gilda Display"/>
                <a:sym typeface="Gilda Display"/>
              </a:rPr>
              <a:t>dom Early Detection) – Proactive Management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7503" y="1764196"/>
            <a:ext cx="5621889" cy="528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64"/>
              </a:lnSpc>
            </a:pPr>
            <a:r>
              <a:rPr lang="en-US" b="true" sz="3499" spc="318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</a:t>
            </a:r>
            <a:r>
              <a:rPr lang="en-US" b="true" sz="3499" spc="318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Proactive Approach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3688640"/>
            <a:ext cx="14683616" cy="5495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Average Queue Length: Unlike DropTail, RED monitors the average queue size over time to detect early signs of congestion.</a:t>
            </a:r>
          </a:p>
          <a:p>
            <a:pPr algn="l">
              <a:lnSpc>
                <a:spcPts val="3600"/>
              </a:lnSpc>
            </a:pP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Probabilistic Dropping: It doesn't wait for a full buffer. It starts dropping packets randomly before the queue is full to signal senders to slow down.</a:t>
            </a:r>
          </a:p>
          <a:p>
            <a:pPr algn="l">
              <a:lnSpc>
                <a:spcPts val="3600"/>
              </a:lnSpc>
            </a:pP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Dual Thresholds: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     </a:t>
            </a:r>
            <a:r>
              <a:rPr lang="en-US" b="true" sz="3000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Below min_th: No packets are dropped (Safe zone).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     Between min_th &amp; max_th: Packets are dropped with an increasing probability.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        Above max_th: All packets are dropped (Congestion zone).</a:t>
            </a:r>
          </a:p>
          <a:p>
            <a:pPr algn="just">
              <a:lnSpc>
                <a:spcPts val="36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Goal: To maintain a small queue size and avoid "Global Synchronization."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Geometric shape outline"/>
          <p:cNvSpPr/>
          <p:nvPr/>
        </p:nvSpPr>
        <p:spPr>
          <a:xfrm flipH="false" flipV="false" rot="-2156052">
            <a:off x="16339169" y="8003391"/>
            <a:ext cx="5798378" cy="6902831"/>
          </a:xfrm>
          <a:custGeom>
            <a:avLst/>
            <a:gdLst/>
            <a:ahLst/>
            <a:cxnLst/>
            <a:rect r="r" b="b" t="t" l="l"/>
            <a:pathLst>
              <a:path h="6902831" w="5798378">
                <a:moveTo>
                  <a:pt x="0" y="0"/>
                </a:moveTo>
                <a:lnTo>
                  <a:pt x="5798378" y="0"/>
                </a:lnTo>
                <a:lnTo>
                  <a:pt x="5798378" y="6902831"/>
                </a:lnTo>
                <a:lnTo>
                  <a:pt x="0" y="69028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64382" y="376238"/>
            <a:ext cx="11359236" cy="9534525"/>
          </a:xfrm>
          <a:custGeom>
            <a:avLst/>
            <a:gdLst/>
            <a:ahLst/>
            <a:cxnLst/>
            <a:rect r="r" b="b" t="t" l="l"/>
            <a:pathLst>
              <a:path h="9534525" w="11359236">
                <a:moveTo>
                  <a:pt x="0" y="0"/>
                </a:moveTo>
                <a:lnTo>
                  <a:pt x="11359236" y="0"/>
                </a:lnTo>
                <a:lnTo>
                  <a:pt x="11359236" y="9534524"/>
                </a:lnTo>
                <a:lnTo>
                  <a:pt x="0" y="95345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8214" y="490855"/>
            <a:ext cx="3068003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4"/>
              </a:lnSpc>
              <a:spcBef>
                <a:spcPct val="0"/>
              </a:spcBef>
            </a:pPr>
            <a:r>
              <a:rPr lang="en-US" sz="3499" spc="318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Red Scenerio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abstract shape"/>
          <p:cNvSpPr/>
          <p:nvPr/>
        </p:nvSpPr>
        <p:spPr>
          <a:xfrm flipH="false" flipV="false" rot="-1268288">
            <a:off x="14275228" y="-6577016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3238500"/>
            <a:ext cx="18288000" cy="7048500"/>
            <a:chOff x="0" y="0"/>
            <a:chExt cx="2108886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08887" cy="812800"/>
            </a:xfrm>
            <a:custGeom>
              <a:avLst/>
              <a:gdLst/>
              <a:ahLst/>
              <a:cxnLst/>
              <a:rect r="r" b="b" t="t" l="l"/>
              <a:pathLst>
                <a:path h="812800" w="2108887">
                  <a:moveTo>
                    <a:pt x="0" y="0"/>
                  </a:moveTo>
                  <a:lnTo>
                    <a:pt x="2108887" y="0"/>
                  </a:lnTo>
                  <a:lnTo>
                    <a:pt x="210888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4"/>
              <a:stretch>
                <a:fillRect l="0" t="-19315" r="0" b="-19315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2526428" y="1162050"/>
            <a:ext cx="12625545" cy="1079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</a:pPr>
            <a:r>
              <a:rPr lang="en-US" sz="8000">
                <a:solidFill>
                  <a:srgbClr val="E4E6EB"/>
                </a:solidFill>
                <a:latin typeface="Gilda Display"/>
                <a:ea typeface="Gilda Display"/>
                <a:cs typeface="Gilda Display"/>
                <a:sym typeface="Gilda Display"/>
              </a:rPr>
              <a:t>An Ideal Scenerio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268288">
            <a:off x="14275228" y="-6577016"/>
            <a:ext cx="10936025" cy="10299747"/>
          </a:xfrm>
          <a:custGeom>
            <a:avLst/>
            <a:gdLst/>
            <a:ahLst/>
            <a:cxnLst/>
            <a:rect r="r" b="b" t="t" l="l"/>
            <a:pathLst>
              <a:path h="10299747" w="10936025">
                <a:moveTo>
                  <a:pt x="0" y="0"/>
                </a:moveTo>
                <a:lnTo>
                  <a:pt x="10936025" y="0"/>
                </a:lnTo>
                <a:lnTo>
                  <a:pt x="10936025" y="10299747"/>
                </a:lnTo>
                <a:lnTo>
                  <a:pt x="0" y="1029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69412" y="2973013"/>
            <a:ext cx="9522910" cy="5701842"/>
          </a:xfrm>
          <a:custGeom>
            <a:avLst/>
            <a:gdLst/>
            <a:ahLst/>
            <a:cxnLst/>
            <a:rect r="r" b="b" t="t" l="l"/>
            <a:pathLst>
              <a:path h="5701842" w="9522910">
                <a:moveTo>
                  <a:pt x="0" y="0"/>
                </a:moveTo>
                <a:lnTo>
                  <a:pt x="9522910" y="0"/>
                </a:lnTo>
                <a:lnTo>
                  <a:pt x="9522910" y="5701842"/>
                </a:lnTo>
                <a:lnTo>
                  <a:pt x="0" y="57018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6750" y="695325"/>
            <a:ext cx="8314727" cy="42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</a:pPr>
            <a:r>
              <a:rPr lang="en-US" b="true" sz="3000">
                <a:solidFill>
                  <a:srgbClr val="E4E6EB"/>
                </a:solidFill>
                <a:latin typeface="Poppins Bold"/>
                <a:ea typeface="Poppins Bold"/>
                <a:cs typeface="Poppins Bold"/>
                <a:sym typeface="Poppins Bold"/>
              </a:rPr>
              <a:t>Th</a:t>
            </a:r>
            <a:r>
              <a:rPr lang="en-US" b="true" sz="3000">
                <a:solidFill>
                  <a:srgbClr val="E4E6EB"/>
                </a:solidFill>
                <a:latin typeface="Poppins Bold"/>
                <a:ea typeface="Poppins Bold"/>
                <a:cs typeface="Poppins Bold"/>
                <a:sym typeface="Poppins Bold"/>
              </a:rPr>
              <a:t>e Limitations of RED (Why It Fails)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2162175"/>
            <a:ext cx="9169412" cy="595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FF575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Inaccurate Congestion Metric: </a:t>
            </a:r>
            <a:r>
              <a:rPr lang="en-US" b="true" sz="3000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Average queue length is not always a reliable indicator of true congestion.</a:t>
            </a:r>
          </a:p>
          <a:p>
            <a:pPr algn="l" marL="647702" indent="-323851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FF575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Parameter Sensitivity:</a:t>
            </a:r>
            <a:r>
              <a:rPr lang="en-US" b="true" sz="3000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RED requires meticulous tuning of multiple parameters (minth​, maxth​, wq​). If not tuned perfectly, performance drops significantly.</a:t>
            </a:r>
          </a:p>
          <a:p>
            <a:pPr algn="l" marL="647702" indent="-323851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FF575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Bursty Traffic Instability: </a:t>
            </a:r>
            <a:r>
              <a:rPr lang="en-US" b="true" sz="3000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Under high-speed or "bursty" traffic, RED becomes unstable, leading to either underutilization or excessive drops.</a:t>
            </a:r>
          </a:p>
          <a:p>
            <a:pPr algn="l" marL="647702" indent="-323851" lvl="1">
              <a:lnSpc>
                <a:spcPts val="3600"/>
              </a:lnSpc>
              <a:buFont typeface="Arial"/>
              <a:buChar char="•"/>
            </a:pPr>
            <a:r>
              <a:rPr lang="en-US" b="true" sz="3000">
                <a:solidFill>
                  <a:srgbClr val="FF575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Buffer Dilemma: </a:t>
            </a:r>
            <a:r>
              <a:rPr lang="en-US" b="true" sz="3000">
                <a:solidFill>
                  <a:srgbClr val="E4E6E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To work effectively, RED often requires large buffers, which ironically introduces High Delay and Jitter (Bufferbloat).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50817" y="757188"/>
            <a:ext cx="15174385" cy="3136004"/>
            <a:chOff x="0" y="0"/>
            <a:chExt cx="20232513" cy="418133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38100"/>
              <a:ext cx="7180222" cy="20866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024"/>
                </a:lnSpc>
              </a:pPr>
              <a:r>
                <a:rPr lang="en-US" sz="5476">
                  <a:solidFill>
                    <a:srgbClr val="E4E6EB"/>
                  </a:solidFill>
                  <a:latin typeface="Gilda Display"/>
                  <a:ea typeface="Gilda Display"/>
                  <a:cs typeface="Gilda Display"/>
                  <a:sym typeface="Gilda Display"/>
                </a:rPr>
                <a:t>The Key Idea Behind BLUE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3442200"/>
              <a:ext cx="20232513" cy="7391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620"/>
                </a:lnSpc>
                <a:spcBef>
                  <a:spcPct val="0"/>
                </a:spcBef>
              </a:pPr>
              <a:r>
                <a:rPr lang="en-US" sz="3300">
                  <a:solidFill>
                    <a:srgbClr val="BEC1C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 Paradigm Shift in AQM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80799" y="4967386"/>
            <a:ext cx="4662181" cy="1963388"/>
            <a:chOff x="0" y="0"/>
            <a:chExt cx="6216242" cy="261785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866055"/>
              <a:ext cx="6216242" cy="17517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76"/>
                </a:lnSpc>
                <a:spcBef>
                  <a:spcPct val="0"/>
                </a:spcBef>
              </a:pPr>
              <a:r>
                <a:rPr lang="en-US" sz="2554">
                  <a:solidFill>
                    <a:srgbClr val="BEC1C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Unl</a:t>
              </a:r>
              <a:r>
                <a:rPr lang="en-US" sz="2554" strike="noStrike">
                  <a:solidFill>
                    <a:srgbClr val="BEC1C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</a:t>
              </a:r>
              <a:r>
                <a:rPr lang="en-US" sz="2554">
                  <a:solidFill>
                    <a:srgbClr val="BEC1C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ke RED, BLUE completely ignores queue length as a primary congestion metric.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66675"/>
              <a:ext cx="6216242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BEC1C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Beyond Queue Length: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25800" y="5031731"/>
            <a:ext cx="4684298" cy="2393918"/>
            <a:chOff x="0" y="0"/>
            <a:chExt cx="6245731" cy="319189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843195"/>
              <a:ext cx="6245731" cy="2348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76"/>
                </a:lnSpc>
                <a:spcBef>
                  <a:spcPct val="0"/>
                </a:spcBef>
              </a:pPr>
              <a:r>
                <a:rPr lang="en-US" sz="2554" u="none">
                  <a:solidFill>
                    <a:srgbClr val="BEC1C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Th</a:t>
              </a:r>
              <a:r>
                <a:rPr lang="en-US" sz="2554" strike="noStrike" u="none">
                  <a:solidFill>
                    <a:srgbClr val="BEC1C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 al</a:t>
              </a:r>
              <a:r>
                <a:rPr lang="en-US" sz="2554" u="none">
                  <a:solidFill>
                    <a:srgbClr val="BEC1C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gorithm manages congestion based on actual events occurring at the router's interface.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-57150"/>
              <a:ext cx="6245731" cy="6438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094"/>
                </a:lnSpc>
                <a:spcBef>
                  <a:spcPct val="0"/>
                </a:spcBef>
              </a:pPr>
              <a:r>
                <a:rPr lang="en-US" sz="2925" u="none">
                  <a:solidFill>
                    <a:srgbClr val="BEC1C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Experience-Base</a:t>
              </a:r>
              <a:r>
                <a:rPr lang="en-US" sz="2925" strike="noStrike" u="none">
                  <a:solidFill>
                    <a:srgbClr val="BEC1C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 </a:t>
              </a:r>
              <a:r>
                <a:rPr lang="en-US" sz="2925" u="none">
                  <a:solidFill>
                    <a:srgbClr val="BEC1C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Feedback: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792919" y="4967386"/>
            <a:ext cx="4684298" cy="2522608"/>
            <a:chOff x="0" y="0"/>
            <a:chExt cx="6245731" cy="3363477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852085"/>
              <a:ext cx="6245731" cy="25113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263334" indent="-131667" lvl="1">
                <a:lnSpc>
                  <a:spcPts val="170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19">
                  <a:solidFill>
                    <a:srgbClr val="BEC1C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Pack</a:t>
              </a:r>
              <a:r>
                <a:rPr lang="en-US" sz="1219" strike="noStrike">
                  <a:solidFill>
                    <a:srgbClr val="BEC1C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1219">
                  <a:solidFill>
                    <a:srgbClr val="BEC1C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t Loss (Congestion):</a:t>
              </a:r>
            </a:p>
            <a:p>
              <a:pPr algn="l" marL="0" indent="0" lvl="0">
                <a:lnSpc>
                  <a:spcPts val="1707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1707"/>
                </a:lnSpc>
                <a:spcBef>
                  <a:spcPct val="0"/>
                </a:spcBef>
              </a:pPr>
              <a:r>
                <a:rPr lang="en-US" sz="1219" strike="noStrike">
                  <a:solidFill>
                    <a:srgbClr val="BEC1C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If</a:t>
              </a:r>
              <a:r>
                <a:rPr lang="en-US" sz="1219">
                  <a:solidFill>
                    <a:srgbClr val="BEC1C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the buffer overflows, BLUE realizes the drop probability is too low and increases it.</a:t>
              </a:r>
            </a:p>
            <a:p>
              <a:pPr algn="l" marL="0" indent="0" lvl="0">
                <a:lnSpc>
                  <a:spcPts val="1707"/>
                </a:lnSpc>
                <a:spcBef>
                  <a:spcPct val="0"/>
                </a:spcBef>
              </a:pPr>
            </a:p>
            <a:p>
              <a:pPr algn="l" marL="263334" indent="-131667" lvl="1">
                <a:lnSpc>
                  <a:spcPts val="170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1219" strike="noStrike">
                  <a:solidFill>
                    <a:srgbClr val="BEC1C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L</a:t>
              </a:r>
              <a:r>
                <a:rPr lang="en-US" sz="1219">
                  <a:solidFill>
                    <a:srgbClr val="BEC1C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ink Idle Time (Underutilization):</a:t>
              </a:r>
            </a:p>
            <a:p>
              <a:pPr algn="l" marL="0" indent="0" lvl="0">
                <a:lnSpc>
                  <a:spcPts val="1707"/>
                </a:lnSpc>
                <a:spcBef>
                  <a:spcPct val="0"/>
                </a:spcBef>
              </a:pPr>
            </a:p>
            <a:p>
              <a:pPr algn="l" marL="0" indent="0" lvl="0">
                <a:lnSpc>
                  <a:spcPts val="1707"/>
                </a:lnSpc>
                <a:spcBef>
                  <a:spcPct val="0"/>
                </a:spcBef>
              </a:pPr>
              <a:r>
                <a:rPr lang="en-US" sz="1219" strike="noStrike">
                  <a:solidFill>
                    <a:srgbClr val="BEC1C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If</a:t>
              </a:r>
              <a:r>
                <a:rPr lang="en-US" sz="1219">
                  <a:solidFill>
                    <a:srgbClr val="BEC1C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 the link is idle while the queue is empty, BLUE realizes the drop probability is too high and decreases it.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-66675"/>
              <a:ext cx="6245731" cy="6527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21"/>
                </a:lnSpc>
                <a:spcBef>
                  <a:spcPct val="0"/>
                </a:spcBef>
              </a:pPr>
              <a:r>
                <a:rPr lang="en-US" sz="2943" u="none">
                  <a:solidFill>
                    <a:srgbClr val="BEC1C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Ev</a:t>
              </a:r>
              <a:r>
                <a:rPr lang="en-US" sz="2943" strike="noStrike" u="none">
                  <a:solidFill>
                    <a:srgbClr val="BEC1C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</a:t>
              </a:r>
              <a:r>
                <a:rPr lang="en-US" sz="2943" u="none">
                  <a:solidFill>
                    <a:srgbClr val="BEC1C7"/>
                  </a:solidFill>
                  <a:latin typeface="HK Grotesk"/>
                  <a:ea typeface="HK Grotesk"/>
                  <a:cs typeface="HK Grotesk"/>
                  <a:sym typeface="HK Grotesk"/>
                </a:rPr>
                <a:t>nt-Driven Observation: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722667" y="4429224"/>
            <a:ext cx="16230596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40883" y="150533"/>
            <a:ext cx="18006234" cy="9985933"/>
          </a:xfrm>
          <a:prstGeom prst="rect">
            <a:avLst/>
          </a:prstGeom>
          <a:solidFill>
            <a:srgbClr val="1A1A2E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1009650"/>
            <a:ext cx="6928392" cy="2097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84"/>
              </a:lnSpc>
            </a:pPr>
            <a:r>
              <a:rPr lang="en-US" sz="679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How BLUE Works (Algorithm)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644275"/>
            <a:ext cx="6928392" cy="559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3075" indent="-181537" lvl="1">
              <a:lnSpc>
                <a:spcPts val="235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8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Event 1: Packet Loss (or Queue Overflow)</a:t>
            </a:r>
          </a:p>
          <a:p>
            <a:pPr algn="l" marL="0" indent="0" lvl="0">
              <a:lnSpc>
                <a:spcPts val="235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354"/>
              </a:lnSpc>
              <a:spcBef>
                <a:spcPct val="0"/>
              </a:spcBef>
            </a:pPr>
            <a:r>
              <a:rPr lang="en-US" b="true" sz="168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If the router loses a packet or the queue exceeds a set limit (L):</a:t>
            </a:r>
          </a:p>
          <a:p>
            <a:pPr algn="l" marL="0" indent="0" lvl="0">
              <a:lnSpc>
                <a:spcPts val="2354"/>
              </a:lnSpc>
              <a:spcBef>
                <a:spcPct val="0"/>
              </a:spcBef>
            </a:pPr>
            <a:r>
              <a:rPr lang="en-US" b="true" sz="168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Action: Increase pm​ by a small constant (d1).</a:t>
            </a:r>
          </a:p>
          <a:p>
            <a:pPr algn="l" marL="0" indent="0" lvl="0">
              <a:lnSpc>
                <a:spcPts val="2354"/>
              </a:lnSpc>
              <a:spcBef>
                <a:spcPct val="0"/>
              </a:spcBef>
            </a:pPr>
            <a:r>
              <a:rPr lang="en-US" b="true" sz="168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Reason: The network is congested; we need to drop/mark more packets to slow down the senders.</a:t>
            </a:r>
          </a:p>
          <a:p>
            <a:pPr algn="l" marL="0" indent="0" lvl="0">
              <a:lnSpc>
                <a:spcPts val="2354"/>
              </a:lnSpc>
              <a:spcBef>
                <a:spcPct val="0"/>
              </a:spcBef>
            </a:pPr>
          </a:p>
          <a:p>
            <a:pPr algn="l" marL="363075" indent="-181537" lvl="1">
              <a:lnSpc>
                <a:spcPts val="235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8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Event 2: Link Idle</a:t>
            </a:r>
          </a:p>
          <a:p>
            <a:pPr algn="l" marL="0" indent="0" lvl="0">
              <a:lnSpc>
                <a:spcPts val="235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354"/>
              </a:lnSpc>
              <a:spcBef>
                <a:spcPct val="0"/>
              </a:spcBef>
            </a:pPr>
            <a:r>
              <a:rPr lang="en-US" b="true" sz="168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If the transmission link becomes idle (no data to send):</a:t>
            </a:r>
          </a:p>
          <a:p>
            <a:pPr algn="l" marL="0" indent="0" lvl="0">
              <a:lnSpc>
                <a:spcPts val="2354"/>
              </a:lnSpc>
              <a:spcBef>
                <a:spcPct val="0"/>
              </a:spcBef>
            </a:pPr>
            <a:r>
              <a:rPr lang="en-US" b="true" sz="168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Action: Decrease pm​ by a small constant (d2).</a:t>
            </a:r>
          </a:p>
          <a:p>
            <a:pPr algn="l" marL="0" indent="0" lvl="0">
              <a:lnSpc>
                <a:spcPts val="2354"/>
              </a:lnSpc>
              <a:spcBef>
                <a:spcPct val="0"/>
              </a:spcBef>
            </a:pPr>
            <a:r>
              <a:rPr lang="en-US" b="true" sz="168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Reason: The link is underutilized; we should drop/mark fewer packets to allow more traffic.</a:t>
            </a:r>
          </a:p>
          <a:p>
            <a:pPr algn="l" marL="0" indent="0" lvl="0">
              <a:lnSpc>
                <a:spcPts val="2354"/>
              </a:lnSpc>
              <a:spcBef>
                <a:spcPct val="0"/>
              </a:spcBef>
            </a:pPr>
          </a:p>
          <a:p>
            <a:pPr algn="l" marL="363075" indent="-181537" lvl="1">
              <a:lnSpc>
                <a:spcPts val="235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68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The "Freeze_Time" Variable:</a:t>
            </a:r>
          </a:p>
          <a:p>
            <a:pPr algn="l" marL="0" indent="0" lvl="0">
              <a:lnSpc>
                <a:spcPts val="2354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2354"/>
              </a:lnSpc>
              <a:spcBef>
                <a:spcPct val="0"/>
              </a:spcBef>
            </a:pPr>
            <a:r>
              <a:rPr lang="en-US" b="true" sz="168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To prevent the algorithm from reacting too fast or becoming unstable, it waits for a specific duration (freeze_time) before making the next adjustment.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401300" y="2729592"/>
            <a:ext cx="6858000" cy="4827816"/>
            <a:chOff x="0" y="0"/>
            <a:chExt cx="1154597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54597" cy="812800"/>
            </a:xfrm>
            <a:custGeom>
              <a:avLst/>
              <a:gdLst/>
              <a:ahLst/>
              <a:cxnLst/>
              <a:rect r="r" b="b" t="t" l="l"/>
              <a:pathLst>
                <a:path h="812800" w="1154597">
                  <a:moveTo>
                    <a:pt x="0" y="0"/>
                  </a:moveTo>
                  <a:lnTo>
                    <a:pt x="1154597" y="0"/>
                  </a:lnTo>
                  <a:lnTo>
                    <a:pt x="115459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1057" t="0" r="-1057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69811" y="2684289"/>
            <a:ext cx="7153299" cy="5191616"/>
          </a:xfrm>
          <a:custGeom>
            <a:avLst/>
            <a:gdLst/>
            <a:ahLst/>
            <a:cxnLst/>
            <a:rect r="r" b="b" t="t" l="l"/>
            <a:pathLst>
              <a:path h="5191616" w="7153299">
                <a:moveTo>
                  <a:pt x="0" y="0"/>
                </a:moveTo>
                <a:lnTo>
                  <a:pt x="7153299" y="0"/>
                </a:lnTo>
                <a:lnTo>
                  <a:pt x="7153299" y="5191616"/>
                </a:lnTo>
                <a:lnTo>
                  <a:pt x="0" y="51916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94074" y="818260"/>
            <a:ext cx="5272945" cy="3732057"/>
          </a:xfrm>
          <a:custGeom>
            <a:avLst/>
            <a:gdLst/>
            <a:ahLst/>
            <a:cxnLst/>
            <a:rect r="r" b="b" t="t" l="l"/>
            <a:pathLst>
              <a:path h="3732057" w="5272945">
                <a:moveTo>
                  <a:pt x="0" y="0"/>
                </a:moveTo>
                <a:lnTo>
                  <a:pt x="5272945" y="0"/>
                </a:lnTo>
                <a:lnTo>
                  <a:pt x="5272945" y="3732058"/>
                </a:lnTo>
                <a:lnTo>
                  <a:pt x="0" y="37320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60621" y="5143500"/>
            <a:ext cx="8480449" cy="4262348"/>
          </a:xfrm>
          <a:custGeom>
            <a:avLst/>
            <a:gdLst/>
            <a:ahLst/>
            <a:cxnLst/>
            <a:rect r="r" b="b" t="t" l="l"/>
            <a:pathLst>
              <a:path h="4262348" w="8480449">
                <a:moveTo>
                  <a:pt x="0" y="0"/>
                </a:moveTo>
                <a:lnTo>
                  <a:pt x="8480449" y="0"/>
                </a:lnTo>
                <a:lnTo>
                  <a:pt x="8480449" y="4262348"/>
                </a:lnTo>
                <a:lnTo>
                  <a:pt x="0" y="4262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09650"/>
            <a:ext cx="8764588" cy="1049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284"/>
              </a:lnSpc>
            </a:pPr>
            <a:r>
              <a:rPr lang="en-US" sz="679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Experimental Setup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396131"/>
            <a:ext cx="9545314" cy="4120579"/>
          </a:xfrm>
          <a:custGeom>
            <a:avLst/>
            <a:gdLst/>
            <a:ahLst/>
            <a:cxnLst/>
            <a:rect r="r" b="b" t="t" l="l"/>
            <a:pathLst>
              <a:path h="4120579" w="9545314">
                <a:moveTo>
                  <a:pt x="0" y="0"/>
                </a:moveTo>
                <a:lnTo>
                  <a:pt x="9545314" y="0"/>
                </a:lnTo>
                <a:lnTo>
                  <a:pt x="9545314" y="4120579"/>
                </a:lnTo>
                <a:lnTo>
                  <a:pt x="0" y="4120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56563" y="5568051"/>
            <a:ext cx="10931437" cy="4718949"/>
          </a:xfrm>
          <a:custGeom>
            <a:avLst/>
            <a:gdLst/>
            <a:ahLst/>
            <a:cxnLst/>
            <a:rect r="r" b="b" t="t" l="l"/>
            <a:pathLst>
              <a:path h="4718949" w="10931437">
                <a:moveTo>
                  <a:pt x="0" y="0"/>
                </a:moveTo>
                <a:lnTo>
                  <a:pt x="10931437" y="0"/>
                </a:lnTo>
                <a:lnTo>
                  <a:pt x="10931437" y="4718949"/>
                </a:lnTo>
                <a:lnTo>
                  <a:pt x="0" y="47189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346579"/>
            <a:ext cx="18288000" cy="908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86"/>
              </a:lnSpc>
            </a:pPr>
            <a:r>
              <a:rPr lang="en-US" sz="589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Experimental Results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905250"/>
            <a:ext cx="4549535" cy="24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8000" u="none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Queue Length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612693" y="2268463"/>
            <a:ext cx="11160957" cy="5750073"/>
          </a:xfrm>
          <a:custGeom>
            <a:avLst/>
            <a:gdLst/>
            <a:ahLst/>
            <a:cxnLst/>
            <a:rect r="r" b="b" t="t" l="l"/>
            <a:pathLst>
              <a:path h="5750073" w="11160957">
                <a:moveTo>
                  <a:pt x="0" y="0"/>
                </a:moveTo>
                <a:lnTo>
                  <a:pt x="11160957" y="0"/>
                </a:lnTo>
                <a:lnTo>
                  <a:pt x="11160957" y="5750074"/>
                </a:lnTo>
                <a:lnTo>
                  <a:pt x="0" y="57500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15691" y="2077263"/>
            <a:ext cx="9279885" cy="4780954"/>
          </a:xfrm>
          <a:custGeom>
            <a:avLst/>
            <a:gdLst/>
            <a:ahLst/>
            <a:cxnLst/>
            <a:rect r="r" b="b" t="t" l="l"/>
            <a:pathLst>
              <a:path h="4780954" w="9279885">
                <a:moveTo>
                  <a:pt x="0" y="0"/>
                </a:moveTo>
                <a:lnTo>
                  <a:pt x="9279885" y="0"/>
                </a:lnTo>
                <a:lnTo>
                  <a:pt x="9279885" y="4780954"/>
                </a:lnTo>
                <a:lnTo>
                  <a:pt x="0" y="478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75451" y="3872282"/>
            <a:ext cx="5783849" cy="5386018"/>
          </a:xfrm>
          <a:custGeom>
            <a:avLst/>
            <a:gdLst/>
            <a:ahLst/>
            <a:cxnLst/>
            <a:rect r="r" b="b" t="t" l="l"/>
            <a:pathLst>
              <a:path h="5386018" w="5783849">
                <a:moveTo>
                  <a:pt x="0" y="0"/>
                </a:moveTo>
                <a:lnTo>
                  <a:pt x="5783849" y="0"/>
                </a:lnTo>
                <a:lnTo>
                  <a:pt x="5783849" y="5386018"/>
                </a:lnTo>
                <a:lnTo>
                  <a:pt x="0" y="53860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19150" y="814387"/>
            <a:ext cx="9597785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40"/>
              </a:lnSpc>
            </a:pPr>
            <a:r>
              <a:rPr lang="en-US" sz="6700">
                <a:solidFill>
                  <a:srgbClr val="FFFFFF"/>
                </a:solidFill>
                <a:latin typeface="Gilda Display"/>
                <a:ea typeface="Gilda Display"/>
                <a:cs typeface="Gilda Display"/>
                <a:sym typeface="Gilda Display"/>
              </a:rPr>
              <a:t>Marking Behaviour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34071" y="2652105"/>
            <a:ext cx="7793601" cy="7174146"/>
          </a:xfrm>
          <a:custGeom>
            <a:avLst/>
            <a:gdLst/>
            <a:ahLst/>
            <a:cxnLst/>
            <a:rect r="r" b="b" t="t" l="l"/>
            <a:pathLst>
              <a:path h="7174146" w="7793601">
                <a:moveTo>
                  <a:pt x="0" y="0"/>
                </a:moveTo>
                <a:lnTo>
                  <a:pt x="7793601" y="0"/>
                </a:lnTo>
                <a:lnTo>
                  <a:pt x="7793601" y="7174147"/>
                </a:lnTo>
                <a:lnTo>
                  <a:pt x="0" y="71741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8457" y="519113"/>
            <a:ext cx="16951085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20"/>
              </a:lnSpc>
            </a:pPr>
            <a:r>
              <a:rPr lang="en-US" b="true" sz="46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Stochastic Fair BLUE (SFB) - Fair Congestion Control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8457" y="2002929"/>
            <a:ext cx="5389404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9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The Problem SFB Solves: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738438"/>
            <a:ext cx="6149499" cy="3112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6" indent="-302258" lvl="1">
              <a:lnSpc>
                <a:spcPts val="4199"/>
              </a:lnSpc>
              <a:buFont typeface="Arial"/>
              <a:buChar char="•"/>
            </a:pPr>
            <a:r>
              <a:rPr lang="en-US" sz="2799" spc="17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BLUE treats all flows equally</a:t>
            </a:r>
          </a:p>
          <a:p>
            <a:pPr algn="l" marL="604516" indent="-302258" lvl="1">
              <a:lnSpc>
                <a:spcPts val="4199"/>
              </a:lnSpc>
              <a:buFont typeface="Arial"/>
              <a:buChar char="•"/>
            </a:pPr>
            <a:r>
              <a:rPr lang="en-US" sz="2799" spc="17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Non-responsive flows (UDP streaming, malicious traffic) can monopolize bandwidth</a:t>
            </a:r>
          </a:p>
          <a:p>
            <a:pPr algn="l" marL="604516" indent="-302258" lvl="1">
              <a:lnSpc>
                <a:spcPts val="4199"/>
              </a:lnSpc>
              <a:buFont typeface="Arial"/>
              <a:buChar char="•"/>
            </a:pPr>
            <a:r>
              <a:rPr lang="en-US" sz="2799" spc="17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Responsive flows (TCP) suffer unfairly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829753" y="1823430"/>
            <a:ext cx="3397250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9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SFB Algorithm :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13660" y="3315636"/>
            <a:ext cx="8305932" cy="6469524"/>
          </a:xfrm>
          <a:custGeom>
            <a:avLst/>
            <a:gdLst/>
            <a:ahLst/>
            <a:cxnLst/>
            <a:rect r="r" b="b" t="t" l="l"/>
            <a:pathLst>
              <a:path h="6469524" w="8305932">
                <a:moveTo>
                  <a:pt x="0" y="0"/>
                </a:moveTo>
                <a:lnTo>
                  <a:pt x="8305933" y="0"/>
                </a:lnTo>
                <a:lnTo>
                  <a:pt x="8305933" y="6469524"/>
                </a:lnTo>
                <a:lnTo>
                  <a:pt x="0" y="64695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89" r="0" b="-378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8457" y="519113"/>
            <a:ext cx="16951085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20"/>
              </a:lnSpc>
            </a:pPr>
            <a:r>
              <a:rPr lang="en-US" b="true" sz="4600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Stochastic Fair BLUE (SFB) - Fair Congestion Control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8457" y="1423988"/>
            <a:ext cx="2820988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80"/>
              </a:lnSpc>
              <a:spcBef>
                <a:spcPct val="0"/>
              </a:spcBef>
            </a:pPr>
            <a:r>
              <a:rPr lang="en-US" sz="3900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How It Works: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3841" y="2604111"/>
            <a:ext cx="5984446" cy="3362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1363" indent="-265681" lvl="1">
              <a:lnSpc>
                <a:spcPts val="2953"/>
              </a:lnSpc>
              <a:buFont typeface="Arial"/>
              <a:buChar char="•"/>
            </a:pPr>
            <a:r>
              <a:rPr lang="en-US" sz="246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Each packet hashed to ONE bin per level (L bins total)</a:t>
            </a:r>
          </a:p>
          <a:p>
            <a:pPr algn="l" marL="531363" indent="-265681" lvl="1">
              <a:lnSpc>
                <a:spcPts val="2953"/>
              </a:lnSpc>
              <a:buFont typeface="Arial"/>
              <a:buChar char="•"/>
            </a:pPr>
            <a:r>
              <a:rPr lang="en-US" sz="246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Each bin maintains its own pm value</a:t>
            </a:r>
          </a:p>
          <a:p>
            <a:pPr algn="l" marL="531363" indent="-265681" lvl="1">
              <a:lnSpc>
                <a:spcPts val="2953"/>
              </a:lnSpc>
              <a:buFont typeface="Arial"/>
              <a:buChar char="•"/>
            </a:pPr>
            <a:r>
              <a:rPr lang="en-US" sz="246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Non-responsive flow → drives pm = 1 in ALL its bins</a:t>
            </a:r>
          </a:p>
          <a:p>
            <a:pPr algn="l" marL="531363" indent="-265681" lvl="1">
              <a:lnSpc>
                <a:spcPts val="2953"/>
              </a:lnSpc>
              <a:buFont typeface="Arial"/>
              <a:buChar char="•"/>
            </a:pPr>
            <a:r>
              <a:rPr lang="en-US" sz="246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TCP flow → likely has at least ONE clean bin (pm &lt; 1)</a:t>
            </a:r>
          </a:p>
          <a:p>
            <a:pPr algn="l" marL="531363" indent="-265681" lvl="1">
              <a:lnSpc>
                <a:spcPts val="2953"/>
              </a:lnSpc>
              <a:buFont typeface="Arial"/>
              <a:buChar char="•"/>
            </a:pPr>
            <a:r>
              <a:rPr lang="en-US" sz="2461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Final marking probability = minimum pm across all L bins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905569" y="2613636"/>
            <a:ext cx="13756952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9"/>
              </a:lnSpc>
            </a:pPr>
            <a:r>
              <a:rPr lang="en-US" sz="2599" spc="-4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BLUE works well for homogeneous TCP traffic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905569" y="4172634"/>
            <a:ext cx="13756952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9"/>
              </a:lnSpc>
            </a:pPr>
            <a:r>
              <a:rPr lang="en-US" sz="2599" spc="-46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SFB provides fairness between flows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05569" y="5705616"/>
            <a:ext cx="13756952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9"/>
              </a:lnSpc>
            </a:pPr>
            <a:r>
              <a:rPr lang="en-US" sz="2599" spc="-46">
                <a:solidFill>
                  <a:srgbClr val="FF575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Modern networks have MIXED traffic (TCP + UDP + Real-time)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905569" y="7290631"/>
            <a:ext cx="13756952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9"/>
              </a:lnSpc>
            </a:pPr>
            <a:r>
              <a:rPr lang="en-US" sz="2599" spc="-46">
                <a:solidFill>
                  <a:srgbClr val="FF575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SFB has complexity: O(L×N) state, multiple hash functions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905569" y="8834120"/>
            <a:ext cx="13756952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9"/>
              </a:lnSpc>
            </a:pPr>
            <a:r>
              <a:rPr lang="en-US" sz="2599" spc="-46">
                <a:solidFill>
                  <a:srgbClr val="FF5757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No adaptive mechanism for varying traffic conditions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47651"/>
            <a:ext cx="13756952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</a:pPr>
            <a:r>
              <a:rPr lang="en-US" b="true" sz="399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Research Gap - Why Modify BLUE?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-95463" y="2055751"/>
            <a:ext cx="1838346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rot="0">
            <a:off x="-1" y="3614750"/>
            <a:ext cx="18288001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rot="0">
            <a:off x="-1" y="5173749"/>
            <a:ext cx="18288001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rot="0">
            <a:off x="-1" y="8301271"/>
            <a:ext cx="18288001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0">
            <a:off x="-1" y="6732747"/>
            <a:ext cx="18288001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0">
            <a:off x="-1" y="9860269"/>
            <a:ext cx="18288001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rot="5397902">
            <a:off x="-1616783" y="5962773"/>
            <a:ext cx="7804519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028700" y="2587619"/>
            <a:ext cx="112554" cy="476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b="true" sz="2962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4146618"/>
            <a:ext cx="194469" cy="476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b="true" sz="2962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5705616"/>
            <a:ext cx="202724" cy="476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b="true" sz="2962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7264615"/>
            <a:ext cx="227171" cy="476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b="true" sz="2962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8823614"/>
            <a:ext cx="205105" cy="4767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1"/>
              </a:lnSpc>
            </a:pPr>
            <a:r>
              <a:rPr lang="en-US" b="true" sz="2962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5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4105" y="591543"/>
            <a:ext cx="12929436" cy="3599457"/>
            <a:chOff x="0" y="0"/>
            <a:chExt cx="17239248" cy="4799276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7239248" cy="1177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960"/>
                </a:lnSpc>
              </a:pPr>
              <a:r>
                <a:rPr lang="en-US" b="true" sz="5800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Adaptive BLUE for Mixed Traffic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416912"/>
              <a:ext cx="14767826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Core Idea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313040"/>
              <a:ext cx="8068594" cy="24862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1341" indent="-280670" lvl="1">
                <a:lnSpc>
                  <a:spcPts val="520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De</a:t>
              </a:r>
              <a:r>
                <a:rPr lang="en-US" sz="26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tect traffic type</a:t>
              </a:r>
            </a:p>
            <a:p>
              <a:pPr algn="l" marL="561341" indent="-280670" lvl="1">
                <a:lnSpc>
                  <a:spcPts val="520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Adjus</a:t>
              </a:r>
              <a:r>
                <a:rPr lang="en-US" sz="26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t marking behavior </a:t>
              </a:r>
            </a:p>
            <a:p>
              <a:pPr algn="l" marL="561341" indent="-280670" lvl="1">
                <a:lnSpc>
                  <a:spcPts val="5200"/>
                </a:lnSpc>
                <a:buFont typeface="Arial"/>
                <a:buChar char="•"/>
              </a:pPr>
              <a:r>
                <a:rPr lang="en-US" sz="26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Ma</a:t>
              </a:r>
              <a:r>
                <a:rPr lang="en-US" sz="2600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intain fairness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119574" y="3266052"/>
            <a:ext cx="7188914" cy="8764322"/>
            <a:chOff x="0" y="0"/>
            <a:chExt cx="9585219" cy="11685763"/>
          </a:xfrm>
        </p:grpSpPr>
        <p:grpSp>
          <p:nvGrpSpPr>
            <p:cNvPr name="Group 7" id="7"/>
            <p:cNvGrpSpPr/>
            <p:nvPr/>
          </p:nvGrpSpPr>
          <p:grpSpPr>
            <a:xfrm rot="-2700000">
              <a:off x="-562750" y="7790982"/>
              <a:ext cx="7429400" cy="1485661"/>
              <a:chOff x="0" y="0"/>
              <a:chExt cx="31900754" cy="637921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1900754" cy="6379210"/>
              </a:xfrm>
              <a:custGeom>
                <a:avLst/>
                <a:gdLst/>
                <a:ahLst/>
                <a:cxnLst/>
                <a:rect r="r" b="b" t="t" l="l"/>
                <a:pathLst>
                  <a:path h="6379210" w="31900754">
                    <a:moveTo>
                      <a:pt x="25204906" y="0"/>
                    </a:moveTo>
                    <a:lnTo>
                      <a:pt x="8024961" y="0"/>
                    </a:lnTo>
                    <a:lnTo>
                      <a:pt x="6736517" y="7620"/>
                    </a:lnTo>
                    <a:lnTo>
                      <a:pt x="0" y="6379210"/>
                    </a:lnTo>
                    <a:lnTo>
                      <a:pt x="25254845" y="6379210"/>
                    </a:lnTo>
                    <a:lnTo>
                      <a:pt x="31900754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9" id="9"/>
            <p:cNvGrpSpPr/>
            <p:nvPr/>
          </p:nvGrpSpPr>
          <p:grpSpPr>
            <a:xfrm rot="-2700000">
              <a:off x="3734095" y="6248668"/>
              <a:ext cx="6125442" cy="1485661"/>
              <a:chOff x="0" y="0"/>
              <a:chExt cx="26301750" cy="637921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6301750" cy="6379210"/>
              </a:xfrm>
              <a:custGeom>
                <a:avLst/>
                <a:gdLst/>
                <a:ahLst/>
                <a:cxnLst/>
                <a:rect r="r" b="b" t="t" l="l"/>
                <a:pathLst>
                  <a:path h="6379210" w="2630175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11" id="11"/>
            <p:cNvGrpSpPr/>
            <p:nvPr/>
          </p:nvGrpSpPr>
          <p:grpSpPr>
            <a:xfrm rot="-2700000">
              <a:off x="3831566" y="1948101"/>
              <a:ext cx="6125442" cy="1485661"/>
              <a:chOff x="0" y="0"/>
              <a:chExt cx="26301750" cy="637921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6301750" cy="6379210"/>
              </a:xfrm>
              <a:custGeom>
                <a:avLst/>
                <a:gdLst/>
                <a:ahLst/>
                <a:cxnLst/>
                <a:rect r="r" b="b" t="t" l="l"/>
                <a:pathLst>
                  <a:path h="6379210" w="26301750">
                    <a:moveTo>
                      <a:pt x="19619477" y="0"/>
                    </a:moveTo>
                    <a:lnTo>
                      <a:pt x="7607643" y="0"/>
                    </a:lnTo>
                    <a:lnTo>
                      <a:pt x="6706792" y="7620"/>
                    </a:lnTo>
                    <a:lnTo>
                      <a:pt x="0" y="6379210"/>
                    </a:lnTo>
                    <a:lnTo>
                      <a:pt x="19655841" y="6379210"/>
                    </a:lnTo>
                    <a:lnTo>
                      <a:pt x="2630175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  <p:sp>
        <p:nvSpPr>
          <p:cNvPr name="TextBox 13" id="13"/>
          <p:cNvSpPr txBox="true"/>
          <p:nvPr/>
        </p:nvSpPr>
        <p:spPr>
          <a:xfrm rot="0">
            <a:off x="7465536" y="4560570"/>
            <a:ext cx="6481128" cy="582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9"/>
              </a:lnSpc>
              <a:spcBef>
                <a:spcPct val="0"/>
              </a:spcBef>
            </a:pPr>
            <a:r>
              <a:rPr lang="en-US" b="true" sz="3599" spc="-6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Three-Component Architecture: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465536" y="5343525"/>
            <a:ext cx="6051445" cy="191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5200"/>
              </a:lnSpc>
              <a:buAutoNum type="arabicPeriod" startAt="1"/>
            </a:pPr>
            <a:r>
              <a:rPr lang="en-US" sz="26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</a:t>
            </a:r>
            <a:r>
              <a:rPr lang="en-US" sz="26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raffic Classifier</a:t>
            </a:r>
          </a:p>
          <a:p>
            <a:pPr algn="l" marL="561341" indent="-280670" lvl="1">
              <a:lnSpc>
                <a:spcPts val="5200"/>
              </a:lnSpc>
              <a:buAutoNum type="arabicPeriod" startAt="1"/>
            </a:pPr>
            <a:r>
              <a:rPr lang="en-US" sz="26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Adap</a:t>
            </a:r>
            <a:r>
              <a:rPr lang="en-US" sz="26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tive Marking</a:t>
            </a:r>
          </a:p>
          <a:p>
            <a:pPr algn="l" marL="561341" indent="-280670" lvl="1">
              <a:lnSpc>
                <a:spcPts val="5200"/>
              </a:lnSpc>
              <a:buAutoNum type="arabicPeriod" startAt="1"/>
            </a:pPr>
            <a:r>
              <a:rPr lang="en-US" sz="26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Dy</a:t>
            </a:r>
            <a:r>
              <a:rPr lang="en-US" sz="26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namic Learning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6172" y="1284267"/>
            <a:ext cx="3976213" cy="4152758"/>
            <a:chOff x="0" y="0"/>
            <a:chExt cx="5301617" cy="5537011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5301617" cy="172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99"/>
                </a:lnSpc>
                <a:spcBef>
                  <a:spcPct val="0"/>
                </a:spcBef>
              </a:pPr>
              <a:r>
                <a:rPr lang="en-US" b="true" sz="3999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Traffic Classifier: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102718"/>
              <a:ext cx="5301617" cy="3434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1"/>
                </a:lnSpc>
              </a:pPr>
              <a:r>
                <a:rPr lang="en-US" sz="2093" spc="-79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if (packet.protocol == TCP)</a:t>
              </a:r>
            </a:p>
            <a:p>
              <a:pPr algn="l" marL="0" indent="0" lvl="0">
                <a:lnSpc>
                  <a:spcPts val="2931"/>
                </a:lnSpc>
              </a:pPr>
              <a:r>
                <a:rPr lang="en-US" sz="2093" spc="-79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   type = RESPONSIVE</a:t>
              </a:r>
            </a:p>
            <a:p>
              <a:pPr algn="l" marL="0" indent="0" lvl="0">
                <a:lnSpc>
                  <a:spcPts val="2931"/>
                </a:lnSpc>
              </a:pPr>
              <a:r>
                <a:rPr lang="en-US" sz="2093" spc="-79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else if (packet.protocol == UDP)</a:t>
              </a:r>
            </a:p>
            <a:p>
              <a:pPr algn="l" marL="0" indent="0" lvl="0">
                <a:lnSpc>
                  <a:spcPts val="2931"/>
                </a:lnSpc>
              </a:pPr>
              <a:r>
                <a:rPr lang="en-US" sz="2093" spc="-79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   if (flow_rate &gt; threshold)</a:t>
              </a:r>
            </a:p>
            <a:p>
              <a:pPr algn="l" marL="0" indent="0" lvl="0">
                <a:lnSpc>
                  <a:spcPts val="2931"/>
                </a:lnSpc>
              </a:pPr>
              <a:r>
                <a:rPr lang="en-US" sz="2093" spc="-79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       type = NON_RESPONSIVE</a:t>
              </a:r>
            </a:p>
            <a:p>
              <a:pPr algn="l" marL="0" indent="0" lvl="0">
                <a:lnSpc>
                  <a:spcPts val="2931"/>
                </a:lnSpc>
              </a:pPr>
              <a:r>
                <a:rPr lang="en-US" sz="2093" spc="-79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   else</a:t>
              </a:r>
            </a:p>
            <a:p>
              <a:pPr algn="l" marL="0" indent="0" lvl="0">
                <a:lnSpc>
                  <a:spcPts val="2931"/>
                </a:lnSpc>
              </a:pPr>
              <a:r>
                <a:rPr lang="en-US" sz="2093" spc="-79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       type = REAL_TIME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20853" y="3086035"/>
            <a:ext cx="3976213" cy="4304270"/>
            <a:chOff x="0" y="0"/>
            <a:chExt cx="5301617" cy="573902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38100"/>
              <a:ext cx="5301617" cy="172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99"/>
                </a:lnSpc>
                <a:spcBef>
                  <a:spcPct val="0"/>
                </a:spcBef>
              </a:pPr>
              <a:r>
                <a:rPr lang="en-US" b="true" sz="3999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Adaptive Marking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112243"/>
              <a:ext cx="5301617" cy="36267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55"/>
                </a:lnSpc>
              </a:pPr>
              <a:r>
                <a:rPr lang="en-US" sz="1753" spc="-66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// TCP (Responsive)</a:t>
              </a:r>
            </a:p>
            <a:p>
              <a:pPr algn="l" marL="0" indent="0" lvl="0">
                <a:lnSpc>
                  <a:spcPts val="2455"/>
                </a:lnSpc>
              </a:pPr>
              <a:r>
                <a:rPr lang="en-US" sz="1753" spc="-66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pm_tcp = pm_base</a:t>
              </a:r>
            </a:p>
            <a:p>
              <a:pPr algn="l" marL="0" indent="0" lvl="0">
                <a:lnSpc>
                  <a:spcPts val="2455"/>
                </a:lnSpc>
              </a:pPr>
            </a:p>
            <a:p>
              <a:pPr algn="l" marL="0" indent="0" lvl="0">
                <a:lnSpc>
                  <a:spcPts val="2455"/>
                </a:lnSpc>
              </a:pPr>
              <a:r>
                <a:rPr lang="en-US" sz="1753" spc="-66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// UDP Streaming (Non-responsive)  </a:t>
              </a:r>
            </a:p>
            <a:p>
              <a:pPr algn="l" marL="0" indent="0" lvl="0">
                <a:lnSpc>
                  <a:spcPts val="2455"/>
                </a:lnSpc>
              </a:pPr>
              <a:r>
                <a:rPr lang="en-US" sz="1753" spc="-66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pm_udp = pm_base × α  (where α &gt; 1)</a:t>
              </a:r>
            </a:p>
            <a:p>
              <a:pPr algn="l" marL="0" indent="0" lvl="0">
                <a:lnSpc>
                  <a:spcPts val="2455"/>
                </a:lnSpc>
              </a:pPr>
            </a:p>
            <a:p>
              <a:pPr algn="l" marL="0" indent="0" lvl="0">
                <a:lnSpc>
                  <a:spcPts val="2455"/>
                </a:lnSpc>
              </a:pPr>
              <a:r>
                <a:rPr lang="en-US" sz="1753" spc="-66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// Real-time (Gaming/VoIP)</a:t>
              </a:r>
            </a:p>
            <a:p>
              <a:pPr algn="l" marL="0" indent="0" lvl="0">
                <a:lnSpc>
                  <a:spcPts val="2455"/>
                </a:lnSpc>
              </a:pPr>
              <a:r>
                <a:rPr lang="en-US" sz="1753" spc="-66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pm_realtime = pm_base × β  (where β &lt; 1)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80955" y="4648977"/>
            <a:ext cx="4150511" cy="4609323"/>
            <a:chOff x="0" y="0"/>
            <a:chExt cx="5534014" cy="6145764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38100"/>
              <a:ext cx="5534014" cy="17229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199"/>
                </a:lnSpc>
                <a:spcBef>
                  <a:spcPct val="0"/>
                </a:spcBef>
              </a:pPr>
              <a:r>
                <a:rPr lang="en-US" b="true" sz="3999">
                  <a:solidFill>
                    <a:srgbClr val="FFFFFF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Dynamic Leraning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093193"/>
              <a:ext cx="5301617" cy="40525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91"/>
                </a:lnSpc>
              </a:pPr>
              <a:r>
                <a:rPr lang="en-US" sz="2493" spc="-94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On packet loss: </a:t>
              </a:r>
            </a:p>
            <a:p>
              <a:pPr algn="l" marL="0" indent="0" lvl="0">
                <a:lnSpc>
                  <a:spcPts val="3491"/>
                </a:lnSpc>
              </a:pPr>
              <a:r>
                <a:rPr lang="en-US" sz="2493" spc="-94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if (non_responsive_detected) pm = pm + (d1 × γ) </a:t>
              </a:r>
            </a:p>
            <a:p>
              <a:pPr algn="l" marL="0" indent="0" lvl="0">
                <a:lnSpc>
                  <a:spcPts val="3491"/>
                </a:lnSpc>
              </a:pPr>
              <a:r>
                <a:rPr lang="en-US" sz="2493" spc="-94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 else </a:t>
              </a:r>
            </a:p>
            <a:p>
              <a:pPr algn="l" marL="0" indent="0" lvl="0">
                <a:lnSpc>
                  <a:spcPts val="3491"/>
                </a:lnSpc>
              </a:pPr>
              <a:r>
                <a:rPr lang="en-US" sz="2493" spc="-94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pm = pm + d1 </a:t>
              </a:r>
            </a:p>
            <a:p>
              <a:pPr algn="l" marL="0" indent="0" lvl="0">
                <a:lnSpc>
                  <a:spcPts val="3491"/>
                </a:lnSpc>
              </a:pPr>
              <a:r>
                <a:rPr lang="en-US" sz="2493" spc="-94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On link idle: </a:t>
              </a:r>
            </a:p>
            <a:p>
              <a:pPr algn="l" marL="0" indent="0" lvl="0">
                <a:lnSpc>
                  <a:spcPts val="3491"/>
                </a:lnSpc>
              </a:pPr>
              <a:r>
                <a:rPr lang="en-US" sz="2493" spc="-94">
                  <a:solidFill>
                    <a:srgbClr val="FFFFFF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pm = pm - d2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 rot="5400000">
            <a:off x="-1469266" y="2706415"/>
            <a:ext cx="5432644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rot="5400000">
            <a:off x="3228062" y="3691198"/>
            <a:ext cx="7402210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3" id="13"/>
          <p:cNvSpPr/>
          <p:nvPr/>
        </p:nvSpPr>
        <p:spPr>
          <a:xfrm rot="5400000">
            <a:off x="7857547" y="4621815"/>
            <a:ext cx="9263444" cy="0"/>
          </a:xfrm>
          <a:prstGeom prst="line">
            <a:avLst/>
          </a:prstGeom>
          <a:ln cap="rnd" w="95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204270" y="1961383"/>
            <a:ext cx="732274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42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BLUE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788453" y="2191841"/>
            <a:ext cx="771999" cy="771999"/>
            <a:chOff x="0" y="0"/>
            <a:chExt cx="6350000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7901847" y="2181410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52"/>
              </a:lnSpc>
            </a:pPr>
            <a:r>
              <a:rPr lang="en-US" b="true" sz="3600">
                <a:solidFill>
                  <a:srgbClr val="1A1A2E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204270" y="3243451"/>
            <a:ext cx="732274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400"/>
              </a:lnSpc>
              <a:spcBef>
                <a:spcPct val="0"/>
              </a:spcBef>
            </a:pPr>
            <a:r>
              <a:rPr lang="en-US" sz="42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Stochastic Fair Blue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7788453" y="3471682"/>
            <a:ext cx="771999" cy="771999"/>
            <a:chOff x="0" y="0"/>
            <a:chExt cx="6350000" cy="63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7901847" y="3461251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652"/>
              </a:lnSpc>
              <a:spcBef>
                <a:spcPct val="0"/>
              </a:spcBef>
            </a:pPr>
            <a:r>
              <a:rPr lang="en-US" b="true" sz="3600" u="none">
                <a:solidFill>
                  <a:srgbClr val="1A1A2E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04270" y="6121913"/>
            <a:ext cx="7322748" cy="2589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5124"/>
              </a:lnSpc>
            </a:pPr>
            <a:r>
              <a:rPr lang="en-US" sz="42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Compare Between them using Metrics(Fairness Index, Latency, Throughput, Complexity)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788453" y="6031363"/>
            <a:ext cx="771999" cy="771999"/>
            <a:chOff x="0" y="0"/>
            <a:chExt cx="6350000" cy="6350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7901847" y="6020932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652"/>
              </a:lnSpc>
              <a:spcBef>
                <a:spcPct val="0"/>
              </a:spcBef>
            </a:pPr>
            <a:r>
              <a:rPr lang="en-US" b="true" sz="3600" u="none">
                <a:solidFill>
                  <a:srgbClr val="1A1A2E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204270" y="4525519"/>
            <a:ext cx="7322748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8400"/>
              </a:lnSpc>
              <a:spcBef>
                <a:spcPct val="0"/>
              </a:spcBef>
            </a:pPr>
            <a:r>
              <a:rPr lang="en-US" sz="4200">
                <a:solidFill>
                  <a:srgbClr val="FFFFFF"/>
                </a:solidFill>
                <a:latin typeface="Open Sans 2"/>
                <a:ea typeface="Open Sans 2"/>
                <a:cs typeface="Open Sans 2"/>
                <a:sym typeface="Open Sans 2"/>
              </a:rPr>
              <a:t>Adaptive Blue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788453" y="4751522"/>
            <a:ext cx="771999" cy="771999"/>
            <a:chOff x="0" y="0"/>
            <a:chExt cx="6350000" cy="6350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901847" y="4741091"/>
            <a:ext cx="545211" cy="66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5652"/>
              </a:lnSpc>
              <a:spcBef>
                <a:spcPct val="0"/>
              </a:spcBef>
            </a:pPr>
            <a:r>
              <a:rPr lang="en-US" b="true" sz="3600" u="none">
                <a:solidFill>
                  <a:srgbClr val="1A1A2E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75103" y="1242303"/>
            <a:ext cx="4790987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0"/>
              </a:lnSpc>
              <a:spcBef>
                <a:spcPct val="0"/>
              </a:spcBef>
            </a:pPr>
            <a:r>
              <a:rPr lang="en-US" b="true" sz="3800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My Implementation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300848">
            <a:off x="8711538" y="3821396"/>
            <a:ext cx="13730046" cy="12931207"/>
          </a:xfrm>
          <a:custGeom>
            <a:avLst/>
            <a:gdLst/>
            <a:ahLst/>
            <a:cxnLst/>
            <a:rect r="r" b="b" t="t" l="l"/>
            <a:pathLst>
              <a:path h="12931207" w="13730046">
                <a:moveTo>
                  <a:pt x="0" y="0"/>
                </a:moveTo>
                <a:lnTo>
                  <a:pt x="13730046" y="0"/>
                </a:lnTo>
                <a:lnTo>
                  <a:pt x="13730046" y="12931208"/>
                </a:lnTo>
                <a:lnTo>
                  <a:pt x="0" y="12931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2914650" y="4267200"/>
            <a:ext cx="12944475" cy="11664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799"/>
              </a:lnSpc>
            </a:pPr>
            <a:r>
              <a:rPr lang="en-US" sz="8799">
                <a:solidFill>
                  <a:srgbClr val="E4E6EB"/>
                </a:solidFill>
                <a:latin typeface="Gilda Display"/>
                <a:ea typeface="Gilda Display"/>
                <a:cs typeface="Gilda Display"/>
                <a:sym typeface="Gilda Display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9300848">
            <a:off x="-7989048" y="-4938853"/>
            <a:ext cx="13730046" cy="12931207"/>
          </a:xfrm>
          <a:custGeom>
            <a:avLst/>
            <a:gdLst/>
            <a:ahLst/>
            <a:cxnLst/>
            <a:rect r="r" b="b" t="t" l="l"/>
            <a:pathLst>
              <a:path h="12931207" w="13730046">
                <a:moveTo>
                  <a:pt x="0" y="0"/>
                </a:moveTo>
                <a:lnTo>
                  <a:pt x="13730046" y="0"/>
                </a:lnTo>
                <a:lnTo>
                  <a:pt x="13730046" y="12931207"/>
                </a:lnTo>
                <a:lnTo>
                  <a:pt x="0" y="12931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Building Meaningful Connections</dc:description>
  <dc:identifier>DAHAnnRKEjQ</dc:identifier>
  <dcterms:modified xsi:type="dcterms:W3CDTF">2011-08-01T06:04:30Z</dcterms:modified>
  <cp:revision>1</cp:revision>
  <dc:title>Presentation - Building Meaningful Connections</dc:title>
</cp:coreProperties>
</file>